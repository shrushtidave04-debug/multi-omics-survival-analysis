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embeddedFontLst>
    <p:embeddedFont>
      <p:font typeface="Canva Sans" panose="020B0604020202020204" charset="0"/>
      <p:regular r:id="rId32"/>
    </p:embeddedFont>
    <p:embeddedFont>
      <p:font typeface="Canva Sans Bold" panose="020B0604020202020204" charset="0"/>
      <p:regular r:id="rId33"/>
    </p:embeddedFont>
    <p:embeddedFont>
      <p:font typeface="Times New Roman Bold" panose="02020803070505020304" pitchFamily="18" charset="0"/>
      <p:regular r:id="rId34"/>
      <p:bold r:id="rId35"/>
    </p:embeddedFont>
    <p:embeddedFont>
      <p:font typeface="Times New Roman MT" panose="020B0604020202020204" charset="0"/>
      <p:regular r:id="rId36"/>
    </p:embeddedFont>
    <p:embeddedFont>
      <p:font typeface="Times New Roman MT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6.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jpe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6.jpe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6.jpe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6.jpeg"/><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6.jpeg"/><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6.jpeg"/><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6.jpeg"/><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6.jpeg"/><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6.jpeg"/><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6" name="Group 6"/>
          <p:cNvGrpSpPr/>
          <p:nvPr/>
        </p:nvGrpSpPr>
        <p:grpSpPr>
          <a:xfrm>
            <a:off x="0" y="132607"/>
            <a:ext cx="7535799" cy="1679048"/>
            <a:chOff x="0" y="0"/>
            <a:chExt cx="10047732" cy="2238731"/>
          </a:xfrm>
        </p:grpSpPr>
        <p:sp>
          <p:nvSpPr>
            <p:cNvPr id="7" name="Freeform 7"/>
            <p:cNvSpPr/>
            <p:nvPr/>
          </p:nvSpPr>
          <p:spPr>
            <a:xfrm>
              <a:off x="0" y="0"/>
              <a:ext cx="10047732" cy="2238756"/>
            </a:xfrm>
            <a:custGeom>
              <a:avLst/>
              <a:gdLst/>
              <a:ahLst/>
              <a:cxnLst/>
              <a:rect l="l" t="t" r="r" b="b"/>
              <a:pathLst>
                <a:path w="10047732" h="2238756">
                  <a:moveTo>
                    <a:pt x="0" y="0"/>
                  </a:moveTo>
                  <a:lnTo>
                    <a:pt x="10047732" y="0"/>
                  </a:lnTo>
                  <a:lnTo>
                    <a:pt x="10047732" y="2238756"/>
                  </a:lnTo>
                  <a:lnTo>
                    <a:pt x="0" y="2238756"/>
                  </a:lnTo>
                  <a:lnTo>
                    <a:pt x="0" y="0"/>
                  </a:lnTo>
                  <a:close/>
                </a:path>
              </a:pathLst>
            </a:custGeom>
            <a:blipFill>
              <a:blip r:embed="rId5"/>
              <a:stretch>
                <a:fillRect b="-278"/>
              </a:stretch>
            </a:blipFill>
          </p:spPr>
        </p:sp>
      </p:grpSp>
      <p:grpSp>
        <p:nvGrpSpPr>
          <p:cNvPr id="8" name="Group 8"/>
          <p:cNvGrpSpPr/>
          <p:nvPr/>
        </p:nvGrpSpPr>
        <p:grpSpPr>
          <a:xfrm>
            <a:off x="0" y="454447"/>
            <a:ext cx="7466076" cy="1489015"/>
            <a:chOff x="0" y="0"/>
            <a:chExt cx="9954768" cy="1985353"/>
          </a:xfrm>
        </p:grpSpPr>
        <p:sp>
          <p:nvSpPr>
            <p:cNvPr id="9" name="Freeform 9"/>
            <p:cNvSpPr/>
            <p:nvPr/>
          </p:nvSpPr>
          <p:spPr>
            <a:xfrm>
              <a:off x="0" y="0"/>
              <a:ext cx="9954768" cy="1985353"/>
            </a:xfrm>
            <a:custGeom>
              <a:avLst/>
              <a:gdLst/>
              <a:ahLst/>
              <a:cxnLst/>
              <a:rect l="l" t="t" r="r" b="b"/>
              <a:pathLst>
                <a:path w="9954768" h="1985353">
                  <a:moveTo>
                    <a:pt x="0" y="0"/>
                  </a:moveTo>
                  <a:lnTo>
                    <a:pt x="9954768" y="0"/>
                  </a:lnTo>
                  <a:lnTo>
                    <a:pt x="9954768" y="1985353"/>
                  </a:lnTo>
                  <a:lnTo>
                    <a:pt x="0" y="1985353"/>
                  </a:lnTo>
                  <a:lnTo>
                    <a:pt x="0" y="0"/>
                  </a:lnTo>
                  <a:close/>
                </a:path>
              </a:pathLst>
            </a:custGeom>
            <a:blipFill>
              <a:blip r:embed="rId6"/>
              <a:stretch>
                <a:fillRect l="-1127" r="-1127" b="-58"/>
              </a:stretch>
            </a:blipFill>
          </p:spPr>
        </p:sp>
      </p:grpSp>
      <p:sp>
        <p:nvSpPr>
          <p:cNvPr id="10" name="Freeform 10"/>
          <p:cNvSpPr/>
          <p:nvPr/>
        </p:nvSpPr>
        <p:spPr>
          <a:xfrm>
            <a:off x="0" y="1317007"/>
            <a:ext cx="18288000" cy="8969993"/>
          </a:xfrm>
          <a:custGeom>
            <a:avLst/>
            <a:gdLst/>
            <a:ahLst/>
            <a:cxnLst/>
            <a:rect l="l" t="t" r="r" b="b"/>
            <a:pathLst>
              <a:path w="18288000" h="8969993">
                <a:moveTo>
                  <a:pt x="0" y="0"/>
                </a:moveTo>
                <a:lnTo>
                  <a:pt x="18288000" y="0"/>
                </a:lnTo>
                <a:lnTo>
                  <a:pt x="18288000" y="8969993"/>
                </a:lnTo>
                <a:lnTo>
                  <a:pt x="0" y="8969993"/>
                </a:lnTo>
                <a:lnTo>
                  <a:pt x="0" y="0"/>
                </a:lnTo>
                <a:close/>
              </a:path>
            </a:pathLst>
          </a:custGeom>
          <a:blipFill>
            <a:blip r:embed="rId7"/>
            <a:stretch>
              <a:fillRect l="-432" t="-15617" r="-432"/>
            </a:stretch>
          </a:blipFill>
        </p:spPr>
      </p:sp>
      <p:grpSp>
        <p:nvGrpSpPr>
          <p:cNvPr id="11" name="Group 11"/>
          <p:cNvGrpSpPr/>
          <p:nvPr/>
        </p:nvGrpSpPr>
        <p:grpSpPr>
          <a:xfrm>
            <a:off x="-596055" y="376441"/>
            <a:ext cx="8131854" cy="1501892"/>
            <a:chOff x="0" y="0"/>
            <a:chExt cx="10749509" cy="1985353"/>
          </a:xfrm>
        </p:grpSpPr>
        <p:sp>
          <p:nvSpPr>
            <p:cNvPr id="12" name="Freeform 12"/>
            <p:cNvSpPr/>
            <p:nvPr/>
          </p:nvSpPr>
          <p:spPr>
            <a:xfrm>
              <a:off x="12739" y="12845"/>
              <a:ext cx="10724069" cy="1959702"/>
            </a:xfrm>
            <a:custGeom>
              <a:avLst/>
              <a:gdLst/>
              <a:ahLst/>
              <a:cxnLst/>
              <a:rect l="l" t="t" r="r" b="b"/>
              <a:pathLst>
                <a:path w="10724069" h="1959702">
                  <a:moveTo>
                    <a:pt x="0" y="326638"/>
                  </a:moveTo>
                  <a:cubicBezTo>
                    <a:pt x="0" y="146171"/>
                    <a:pt x="146626" y="0"/>
                    <a:pt x="327392" y="0"/>
                  </a:cubicBezTo>
                  <a:lnTo>
                    <a:pt x="10396677" y="0"/>
                  </a:lnTo>
                  <a:cubicBezTo>
                    <a:pt x="10577443" y="0"/>
                    <a:pt x="10724069" y="146171"/>
                    <a:pt x="10724069" y="326638"/>
                  </a:cubicBezTo>
                  <a:lnTo>
                    <a:pt x="10724069" y="1633063"/>
                  </a:lnTo>
                  <a:cubicBezTo>
                    <a:pt x="10724069" y="1813402"/>
                    <a:pt x="10577443" y="1959702"/>
                    <a:pt x="10396677" y="1959702"/>
                  </a:cubicBezTo>
                  <a:lnTo>
                    <a:pt x="327392" y="1959702"/>
                  </a:lnTo>
                  <a:cubicBezTo>
                    <a:pt x="146626" y="1959702"/>
                    <a:pt x="0" y="1813402"/>
                    <a:pt x="0" y="1633063"/>
                  </a:cubicBezTo>
                  <a:close/>
                </a:path>
              </a:pathLst>
            </a:custGeom>
            <a:solidFill>
              <a:srgbClr val="FFFFFF"/>
            </a:solidFill>
          </p:spPr>
        </p:sp>
        <p:sp>
          <p:nvSpPr>
            <p:cNvPr id="13" name="Freeform 13"/>
            <p:cNvSpPr/>
            <p:nvPr/>
          </p:nvSpPr>
          <p:spPr>
            <a:xfrm>
              <a:off x="0" y="0"/>
              <a:ext cx="10749547" cy="1985391"/>
            </a:xfrm>
            <a:custGeom>
              <a:avLst/>
              <a:gdLst/>
              <a:ahLst/>
              <a:cxnLst/>
              <a:rect l="l" t="t" r="r" b="b"/>
              <a:pathLst>
                <a:path w="10749547" h="1985391">
                  <a:moveTo>
                    <a:pt x="0" y="339483"/>
                  </a:moveTo>
                  <a:cubicBezTo>
                    <a:pt x="0" y="151823"/>
                    <a:pt x="152358" y="0"/>
                    <a:pt x="340131" y="0"/>
                  </a:cubicBezTo>
                  <a:lnTo>
                    <a:pt x="10409416" y="0"/>
                  </a:lnTo>
                  <a:lnTo>
                    <a:pt x="10409416" y="12845"/>
                  </a:lnTo>
                  <a:lnTo>
                    <a:pt x="10409416" y="0"/>
                  </a:lnTo>
                  <a:cubicBezTo>
                    <a:pt x="10597188" y="0"/>
                    <a:pt x="10749547" y="151823"/>
                    <a:pt x="10749547" y="339483"/>
                  </a:cubicBezTo>
                  <a:lnTo>
                    <a:pt x="10736808" y="339483"/>
                  </a:lnTo>
                  <a:lnTo>
                    <a:pt x="10749547" y="339483"/>
                  </a:lnTo>
                  <a:lnTo>
                    <a:pt x="10749547" y="1645908"/>
                  </a:lnTo>
                  <a:lnTo>
                    <a:pt x="10736808" y="1645908"/>
                  </a:lnTo>
                  <a:lnTo>
                    <a:pt x="10749547" y="1645908"/>
                  </a:lnTo>
                  <a:cubicBezTo>
                    <a:pt x="10749547" y="1833568"/>
                    <a:pt x="10597188" y="1985391"/>
                    <a:pt x="10409416" y="1985391"/>
                  </a:cubicBezTo>
                  <a:lnTo>
                    <a:pt x="10409416" y="1972547"/>
                  </a:lnTo>
                  <a:lnTo>
                    <a:pt x="10409416" y="1985391"/>
                  </a:lnTo>
                  <a:lnTo>
                    <a:pt x="340131" y="1985391"/>
                  </a:lnTo>
                  <a:lnTo>
                    <a:pt x="340131" y="1972547"/>
                  </a:lnTo>
                  <a:lnTo>
                    <a:pt x="340131" y="1985391"/>
                  </a:lnTo>
                  <a:cubicBezTo>
                    <a:pt x="152358" y="1985391"/>
                    <a:pt x="0" y="1833440"/>
                    <a:pt x="0" y="1645908"/>
                  </a:cubicBezTo>
                  <a:lnTo>
                    <a:pt x="0" y="339483"/>
                  </a:lnTo>
                  <a:lnTo>
                    <a:pt x="12739" y="339483"/>
                  </a:lnTo>
                  <a:lnTo>
                    <a:pt x="0" y="339483"/>
                  </a:lnTo>
                  <a:moveTo>
                    <a:pt x="25478" y="339483"/>
                  </a:moveTo>
                  <a:lnTo>
                    <a:pt x="25478" y="1645908"/>
                  </a:lnTo>
                  <a:lnTo>
                    <a:pt x="12739" y="1645908"/>
                  </a:lnTo>
                  <a:lnTo>
                    <a:pt x="25478" y="1645908"/>
                  </a:lnTo>
                  <a:cubicBezTo>
                    <a:pt x="25478" y="1819054"/>
                    <a:pt x="166244" y="1959702"/>
                    <a:pt x="340131" y="1959702"/>
                  </a:cubicBezTo>
                  <a:lnTo>
                    <a:pt x="10409416" y="1959702"/>
                  </a:lnTo>
                  <a:cubicBezTo>
                    <a:pt x="10583304" y="1959702"/>
                    <a:pt x="10724069" y="1819054"/>
                    <a:pt x="10724069" y="1645908"/>
                  </a:cubicBezTo>
                  <a:lnTo>
                    <a:pt x="10724069" y="339483"/>
                  </a:lnTo>
                  <a:cubicBezTo>
                    <a:pt x="10724069" y="166338"/>
                    <a:pt x="10583304" y="25689"/>
                    <a:pt x="10409416" y="25689"/>
                  </a:cubicBezTo>
                  <a:lnTo>
                    <a:pt x="340131" y="25689"/>
                  </a:lnTo>
                  <a:lnTo>
                    <a:pt x="340131" y="12845"/>
                  </a:lnTo>
                  <a:lnTo>
                    <a:pt x="340131" y="25689"/>
                  </a:lnTo>
                  <a:cubicBezTo>
                    <a:pt x="166244" y="25689"/>
                    <a:pt x="25478" y="166338"/>
                    <a:pt x="25478" y="339483"/>
                  </a:cubicBezTo>
                  <a:close/>
                </a:path>
              </a:pathLst>
            </a:custGeom>
            <a:solidFill>
              <a:srgbClr val="1F497D"/>
            </a:solidFill>
          </p:spPr>
        </p:sp>
      </p:grpSp>
      <p:grpSp>
        <p:nvGrpSpPr>
          <p:cNvPr id="14" name="Group 14"/>
          <p:cNvGrpSpPr/>
          <p:nvPr/>
        </p:nvGrpSpPr>
        <p:grpSpPr>
          <a:xfrm>
            <a:off x="28575" y="619165"/>
            <a:ext cx="7378398" cy="1008345"/>
            <a:chOff x="0" y="0"/>
            <a:chExt cx="9837864" cy="1344460"/>
          </a:xfrm>
        </p:grpSpPr>
        <p:sp>
          <p:nvSpPr>
            <p:cNvPr id="15" name="Freeform 15"/>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8"/>
              <a:stretch>
                <a:fillRect b="-6"/>
              </a:stretch>
            </a:blipFill>
          </p:spPr>
        </p:sp>
      </p:grpSp>
      <p:graphicFrame>
        <p:nvGraphicFramePr>
          <p:cNvPr id="16" name="Table 16"/>
          <p:cNvGraphicFramePr>
            <a:graphicFrameLocks noGrp="1"/>
          </p:cNvGraphicFramePr>
          <p:nvPr/>
        </p:nvGraphicFramePr>
        <p:xfrm>
          <a:off x="206794" y="4965607"/>
          <a:ext cx="4977983" cy="4944952"/>
        </p:xfrm>
        <a:graphic>
          <a:graphicData uri="http://schemas.openxmlformats.org/drawingml/2006/table">
            <a:tbl>
              <a:tblPr/>
              <a:tblGrid>
                <a:gridCol w="2540614">
                  <a:extLst>
                    <a:ext uri="{9D8B030D-6E8A-4147-A177-3AD203B41FA5}">
                      <a16:colId xmlns:a16="http://schemas.microsoft.com/office/drawing/2014/main" val="20000"/>
                    </a:ext>
                  </a:extLst>
                </a:gridCol>
                <a:gridCol w="2437369">
                  <a:extLst>
                    <a:ext uri="{9D8B030D-6E8A-4147-A177-3AD203B41FA5}">
                      <a16:colId xmlns:a16="http://schemas.microsoft.com/office/drawing/2014/main" val="20001"/>
                    </a:ext>
                  </a:extLst>
                </a:gridCol>
              </a:tblGrid>
              <a:tr h="959896">
                <a:tc>
                  <a:txBody>
                    <a:bodyPr/>
                    <a:lstStyle/>
                    <a:p>
                      <a:pPr algn="ctr">
                        <a:lnSpc>
                          <a:spcPts val="3779"/>
                        </a:lnSpc>
                        <a:defRPr/>
                      </a:pPr>
                      <a:r>
                        <a:rPr lang="en-US" sz="2699" b="1">
                          <a:solidFill>
                            <a:srgbClr val="000000"/>
                          </a:solidFill>
                          <a:latin typeface="Canva Sans Bold"/>
                          <a:ea typeface="Canva Sans Bold"/>
                          <a:cs typeface="Canva Sans Bold"/>
                          <a:sym typeface="Canva Sans Bold"/>
                        </a:rPr>
                        <a:t>Name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80"/>
                        </a:lnSpc>
                        <a:defRPr/>
                      </a:pPr>
                      <a:r>
                        <a:rPr lang="en-US" sz="2700" b="1">
                          <a:solidFill>
                            <a:srgbClr val="000000"/>
                          </a:solidFill>
                          <a:latin typeface="Canva Sans Bold"/>
                          <a:ea typeface="Canva Sans Bold"/>
                          <a:cs typeface="Canva Sans Bold"/>
                          <a:sym typeface="Canva Sans Bold"/>
                        </a:rPr>
                        <a:t>Roll.no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06313">
                <a:tc>
                  <a:txBody>
                    <a:bodyPr/>
                    <a:lstStyle/>
                    <a:p>
                      <a:pPr algn="ctr">
                        <a:lnSpc>
                          <a:spcPts val="2659"/>
                        </a:lnSpc>
                        <a:defRPr/>
                      </a:pPr>
                      <a:r>
                        <a:rPr lang="en-US" sz="1899">
                          <a:solidFill>
                            <a:srgbClr val="000000"/>
                          </a:solidFill>
                          <a:latin typeface="Canva Sans"/>
                          <a:ea typeface="Canva Sans"/>
                          <a:cs typeface="Canva Sans"/>
                          <a:sym typeface="Canva Sans"/>
                        </a:rPr>
                        <a:t>Shrushti Dave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A012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6313">
                <a:tc>
                  <a:txBody>
                    <a:bodyPr/>
                    <a:lstStyle/>
                    <a:p>
                      <a:pPr algn="ctr">
                        <a:lnSpc>
                          <a:spcPts val="2659"/>
                        </a:lnSpc>
                        <a:defRPr/>
                      </a:pPr>
                      <a:r>
                        <a:rPr lang="en-US" sz="1899">
                          <a:solidFill>
                            <a:srgbClr val="000000"/>
                          </a:solidFill>
                          <a:latin typeface="Canva Sans"/>
                          <a:ea typeface="Canva Sans"/>
                          <a:cs typeface="Canva Sans"/>
                          <a:sym typeface="Canva Sans"/>
                        </a:rPr>
                        <a:t>Eashal Dbritto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A014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06313">
                <a:tc>
                  <a:txBody>
                    <a:bodyPr/>
                    <a:lstStyle/>
                    <a:p>
                      <a:pPr algn="ctr">
                        <a:lnSpc>
                          <a:spcPts val="2659"/>
                        </a:lnSpc>
                        <a:defRPr/>
                      </a:pPr>
                      <a:r>
                        <a:rPr lang="en-US" sz="1899">
                          <a:solidFill>
                            <a:srgbClr val="000000"/>
                          </a:solidFill>
                          <a:latin typeface="Canva Sans"/>
                          <a:ea typeface="Canva Sans"/>
                          <a:cs typeface="Canva Sans"/>
                          <a:sym typeface="Canva Sans"/>
                        </a:rPr>
                        <a:t>Sharvari Khopkar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A026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06313">
                <a:tc>
                  <a:txBody>
                    <a:bodyPr/>
                    <a:lstStyle/>
                    <a:p>
                      <a:pPr algn="ctr">
                        <a:lnSpc>
                          <a:spcPts val="2659"/>
                        </a:lnSpc>
                        <a:defRPr/>
                      </a:pPr>
                      <a:r>
                        <a:rPr lang="en-US" sz="1899">
                          <a:solidFill>
                            <a:srgbClr val="000000"/>
                          </a:solidFill>
                          <a:latin typeface="Canva Sans"/>
                          <a:ea typeface="Canva Sans"/>
                          <a:cs typeface="Canva Sans"/>
                          <a:sym typeface="Canva Sans"/>
                        </a:rPr>
                        <a:t>Yash Patil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A043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59804">
                <a:tc>
                  <a:txBody>
                    <a:bodyPr/>
                    <a:lstStyle/>
                    <a:p>
                      <a:pPr algn="ctr">
                        <a:lnSpc>
                          <a:spcPts val="2380"/>
                        </a:lnSpc>
                        <a:defRPr/>
                      </a:pPr>
                      <a:r>
                        <a:rPr lang="en-US" sz="1700">
                          <a:solidFill>
                            <a:srgbClr val="000000"/>
                          </a:solidFill>
                          <a:latin typeface="Canva Sans"/>
                          <a:ea typeface="Canva Sans"/>
                          <a:cs typeface="Canva Sans"/>
                          <a:sym typeface="Canva Sans"/>
                        </a:rPr>
                        <a:t>Prachee Shetye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700">
                          <a:solidFill>
                            <a:srgbClr val="000000"/>
                          </a:solidFill>
                          <a:latin typeface="Canva Sans"/>
                          <a:ea typeface="Canva Sans"/>
                          <a:cs typeface="Canva Sans"/>
                          <a:sym typeface="Canva Sans"/>
                        </a:rPr>
                        <a:t>A055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TextBox 17"/>
          <p:cNvSpPr txBox="1"/>
          <p:nvPr/>
        </p:nvSpPr>
        <p:spPr>
          <a:xfrm>
            <a:off x="1028700" y="2083566"/>
            <a:ext cx="16230600" cy="2174240"/>
          </a:xfrm>
          <a:prstGeom prst="rect">
            <a:avLst/>
          </a:prstGeom>
        </p:spPr>
        <p:txBody>
          <a:bodyPr lIns="0" tIns="0" rIns="0" bIns="0" rtlCol="0" anchor="t">
            <a:spAutoFit/>
          </a:bodyPr>
          <a:lstStyle/>
          <a:p>
            <a:pPr algn="ctr">
              <a:lnSpc>
                <a:spcPts val="8260"/>
              </a:lnSpc>
            </a:pPr>
            <a:r>
              <a:rPr lang="en-US" sz="5900" b="1">
                <a:solidFill>
                  <a:srgbClr val="000000"/>
                </a:solidFill>
                <a:latin typeface="Times New Roman MT Bold"/>
                <a:ea typeface="Times New Roman MT Bold"/>
                <a:cs typeface="Times New Roman MT Bold"/>
                <a:sym typeface="Times New Roman MT Bold"/>
              </a:rPr>
              <a:t>Survival prediction using multi-omics data for Kidney Renal Clear Cell Carcinoma</a:t>
            </a:r>
          </a:p>
        </p:txBody>
      </p:sp>
      <p:sp>
        <p:nvSpPr>
          <p:cNvPr id="18" name="TextBox 18"/>
          <p:cNvSpPr txBox="1"/>
          <p:nvPr/>
        </p:nvSpPr>
        <p:spPr>
          <a:xfrm>
            <a:off x="12944488" y="8701088"/>
            <a:ext cx="5183703" cy="1047750"/>
          </a:xfrm>
          <a:prstGeom prst="rect">
            <a:avLst/>
          </a:prstGeom>
        </p:spPr>
        <p:txBody>
          <a:bodyPr lIns="0" tIns="0" rIns="0" bIns="0" rtlCol="0" anchor="t">
            <a:spAutoFit/>
          </a:bodyPr>
          <a:lstStyle/>
          <a:p>
            <a:pPr algn="ctr">
              <a:lnSpc>
                <a:spcPts val="4900"/>
              </a:lnSpc>
            </a:pPr>
            <a:r>
              <a:rPr lang="en-US" sz="3500" b="1" u="sng">
                <a:solidFill>
                  <a:srgbClr val="000000"/>
                </a:solidFill>
                <a:latin typeface="Canva Sans Bold"/>
                <a:ea typeface="Canva Sans Bold"/>
                <a:cs typeface="Canva Sans Bold"/>
                <a:sym typeface="Canva Sans Bold"/>
              </a:rPr>
              <a:t>Mentored by:</a:t>
            </a:r>
          </a:p>
          <a:p>
            <a:pPr algn="ctr">
              <a:lnSpc>
                <a:spcPts val="3499"/>
              </a:lnSpc>
            </a:pPr>
            <a:r>
              <a:rPr lang="en-US" sz="2499">
                <a:solidFill>
                  <a:srgbClr val="000000"/>
                </a:solidFill>
                <a:latin typeface="Canva Sans"/>
                <a:ea typeface="Canva Sans"/>
                <a:cs typeface="Canva Sans"/>
                <a:sym typeface="Canva Sans"/>
              </a:rPr>
              <a:t>Prof. Mangesh Kutekar</a:t>
            </a:r>
          </a:p>
        </p:txBody>
      </p:sp>
      <p:sp>
        <p:nvSpPr>
          <p:cNvPr id="19" name="TextBox 19"/>
          <p:cNvSpPr txBox="1"/>
          <p:nvPr/>
        </p:nvSpPr>
        <p:spPr>
          <a:xfrm>
            <a:off x="8129322" y="4276633"/>
            <a:ext cx="2691077" cy="688974"/>
          </a:xfrm>
          <a:prstGeom prst="rect">
            <a:avLst/>
          </a:prstGeom>
        </p:spPr>
        <p:txBody>
          <a:bodyPr wrap="square" lIns="0" tIns="0" rIns="0" bIns="0" rtlCol="0" anchor="t">
            <a:spAutoFit/>
          </a:bodyPr>
          <a:lstStyle/>
          <a:p>
            <a:pPr algn="ctr">
              <a:lnSpc>
                <a:spcPts val="5600"/>
              </a:lnSpc>
            </a:pPr>
            <a:r>
              <a:rPr lang="en-US" sz="4000" u="sng" dirty="0">
                <a:solidFill>
                  <a:srgbClr val="000000"/>
                </a:solidFill>
                <a:latin typeface="Canva Sans"/>
                <a:ea typeface="Canva Sans"/>
                <a:cs typeface="Canva Sans"/>
                <a:sym typeface="Canva Sans"/>
              </a:rPr>
              <a:t>Group-5</a:t>
            </a:r>
          </a:p>
        </p:txBody>
      </p:sp>
      <p:sp>
        <p:nvSpPr>
          <p:cNvPr id="20" name="TextBox 20"/>
          <p:cNvSpPr txBox="1"/>
          <p:nvPr/>
        </p:nvSpPr>
        <p:spPr>
          <a:xfrm>
            <a:off x="-1161463" y="4352168"/>
            <a:ext cx="5098784" cy="613439"/>
          </a:xfrm>
          <a:prstGeom prst="rect">
            <a:avLst/>
          </a:prstGeom>
        </p:spPr>
        <p:txBody>
          <a:bodyPr lIns="0" tIns="0" rIns="0" bIns="0" rtlCol="0" anchor="t">
            <a:spAutoFit/>
          </a:bodyPr>
          <a:lstStyle/>
          <a:p>
            <a:pPr algn="ctr">
              <a:lnSpc>
                <a:spcPts val="4513"/>
              </a:lnSpc>
              <a:spcBef>
                <a:spcPct val="0"/>
              </a:spcBef>
            </a:pPr>
            <a:r>
              <a:rPr lang="en-US" sz="3223" b="1" u="sng">
                <a:solidFill>
                  <a:srgbClr val="000000"/>
                </a:solidFill>
                <a:latin typeface="Times New Roman MT Bold"/>
                <a:ea typeface="Times New Roman MT Bold"/>
                <a:cs typeface="Times New Roman MT Bold"/>
                <a:sym typeface="Times New Roman MT Bold"/>
              </a:rPr>
              <a:t>Presented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6" name="Group 6"/>
          <p:cNvGrpSpPr/>
          <p:nvPr/>
        </p:nvGrpSpPr>
        <p:grpSpPr>
          <a:xfrm>
            <a:off x="-609600" y="378456"/>
            <a:ext cx="8037452" cy="1869444"/>
            <a:chOff x="0" y="0"/>
            <a:chExt cx="10716603" cy="1963001"/>
          </a:xfrm>
        </p:grpSpPr>
        <p:sp>
          <p:nvSpPr>
            <p:cNvPr id="7" name="Freeform 7"/>
            <p:cNvSpPr/>
            <p:nvPr/>
          </p:nvSpPr>
          <p:spPr>
            <a:xfrm>
              <a:off x="12700" y="12700"/>
              <a:ext cx="10691241" cy="1937639"/>
            </a:xfrm>
            <a:custGeom>
              <a:avLst/>
              <a:gdLst/>
              <a:ahLst/>
              <a:cxnLst/>
              <a:rect l="l" t="t" r="r" b="b"/>
              <a:pathLst>
                <a:path w="10691241" h="1937639">
                  <a:moveTo>
                    <a:pt x="0" y="322961"/>
                  </a:moveTo>
                  <a:cubicBezTo>
                    <a:pt x="0" y="144526"/>
                    <a:pt x="146177" y="0"/>
                    <a:pt x="326390" y="0"/>
                  </a:cubicBezTo>
                  <a:lnTo>
                    <a:pt x="10364851" y="0"/>
                  </a:lnTo>
                  <a:cubicBezTo>
                    <a:pt x="10545064" y="0"/>
                    <a:pt x="10691241" y="144526"/>
                    <a:pt x="10691241" y="322961"/>
                  </a:cubicBezTo>
                  <a:lnTo>
                    <a:pt x="10691241" y="1614678"/>
                  </a:lnTo>
                  <a:cubicBezTo>
                    <a:pt x="10691241" y="1792986"/>
                    <a:pt x="10545064" y="1937639"/>
                    <a:pt x="10364851" y="1937639"/>
                  </a:cubicBezTo>
                  <a:lnTo>
                    <a:pt x="326390" y="1937639"/>
                  </a:lnTo>
                  <a:cubicBezTo>
                    <a:pt x="146177" y="1937639"/>
                    <a:pt x="0" y="1792986"/>
                    <a:pt x="0" y="1614678"/>
                  </a:cubicBezTo>
                  <a:close/>
                </a:path>
              </a:pathLst>
            </a:custGeom>
            <a:solidFill>
              <a:srgbClr val="FFFFFF"/>
            </a:solidFill>
          </p:spPr>
        </p:sp>
        <p:sp>
          <p:nvSpPr>
            <p:cNvPr id="8" name="Freeform 8"/>
            <p:cNvSpPr/>
            <p:nvPr/>
          </p:nvSpPr>
          <p:spPr>
            <a:xfrm>
              <a:off x="0" y="0"/>
              <a:ext cx="10716641" cy="1963039"/>
            </a:xfrm>
            <a:custGeom>
              <a:avLst/>
              <a:gdLst/>
              <a:ahLst/>
              <a:cxnLst/>
              <a:rect l="l" t="t" r="r" b="b"/>
              <a:pathLst>
                <a:path w="10716641" h="1963039">
                  <a:moveTo>
                    <a:pt x="0" y="335661"/>
                  </a:moveTo>
                  <a:cubicBezTo>
                    <a:pt x="0" y="150114"/>
                    <a:pt x="151892" y="0"/>
                    <a:pt x="339090" y="0"/>
                  </a:cubicBezTo>
                  <a:lnTo>
                    <a:pt x="10377551" y="0"/>
                  </a:lnTo>
                  <a:lnTo>
                    <a:pt x="10377551" y="12700"/>
                  </a:lnTo>
                  <a:lnTo>
                    <a:pt x="10377551" y="0"/>
                  </a:lnTo>
                  <a:cubicBezTo>
                    <a:pt x="10564749" y="0"/>
                    <a:pt x="10716641" y="150114"/>
                    <a:pt x="10716641" y="335661"/>
                  </a:cubicBezTo>
                  <a:lnTo>
                    <a:pt x="10703941" y="335661"/>
                  </a:lnTo>
                  <a:lnTo>
                    <a:pt x="10716641" y="335661"/>
                  </a:lnTo>
                  <a:lnTo>
                    <a:pt x="10716641" y="1627378"/>
                  </a:lnTo>
                  <a:lnTo>
                    <a:pt x="10703941" y="1627378"/>
                  </a:lnTo>
                  <a:lnTo>
                    <a:pt x="10716641" y="1627378"/>
                  </a:lnTo>
                  <a:cubicBezTo>
                    <a:pt x="10716641" y="1812925"/>
                    <a:pt x="10564749" y="1963039"/>
                    <a:pt x="10377551" y="1963039"/>
                  </a:cubicBezTo>
                  <a:lnTo>
                    <a:pt x="10377551" y="1950339"/>
                  </a:lnTo>
                  <a:lnTo>
                    <a:pt x="10377551" y="1963039"/>
                  </a:lnTo>
                  <a:lnTo>
                    <a:pt x="339090" y="1963039"/>
                  </a:lnTo>
                  <a:lnTo>
                    <a:pt x="339090" y="1950339"/>
                  </a:lnTo>
                  <a:lnTo>
                    <a:pt x="339090" y="1963039"/>
                  </a:lnTo>
                  <a:cubicBezTo>
                    <a:pt x="151892" y="1963039"/>
                    <a:pt x="0" y="1812798"/>
                    <a:pt x="0" y="1627378"/>
                  </a:cubicBezTo>
                  <a:lnTo>
                    <a:pt x="0" y="335661"/>
                  </a:lnTo>
                  <a:lnTo>
                    <a:pt x="12700" y="335661"/>
                  </a:lnTo>
                  <a:lnTo>
                    <a:pt x="0" y="335661"/>
                  </a:lnTo>
                  <a:moveTo>
                    <a:pt x="25400" y="335661"/>
                  </a:moveTo>
                  <a:lnTo>
                    <a:pt x="25400" y="1627378"/>
                  </a:lnTo>
                  <a:lnTo>
                    <a:pt x="12700" y="1627378"/>
                  </a:lnTo>
                  <a:lnTo>
                    <a:pt x="25400" y="1627378"/>
                  </a:lnTo>
                  <a:cubicBezTo>
                    <a:pt x="25400" y="1798574"/>
                    <a:pt x="165735" y="1937639"/>
                    <a:pt x="339090" y="1937639"/>
                  </a:cubicBezTo>
                  <a:lnTo>
                    <a:pt x="10377551" y="1937639"/>
                  </a:lnTo>
                  <a:cubicBezTo>
                    <a:pt x="10550906" y="1937639"/>
                    <a:pt x="10691241" y="1798574"/>
                    <a:pt x="10691241" y="1627378"/>
                  </a:cubicBezTo>
                  <a:lnTo>
                    <a:pt x="10691241" y="335661"/>
                  </a:lnTo>
                  <a:cubicBezTo>
                    <a:pt x="10691241" y="164465"/>
                    <a:pt x="10550906" y="25400"/>
                    <a:pt x="10377551" y="25400"/>
                  </a:cubicBezTo>
                  <a:lnTo>
                    <a:pt x="339090" y="25400"/>
                  </a:lnTo>
                  <a:lnTo>
                    <a:pt x="339090" y="12700"/>
                  </a:lnTo>
                  <a:lnTo>
                    <a:pt x="339090" y="25400"/>
                  </a:lnTo>
                  <a:cubicBezTo>
                    <a:pt x="165735" y="25400"/>
                    <a:pt x="25400" y="164465"/>
                    <a:pt x="25400" y="335661"/>
                  </a:cubicBezTo>
                  <a:close/>
                </a:path>
              </a:pathLst>
            </a:custGeom>
            <a:solidFill>
              <a:srgbClr val="1F497D"/>
            </a:solidFill>
          </p:spPr>
        </p:sp>
      </p:grpSp>
      <p:graphicFrame>
        <p:nvGraphicFramePr>
          <p:cNvPr id="11" name="Table 11"/>
          <p:cNvGraphicFramePr>
            <a:graphicFrameLocks noGrp="1"/>
          </p:cNvGraphicFramePr>
          <p:nvPr/>
        </p:nvGraphicFramePr>
        <p:xfrm>
          <a:off x="1291756" y="3507267"/>
          <a:ext cx="15967544" cy="6236750"/>
        </p:xfrm>
        <a:graphic>
          <a:graphicData uri="http://schemas.openxmlformats.org/drawingml/2006/table">
            <a:tbl>
              <a:tblPr/>
              <a:tblGrid>
                <a:gridCol w="7983772">
                  <a:extLst>
                    <a:ext uri="{9D8B030D-6E8A-4147-A177-3AD203B41FA5}">
                      <a16:colId xmlns:a16="http://schemas.microsoft.com/office/drawing/2014/main" val="20000"/>
                    </a:ext>
                  </a:extLst>
                </a:gridCol>
                <a:gridCol w="7983772">
                  <a:extLst>
                    <a:ext uri="{9D8B030D-6E8A-4147-A177-3AD203B41FA5}">
                      <a16:colId xmlns:a16="http://schemas.microsoft.com/office/drawing/2014/main" val="20001"/>
                    </a:ext>
                  </a:extLst>
                </a:gridCol>
              </a:tblGrid>
              <a:tr h="1430810">
                <a:tc>
                  <a:txBody>
                    <a:bodyPr/>
                    <a:lstStyle/>
                    <a:p>
                      <a:pPr marL="712465" lvl="1" indent="-356233" algn="l">
                        <a:lnSpc>
                          <a:spcPts val="4619"/>
                        </a:lnSpc>
                        <a:buFont typeface="Arial"/>
                        <a:buChar char="•"/>
                        <a:defRPr/>
                      </a:pPr>
                      <a:r>
                        <a:rPr lang="en-US" sz="3299">
                          <a:solidFill>
                            <a:srgbClr val="000000"/>
                          </a:solidFill>
                          <a:latin typeface="Times New Roman"/>
                          <a:ea typeface="Times New Roman"/>
                          <a:cs typeface="Times New Roman"/>
                          <a:sym typeface="Times New Roman"/>
                        </a:rPr>
                        <a:t>INTRODUCTION</a:t>
                      </a:r>
                      <a:endParaRPr lang="en-US" sz="1100"/>
                    </a:p>
                  </a:txBody>
                  <a:tcPr marL="190500" marR="190500" marT="190500" marB="190500" anchor="ctr">
                    <a:lnL w="95250" cap="flat" cmpd="sng" algn="ctr">
                      <a:solidFill>
                        <a:srgbClr val="EDAC4C"/>
                      </a:solidFill>
                      <a:prstDash val="solid"/>
                      <a:round/>
                      <a:headEnd type="none" w="med" len="med"/>
                      <a:tailEnd type="none" w="med" len="med"/>
                    </a:lnL>
                    <a:lnR w="38100" cap="flat" cmpd="sng" algn="ctr">
                      <a:solidFill>
                        <a:srgbClr val="EDAC4C"/>
                      </a:solidFill>
                      <a:prstDash val="solid"/>
                      <a:round/>
                      <a:headEnd type="none" w="med" len="med"/>
                      <a:tailEnd type="none" w="med" len="med"/>
                    </a:lnR>
                    <a:lnT w="95250" cap="flat" cmpd="sng" algn="ctr">
                      <a:solidFill>
                        <a:srgbClr val="EDAC4C"/>
                      </a:solidFill>
                      <a:prstDash val="solid"/>
                      <a:round/>
                      <a:headEnd type="none" w="med" len="med"/>
                      <a:tailEnd type="none" w="med" len="med"/>
                    </a:lnT>
                    <a:lnB w="38100" cap="flat" cmpd="sng" algn="ctr">
                      <a:solidFill>
                        <a:srgbClr val="EDAC4C"/>
                      </a:solidFill>
                      <a:prstDash val="solid"/>
                      <a:round/>
                      <a:headEnd type="none" w="med" len="med"/>
                      <a:tailEnd type="none" w="med" len="med"/>
                    </a:lnB>
                    <a:solidFill>
                      <a:srgbClr val="FFEBCD"/>
                    </a:solidFill>
                  </a:tcPr>
                </a:tc>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DATA PREPROCESSING </a:t>
                      </a:r>
                      <a:endParaRPr lang="en-US" sz="1100"/>
                    </a:p>
                  </a:txBody>
                  <a:tcPr marL="190500" marR="190500" marT="190500" marB="190500" anchor="ctr">
                    <a:lnL w="38100" cap="flat" cmpd="sng" algn="ctr">
                      <a:solidFill>
                        <a:srgbClr val="EDAC4C"/>
                      </a:solidFill>
                      <a:prstDash val="solid"/>
                      <a:round/>
                      <a:headEnd type="none" w="med" len="med"/>
                      <a:tailEnd type="none" w="med" len="med"/>
                    </a:lnL>
                    <a:lnR w="95250" cap="flat" cmpd="sng" algn="ctr">
                      <a:solidFill>
                        <a:srgbClr val="EDAC4C"/>
                      </a:solidFill>
                      <a:prstDash val="solid"/>
                      <a:round/>
                      <a:headEnd type="none" w="med" len="med"/>
                      <a:tailEnd type="none" w="med" len="med"/>
                    </a:lnR>
                    <a:lnT w="95250" cap="flat" cmpd="sng" algn="ctr">
                      <a:solidFill>
                        <a:srgbClr val="EDAC4C"/>
                      </a:solidFill>
                      <a:prstDash val="solid"/>
                      <a:round/>
                      <a:headEnd type="none" w="med" len="med"/>
                      <a:tailEnd type="none" w="med" len="med"/>
                    </a:lnT>
                    <a:lnB w="47625" cap="flat" cmpd="sng" algn="ctr">
                      <a:solidFill>
                        <a:srgbClr val="EDAC4C"/>
                      </a:solidFill>
                      <a:prstDash val="solid"/>
                      <a:round/>
                      <a:headEnd type="none" w="med" len="med"/>
                      <a:tailEnd type="none" w="med" len="med"/>
                    </a:lnB>
                    <a:solidFill>
                      <a:srgbClr val="FFEBCD"/>
                    </a:solidFill>
                  </a:tcPr>
                </a:tc>
                <a:extLst>
                  <a:ext uri="{0D108BD9-81ED-4DB2-BD59-A6C34878D82A}">
                    <a16:rowId xmlns:a16="http://schemas.microsoft.com/office/drawing/2014/main" val="10000"/>
                  </a:ext>
                </a:extLst>
              </a:tr>
              <a:tr h="1201485">
                <a:tc>
                  <a:txBody>
                    <a:bodyPr/>
                    <a:lstStyle/>
                    <a:p>
                      <a:pPr marL="712473" lvl="1" indent="-356237" algn="l">
                        <a:lnSpc>
                          <a:spcPts val="4620"/>
                        </a:lnSpc>
                        <a:buFont typeface="Arial"/>
                        <a:buChar char="•"/>
                        <a:defRPr/>
                      </a:pPr>
                      <a:r>
                        <a:rPr lang="en-US" sz="3300">
                          <a:solidFill>
                            <a:srgbClr val="000000"/>
                          </a:solidFill>
                          <a:latin typeface="Times New Roman"/>
                          <a:ea typeface="Times New Roman"/>
                          <a:cs typeface="Times New Roman"/>
                          <a:sym typeface="Times New Roman"/>
                        </a:rPr>
                        <a:t>SURVIVAL ANALYSIS</a:t>
                      </a:r>
                      <a:endParaRPr lang="en-US" sz="1100"/>
                    </a:p>
                  </a:txBody>
                  <a:tcPr marL="190500" marR="190500" marT="190500" marB="190500" anchor="ctr">
                    <a:lnL w="95250" cap="flat" cmpd="sng" algn="ctr">
                      <a:solidFill>
                        <a:srgbClr val="EDAC4C"/>
                      </a:solidFill>
                      <a:prstDash val="solid"/>
                      <a:round/>
                      <a:headEnd type="none" w="med" len="med"/>
                      <a:tailEnd type="none" w="med" len="med"/>
                    </a:lnL>
                    <a:lnR w="47625" cap="flat" cmpd="sng" algn="ctr">
                      <a:solidFill>
                        <a:srgbClr val="EDAC4C"/>
                      </a:solidFill>
                      <a:prstDash val="solid"/>
                      <a:round/>
                      <a:headEnd type="none" w="med" len="med"/>
                      <a:tailEnd type="none" w="med" len="med"/>
                    </a:lnR>
                    <a:lnT w="38100" cap="flat" cmpd="sng" algn="ctr">
                      <a:solidFill>
                        <a:srgbClr val="EDAC4C"/>
                      </a:solidFill>
                      <a:prstDash val="solid"/>
                      <a:round/>
                      <a:headEnd type="none" w="med" len="med"/>
                      <a:tailEnd type="none" w="med" len="med"/>
                    </a:lnT>
                    <a:lnB w="38100" cap="flat" cmpd="sng" algn="ctr">
                      <a:solidFill>
                        <a:srgbClr val="EDAC4C"/>
                      </a:solidFill>
                      <a:prstDash val="solid"/>
                      <a:round/>
                      <a:headEnd type="none" w="med" len="med"/>
                      <a:tailEnd type="none" w="med" len="med"/>
                    </a:lnB>
                    <a:solidFill>
                      <a:srgbClr val="FFEBCD"/>
                    </a:solidFill>
                  </a:tcPr>
                </a:tc>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METHODOLOGY</a:t>
                      </a:r>
                      <a:endParaRPr lang="en-US" sz="1100"/>
                    </a:p>
                  </a:txBody>
                  <a:tcPr marL="190500" marR="190500" marT="190500" marB="190500" anchor="ctr">
                    <a:lnL w="47625" cap="flat" cmpd="sng" algn="ctr">
                      <a:solidFill>
                        <a:srgbClr val="EDAC4C"/>
                      </a:solidFill>
                      <a:prstDash val="solid"/>
                      <a:round/>
                      <a:headEnd type="none" w="med" len="med"/>
                      <a:tailEnd type="none" w="med" len="med"/>
                    </a:lnL>
                    <a:lnR w="95250" cap="flat" cmpd="sng" algn="ctr">
                      <a:solidFill>
                        <a:srgbClr val="EDAC4C"/>
                      </a:solidFill>
                      <a:prstDash val="solid"/>
                      <a:round/>
                      <a:headEnd type="none" w="med" len="med"/>
                      <a:tailEnd type="none" w="med" len="med"/>
                    </a:lnR>
                    <a:lnT w="47625" cap="flat" cmpd="sng" algn="ctr">
                      <a:solidFill>
                        <a:srgbClr val="EDAC4C"/>
                      </a:solidFill>
                      <a:prstDash val="solid"/>
                      <a:round/>
                      <a:headEnd type="none" w="med" len="med"/>
                      <a:tailEnd type="none" w="med" len="med"/>
                    </a:lnT>
                    <a:lnB w="47625" cap="flat" cmpd="sng" algn="ctr">
                      <a:solidFill>
                        <a:srgbClr val="EDAC4C"/>
                      </a:solidFill>
                      <a:prstDash val="solid"/>
                      <a:round/>
                      <a:headEnd type="none" w="med" len="med"/>
                      <a:tailEnd type="none" w="med" len="med"/>
                    </a:lnB>
                    <a:solidFill>
                      <a:srgbClr val="FFEBCD"/>
                    </a:solidFill>
                  </a:tcPr>
                </a:tc>
                <a:extLst>
                  <a:ext uri="{0D108BD9-81ED-4DB2-BD59-A6C34878D82A}">
                    <a16:rowId xmlns:a16="http://schemas.microsoft.com/office/drawing/2014/main" val="10001"/>
                  </a:ext>
                </a:extLst>
              </a:tr>
              <a:tr h="1228759">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MULTI OMICS DATA</a:t>
                      </a:r>
                      <a:endParaRPr lang="en-US" sz="1100"/>
                    </a:p>
                  </a:txBody>
                  <a:tcPr marL="190500" marR="190500" marT="190500" marB="190500" anchor="ctr">
                    <a:lnL w="95250" cap="flat" cmpd="sng" algn="ctr">
                      <a:solidFill>
                        <a:srgbClr val="EDAC4C"/>
                      </a:solidFill>
                      <a:prstDash val="solid"/>
                      <a:round/>
                      <a:headEnd type="none" w="med" len="med"/>
                      <a:tailEnd type="none" w="med" len="med"/>
                    </a:lnL>
                    <a:lnR w="38100" cap="flat" cmpd="sng" algn="ctr">
                      <a:solidFill>
                        <a:srgbClr val="EDAC4C"/>
                      </a:solidFill>
                      <a:prstDash val="solid"/>
                      <a:round/>
                      <a:headEnd type="none" w="med" len="med"/>
                      <a:tailEnd type="none" w="med" len="med"/>
                    </a:lnR>
                    <a:lnT w="38100" cap="flat" cmpd="sng" algn="ctr">
                      <a:solidFill>
                        <a:srgbClr val="EDAC4C"/>
                      </a:solidFill>
                      <a:prstDash val="solid"/>
                      <a:round/>
                      <a:headEnd type="none" w="med" len="med"/>
                      <a:tailEnd type="none" w="med" len="med"/>
                    </a:lnT>
                    <a:lnB w="38100" cap="flat" cmpd="sng" algn="ctr">
                      <a:solidFill>
                        <a:srgbClr val="EDAC4C"/>
                      </a:solidFill>
                      <a:prstDash val="solid"/>
                      <a:round/>
                      <a:headEnd type="none" w="med" len="med"/>
                      <a:tailEnd type="none" w="med" len="med"/>
                    </a:lnB>
                    <a:solidFill>
                      <a:srgbClr val="FFEBCD"/>
                    </a:solidFill>
                  </a:tcPr>
                </a:tc>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ANALYSIS</a:t>
                      </a:r>
                      <a:endParaRPr lang="en-US" sz="1100"/>
                    </a:p>
                  </a:txBody>
                  <a:tcPr marL="190500" marR="190500" marT="190500" marB="190500" anchor="ctr">
                    <a:lnL w="38100" cap="flat" cmpd="sng" algn="ctr">
                      <a:solidFill>
                        <a:srgbClr val="EDAC4C"/>
                      </a:solidFill>
                      <a:prstDash val="solid"/>
                      <a:round/>
                      <a:headEnd type="none" w="med" len="med"/>
                      <a:tailEnd type="none" w="med" len="med"/>
                    </a:lnL>
                    <a:lnR w="95250" cap="flat" cmpd="sng" algn="ctr">
                      <a:solidFill>
                        <a:srgbClr val="EDAC4C"/>
                      </a:solidFill>
                      <a:prstDash val="solid"/>
                      <a:round/>
                      <a:headEnd type="none" w="med" len="med"/>
                      <a:tailEnd type="none" w="med" len="med"/>
                    </a:lnR>
                    <a:lnT w="47625" cap="flat" cmpd="sng" algn="ctr">
                      <a:solidFill>
                        <a:srgbClr val="EDAC4C"/>
                      </a:solidFill>
                      <a:prstDash val="solid"/>
                      <a:round/>
                      <a:headEnd type="none" w="med" len="med"/>
                      <a:tailEnd type="none" w="med" len="med"/>
                    </a:lnT>
                    <a:lnB w="38100" cap="flat" cmpd="sng" algn="ctr">
                      <a:solidFill>
                        <a:srgbClr val="EDAC4C"/>
                      </a:solidFill>
                      <a:prstDash val="solid"/>
                      <a:round/>
                      <a:headEnd type="none" w="med" len="med"/>
                      <a:tailEnd type="none" w="med" len="med"/>
                    </a:lnB>
                    <a:solidFill>
                      <a:srgbClr val="FFEBCD"/>
                    </a:solidFill>
                  </a:tcPr>
                </a:tc>
                <a:extLst>
                  <a:ext uri="{0D108BD9-81ED-4DB2-BD59-A6C34878D82A}">
                    <a16:rowId xmlns:a16="http://schemas.microsoft.com/office/drawing/2014/main" val="10002"/>
                  </a:ext>
                </a:extLst>
              </a:tr>
              <a:tr h="1174211">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OBJECTIVES</a:t>
                      </a:r>
                      <a:endParaRPr lang="en-US" sz="1100"/>
                    </a:p>
                  </a:txBody>
                  <a:tcPr marL="190500" marR="190500" marT="190500" marB="190500" anchor="ctr">
                    <a:lnL w="95250" cap="flat" cmpd="sng" algn="ctr">
                      <a:solidFill>
                        <a:srgbClr val="EDAC4C"/>
                      </a:solidFill>
                      <a:prstDash val="solid"/>
                      <a:round/>
                      <a:headEnd type="none" w="med" len="med"/>
                      <a:tailEnd type="none" w="med" len="med"/>
                    </a:lnL>
                    <a:lnR w="38100" cap="flat" cmpd="sng" algn="ctr">
                      <a:solidFill>
                        <a:srgbClr val="EDAC4C"/>
                      </a:solidFill>
                      <a:prstDash val="solid"/>
                      <a:round/>
                      <a:headEnd type="none" w="med" len="med"/>
                      <a:tailEnd type="none" w="med" len="med"/>
                    </a:lnR>
                    <a:lnT w="38100" cap="flat" cmpd="sng" algn="ctr">
                      <a:solidFill>
                        <a:srgbClr val="EDAC4C"/>
                      </a:solidFill>
                      <a:prstDash val="solid"/>
                      <a:round/>
                      <a:headEnd type="none" w="med" len="med"/>
                      <a:tailEnd type="none" w="med" len="med"/>
                    </a:lnT>
                    <a:lnB w="38100" cap="flat" cmpd="sng" algn="ctr">
                      <a:solidFill>
                        <a:srgbClr val="EDAC4C"/>
                      </a:solidFill>
                      <a:prstDash val="solid"/>
                      <a:round/>
                      <a:headEnd type="none" w="med" len="med"/>
                      <a:tailEnd type="none" w="med" len="med"/>
                    </a:lnB>
                    <a:solidFill>
                      <a:srgbClr val="FFEBCD"/>
                    </a:solidFill>
                  </a:tcPr>
                </a:tc>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RESULT </a:t>
                      </a:r>
                      <a:endParaRPr lang="en-US" sz="1100"/>
                    </a:p>
                  </a:txBody>
                  <a:tcPr marL="190500" marR="190500" marT="190500" marB="190500" anchor="ctr">
                    <a:lnL w="38100" cap="flat" cmpd="sng" algn="ctr">
                      <a:solidFill>
                        <a:srgbClr val="EDAC4C"/>
                      </a:solidFill>
                      <a:prstDash val="solid"/>
                      <a:round/>
                      <a:headEnd type="none" w="med" len="med"/>
                      <a:tailEnd type="none" w="med" len="med"/>
                    </a:lnL>
                    <a:lnR w="95250" cap="flat" cmpd="sng" algn="ctr">
                      <a:solidFill>
                        <a:srgbClr val="EDAC4C"/>
                      </a:solidFill>
                      <a:prstDash val="solid"/>
                      <a:round/>
                      <a:headEnd type="none" w="med" len="med"/>
                      <a:tailEnd type="none" w="med" len="med"/>
                    </a:lnR>
                    <a:lnT w="38100" cap="flat" cmpd="sng" algn="ctr">
                      <a:solidFill>
                        <a:srgbClr val="EDAC4C"/>
                      </a:solidFill>
                      <a:prstDash val="solid"/>
                      <a:round/>
                      <a:headEnd type="none" w="med" len="med"/>
                      <a:tailEnd type="none" w="med" len="med"/>
                    </a:lnT>
                    <a:lnB w="38100" cap="flat" cmpd="sng" algn="ctr">
                      <a:solidFill>
                        <a:srgbClr val="EDAC4C"/>
                      </a:solidFill>
                      <a:prstDash val="solid"/>
                      <a:round/>
                      <a:headEnd type="none" w="med" len="med"/>
                      <a:tailEnd type="none" w="med" len="med"/>
                    </a:lnB>
                    <a:solidFill>
                      <a:srgbClr val="FFEBCD"/>
                    </a:solidFill>
                  </a:tcPr>
                </a:tc>
                <a:extLst>
                  <a:ext uri="{0D108BD9-81ED-4DB2-BD59-A6C34878D82A}">
                    <a16:rowId xmlns:a16="http://schemas.microsoft.com/office/drawing/2014/main" val="10003"/>
                  </a:ext>
                </a:extLst>
              </a:tr>
              <a:tr h="1201485">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DATASET DESCRIPTION</a:t>
                      </a:r>
                      <a:endParaRPr lang="en-US" sz="1100"/>
                    </a:p>
                  </a:txBody>
                  <a:tcPr marL="190500" marR="190500" marT="190500" marB="190500" anchor="ctr">
                    <a:lnL w="95250" cap="flat" cmpd="sng" algn="ctr">
                      <a:solidFill>
                        <a:srgbClr val="EDAC4C"/>
                      </a:solidFill>
                      <a:prstDash val="solid"/>
                      <a:round/>
                      <a:headEnd type="none" w="med" len="med"/>
                      <a:tailEnd type="none" w="med" len="med"/>
                    </a:lnL>
                    <a:lnR w="38100" cap="flat" cmpd="sng" algn="ctr">
                      <a:solidFill>
                        <a:srgbClr val="EDAC4C"/>
                      </a:solidFill>
                      <a:prstDash val="solid"/>
                      <a:round/>
                      <a:headEnd type="none" w="med" len="med"/>
                      <a:tailEnd type="none" w="med" len="med"/>
                    </a:lnR>
                    <a:lnT w="38100" cap="flat" cmpd="sng" algn="ctr">
                      <a:solidFill>
                        <a:srgbClr val="EDAC4C"/>
                      </a:solidFill>
                      <a:prstDash val="solid"/>
                      <a:round/>
                      <a:headEnd type="none" w="med" len="med"/>
                      <a:tailEnd type="none" w="med" len="med"/>
                    </a:lnT>
                    <a:lnB w="95250" cap="flat" cmpd="sng" algn="ctr">
                      <a:solidFill>
                        <a:srgbClr val="EDAC4C"/>
                      </a:solidFill>
                      <a:prstDash val="solid"/>
                      <a:round/>
                      <a:headEnd type="none" w="med" len="med"/>
                      <a:tailEnd type="none" w="med" len="med"/>
                    </a:lnB>
                    <a:solidFill>
                      <a:srgbClr val="FFEBCD"/>
                    </a:solidFill>
                  </a:tcPr>
                </a:tc>
                <a:tc>
                  <a:txBody>
                    <a:bodyPr/>
                    <a:lstStyle/>
                    <a:p>
                      <a:pPr marL="712472" lvl="1" indent="-356236" algn="l">
                        <a:lnSpc>
                          <a:spcPts val="4620"/>
                        </a:lnSpc>
                        <a:buFont typeface="Arial"/>
                        <a:buChar char="•"/>
                        <a:defRPr/>
                      </a:pPr>
                      <a:r>
                        <a:rPr lang="en-US" sz="3300">
                          <a:solidFill>
                            <a:srgbClr val="000000"/>
                          </a:solidFill>
                          <a:latin typeface="Times New Roman"/>
                          <a:ea typeface="Times New Roman"/>
                          <a:cs typeface="Times New Roman"/>
                          <a:sym typeface="Times New Roman"/>
                        </a:rPr>
                        <a:t>CONCLUSION</a:t>
                      </a:r>
                      <a:endParaRPr lang="en-US" sz="1100"/>
                    </a:p>
                  </a:txBody>
                  <a:tcPr marL="190500" marR="190500" marT="190500" marB="190500" anchor="ctr">
                    <a:lnL w="38100" cap="flat" cmpd="sng" algn="ctr">
                      <a:solidFill>
                        <a:srgbClr val="EDAC4C"/>
                      </a:solidFill>
                      <a:prstDash val="solid"/>
                      <a:round/>
                      <a:headEnd type="none" w="med" len="med"/>
                      <a:tailEnd type="none" w="med" len="med"/>
                    </a:lnL>
                    <a:lnR w="95250" cap="flat" cmpd="sng" algn="ctr">
                      <a:solidFill>
                        <a:srgbClr val="EDAC4C"/>
                      </a:solidFill>
                      <a:prstDash val="solid"/>
                      <a:round/>
                      <a:headEnd type="none" w="med" len="med"/>
                      <a:tailEnd type="none" w="med" len="med"/>
                    </a:lnR>
                    <a:lnT w="38100" cap="flat" cmpd="sng" algn="ctr">
                      <a:solidFill>
                        <a:srgbClr val="EDAC4C"/>
                      </a:solidFill>
                      <a:prstDash val="solid"/>
                      <a:round/>
                      <a:headEnd type="none" w="med" len="med"/>
                      <a:tailEnd type="none" w="med" len="med"/>
                    </a:lnT>
                    <a:lnB w="95250" cap="flat" cmpd="sng" algn="ctr">
                      <a:solidFill>
                        <a:srgbClr val="EDAC4C"/>
                      </a:solidFill>
                      <a:prstDash val="solid"/>
                      <a:round/>
                      <a:headEnd type="none" w="med" len="med"/>
                      <a:tailEnd type="none" w="med" len="med"/>
                    </a:lnB>
                    <a:solidFill>
                      <a:srgbClr val="FFEBCD"/>
                    </a:solidFill>
                  </a:tcPr>
                </a:tc>
                <a:extLst>
                  <a:ext uri="{0D108BD9-81ED-4DB2-BD59-A6C34878D82A}">
                    <a16:rowId xmlns:a16="http://schemas.microsoft.com/office/drawing/2014/main" val="10004"/>
                  </a:ext>
                </a:extLst>
              </a:tr>
            </a:tbl>
          </a:graphicData>
        </a:graphic>
      </p:graphicFrame>
      <p:sp>
        <p:nvSpPr>
          <p:cNvPr id="12" name="TextBox 12"/>
          <p:cNvSpPr txBox="1"/>
          <p:nvPr/>
        </p:nvSpPr>
        <p:spPr>
          <a:xfrm>
            <a:off x="6338367" y="2102515"/>
            <a:ext cx="5874321" cy="1152944"/>
          </a:xfrm>
          <a:prstGeom prst="rect">
            <a:avLst/>
          </a:prstGeom>
        </p:spPr>
        <p:txBody>
          <a:bodyPr wrap="square" lIns="0" tIns="0" rIns="0" bIns="0" rtlCol="0" anchor="t">
            <a:spAutoFit/>
          </a:bodyPr>
          <a:lstStyle/>
          <a:p>
            <a:pPr algn="ctr">
              <a:lnSpc>
                <a:spcPts val="9800"/>
              </a:lnSpc>
            </a:pPr>
            <a:r>
              <a:rPr lang="en-US" sz="7000" b="1" dirty="0">
                <a:solidFill>
                  <a:srgbClr val="000000"/>
                </a:solidFill>
                <a:latin typeface="Times New Roman Bold"/>
                <a:ea typeface="Times New Roman Bold"/>
                <a:cs typeface="Times New Roman Bold"/>
                <a:sym typeface="Times New Roman Bold"/>
              </a:rPr>
              <a:t>CONTENTS</a:t>
            </a:r>
          </a:p>
        </p:txBody>
      </p:sp>
      <p:grpSp>
        <p:nvGrpSpPr>
          <p:cNvPr id="16" name="Group 14">
            <a:extLst>
              <a:ext uri="{FF2B5EF4-FFF2-40B4-BE49-F238E27FC236}">
                <a16:creationId xmlns:a16="http://schemas.microsoft.com/office/drawing/2014/main" id="{A20FDCAB-BF18-E03A-55E6-3754866C80A5}"/>
              </a:ext>
            </a:extLst>
          </p:cNvPr>
          <p:cNvGrpSpPr/>
          <p:nvPr/>
        </p:nvGrpSpPr>
        <p:grpSpPr>
          <a:xfrm>
            <a:off x="0" y="765658"/>
            <a:ext cx="7378398" cy="1008345"/>
            <a:chOff x="0" y="0"/>
            <a:chExt cx="9837864" cy="1344460"/>
          </a:xfrm>
        </p:grpSpPr>
        <p:sp>
          <p:nvSpPr>
            <p:cNvPr id="17" name="Freeform 15">
              <a:extLst>
                <a:ext uri="{FF2B5EF4-FFF2-40B4-BE49-F238E27FC236}">
                  <a16:creationId xmlns:a16="http://schemas.microsoft.com/office/drawing/2014/main" id="{AA3AE510-DF92-40F7-A997-248C17624B8F}"/>
                </a:ext>
              </a:extLst>
            </p:cNvPr>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sp>
        <p:nvSpPr>
          <p:cNvPr id="11" name="TextBox 11"/>
          <p:cNvSpPr txBox="1"/>
          <p:nvPr/>
        </p:nvSpPr>
        <p:spPr>
          <a:xfrm>
            <a:off x="532896" y="2605353"/>
            <a:ext cx="17222208" cy="7115175"/>
          </a:xfrm>
          <a:prstGeom prst="rect">
            <a:avLst/>
          </a:prstGeom>
        </p:spPr>
        <p:txBody>
          <a:bodyPr lIns="0" tIns="0" rIns="0" bIns="0" rtlCol="0" anchor="t">
            <a:spAutoFit/>
          </a:bodyPr>
          <a:lstStyle/>
          <a:p>
            <a:pPr marL="842007" lvl="1" indent="-421003" algn="l">
              <a:lnSpc>
                <a:spcPts val="4679"/>
              </a:lnSpc>
              <a:buFont typeface="Arial"/>
              <a:buChar char="•"/>
            </a:pPr>
            <a:r>
              <a:rPr lang="en-US" sz="3899">
                <a:solidFill>
                  <a:srgbClr val="000000"/>
                </a:solidFill>
                <a:latin typeface="Times New Roman"/>
                <a:ea typeface="Times New Roman"/>
                <a:cs typeface="Times New Roman"/>
                <a:sym typeface="Times New Roman"/>
              </a:rPr>
              <a:t>In recent years, a huge amount of biological data is being generated in healthcare.</a:t>
            </a:r>
          </a:p>
          <a:p>
            <a:pPr marL="842007" lvl="1" indent="-421003" algn="l">
              <a:lnSpc>
                <a:spcPts val="4679"/>
              </a:lnSpc>
              <a:buFont typeface="Arial"/>
              <a:buChar char="•"/>
            </a:pPr>
            <a:r>
              <a:rPr lang="en-US" sz="3899">
                <a:solidFill>
                  <a:srgbClr val="000000"/>
                </a:solidFill>
                <a:latin typeface="Times New Roman"/>
                <a:ea typeface="Times New Roman"/>
                <a:cs typeface="Times New Roman"/>
                <a:sym typeface="Times New Roman"/>
              </a:rPr>
              <a:t>This includes multiple types of biological data, often referred to as multi-omics data.</a:t>
            </a:r>
          </a:p>
          <a:p>
            <a:pPr marL="842007" lvl="1" indent="-421003" algn="l">
              <a:lnSpc>
                <a:spcPts val="4679"/>
              </a:lnSpc>
              <a:buFont typeface="Arial"/>
              <a:buChar char="•"/>
            </a:pPr>
            <a:r>
              <a:rPr lang="en-US" sz="3899">
                <a:solidFill>
                  <a:srgbClr val="000000"/>
                </a:solidFill>
                <a:latin typeface="Times New Roman"/>
                <a:ea typeface="Times New Roman"/>
                <a:cs typeface="Times New Roman"/>
                <a:sym typeface="Times New Roman"/>
              </a:rPr>
              <a:t>Such data helps us understand complex diseases like cancer more deeply, including kidney cell carcinoma (RCC), the most common type of kidney cancer, which originates in the lining of the kidney tubules.</a:t>
            </a:r>
          </a:p>
          <a:p>
            <a:pPr marL="842007" lvl="1" indent="-421003" algn="l">
              <a:lnSpc>
                <a:spcPts val="4679"/>
              </a:lnSpc>
              <a:buFont typeface="Arial"/>
              <a:buChar char="•"/>
            </a:pPr>
            <a:r>
              <a:rPr lang="en-US" sz="3899">
                <a:solidFill>
                  <a:srgbClr val="000000"/>
                </a:solidFill>
                <a:latin typeface="Times New Roman"/>
                <a:ea typeface="Times New Roman"/>
                <a:cs typeface="Times New Roman"/>
                <a:sym typeface="Times New Roman"/>
              </a:rPr>
              <a:t>One important task is survival prediction, which estimates how long a patient might survive.</a:t>
            </a:r>
          </a:p>
          <a:p>
            <a:pPr marL="842007" lvl="1" indent="-421003" algn="l">
              <a:lnSpc>
                <a:spcPts val="4679"/>
              </a:lnSpc>
              <a:buFont typeface="Arial"/>
              <a:buChar char="•"/>
            </a:pPr>
            <a:r>
              <a:rPr lang="en-US" sz="3899">
                <a:solidFill>
                  <a:srgbClr val="000000"/>
                </a:solidFill>
                <a:latin typeface="Times New Roman"/>
                <a:ea typeface="Times New Roman"/>
                <a:cs typeface="Times New Roman"/>
                <a:sym typeface="Times New Roman"/>
              </a:rPr>
              <a:t>This study focuses on comparing different statistical and machine learning methods for survival prediction.</a:t>
            </a:r>
          </a:p>
          <a:p>
            <a:pPr marL="842007" lvl="1" indent="-421003" algn="l">
              <a:lnSpc>
                <a:spcPts val="4679"/>
              </a:lnSpc>
              <a:spcBef>
                <a:spcPct val="0"/>
              </a:spcBef>
              <a:buFont typeface="Arial"/>
              <a:buChar char="•"/>
            </a:pPr>
            <a:r>
              <a:rPr lang="en-US" sz="3899">
                <a:solidFill>
                  <a:srgbClr val="000000"/>
                </a:solidFill>
                <a:latin typeface="Times New Roman"/>
                <a:ea typeface="Times New Roman"/>
                <a:cs typeface="Times New Roman"/>
                <a:sym typeface="Times New Roman"/>
              </a:rPr>
              <a:t>It also checks whether using multi-omics data improves accuracy compared to using only clinical data.</a:t>
            </a:r>
          </a:p>
        </p:txBody>
      </p:sp>
      <p:sp>
        <p:nvSpPr>
          <p:cNvPr id="12" name="TextBox 12"/>
          <p:cNvSpPr txBox="1"/>
          <p:nvPr/>
        </p:nvSpPr>
        <p:spPr>
          <a:xfrm>
            <a:off x="10069852" y="249191"/>
            <a:ext cx="7321616"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INTRODUCTION</a:t>
            </a:r>
          </a:p>
        </p:txBody>
      </p:sp>
      <p:grpSp>
        <p:nvGrpSpPr>
          <p:cNvPr id="13" name="Group 14">
            <a:extLst>
              <a:ext uri="{FF2B5EF4-FFF2-40B4-BE49-F238E27FC236}">
                <a16:creationId xmlns:a16="http://schemas.microsoft.com/office/drawing/2014/main" id="{2F293FBF-B41B-4B82-8B84-3B02BC7B4A70}"/>
              </a:ext>
            </a:extLst>
          </p:cNvPr>
          <p:cNvGrpSpPr/>
          <p:nvPr/>
        </p:nvGrpSpPr>
        <p:grpSpPr>
          <a:xfrm>
            <a:off x="34413" y="716318"/>
            <a:ext cx="7378398" cy="1172718"/>
            <a:chOff x="0" y="0"/>
            <a:chExt cx="9837864" cy="1344460"/>
          </a:xfrm>
        </p:grpSpPr>
        <p:sp>
          <p:nvSpPr>
            <p:cNvPr id="14" name="Freeform 15">
              <a:extLst>
                <a:ext uri="{FF2B5EF4-FFF2-40B4-BE49-F238E27FC236}">
                  <a16:creationId xmlns:a16="http://schemas.microsoft.com/office/drawing/2014/main" id="{DDBDE620-33C6-10B5-ABFA-A783ED034EF9}"/>
                </a:ext>
              </a:extLst>
            </p:cNvPr>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31955" y="700030"/>
            <a:ext cx="7378398" cy="1155682"/>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7921550" y="249172"/>
            <a:ext cx="10587676" cy="974765"/>
          </a:xfrm>
          <a:prstGeom prst="rect">
            <a:avLst/>
          </a:prstGeom>
        </p:spPr>
        <p:txBody>
          <a:bodyPr lIns="0" tIns="0" rIns="0" bIns="0" rtlCol="0" anchor="t">
            <a:spAutoFit/>
          </a:bodyPr>
          <a:lstStyle/>
          <a:p>
            <a:pPr algn="ctr">
              <a:lnSpc>
                <a:spcPts val="7697"/>
              </a:lnSpc>
            </a:pPr>
            <a:r>
              <a:rPr lang="en-US" sz="5498" b="1">
                <a:solidFill>
                  <a:srgbClr val="FFFFFF"/>
                </a:solidFill>
                <a:latin typeface="Times New Roman Bold"/>
                <a:ea typeface="Times New Roman Bold"/>
                <a:cs typeface="Times New Roman Bold"/>
                <a:sym typeface="Times New Roman Bold"/>
              </a:rPr>
              <a:t>SURVIVAL ANALYSIS</a:t>
            </a:r>
          </a:p>
        </p:txBody>
      </p:sp>
      <p:sp>
        <p:nvSpPr>
          <p:cNvPr id="12" name="TextBox 12"/>
          <p:cNvSpPr txBox="1"/>
          <p:nvPr/>
        </p:nvSpPr>
        <p:spPr>
          <a:xfrm>
            <a:off x="519878" y="2622110"/>
            <a:ext cx="17389745" cy="7812998"/>
          </a:xfrm>
          <a:prstGeom prst="rect">
            <a:avLst/>
          </a:prstGeom>
        </p:spPr>
        <p:txBody>
          <a:bodyPr lIns="0" tIns="0" rIns="0" bIns="0" rtlCol="0" anchor="t">
            <a:spAutoFit/>
          </a:bodyPr>
          <a:lstStyle/>
          <a:p>
            <a:pPr marL="950160" lvl="1" indent="-475080" algn="l">
              <a:lnSpc>
                <a:spcPts val="6161"/>
              </a:lnSpc>
              <a:buFont typeface="Arial"/>
              <a:buChar char="•"/>
            </a:pPr>
            <a:r>
              <a:rPr lang="en-US" sz="4400">
                <a:solidFill>
                  <a:srgbClr val="000000"/>
                </a:solidFill>
                <a:latin typeface="Times New Roman"/>
                <a:ea typeface="Times New Roman"/>
                <a:cs typeface="Times New Roman"/>
                <a:sym typeface="Times New Roman"/>
              </a:rPr>
              <a:t>Survival analysis studies time-to-event data, i.e., how long it takes for an event to occur</a:t>
            </a:r>
          </a:p>
          <a:p>
            <a:pPr marL="950160" lvl="1" indent="-475080" algn="l">
              <a:lnSpc>
                <a:spcPts val="6161"/>
              </a:lnSpc>
              <a:buFont typeface="Arial"/>
              <a:buChar char="•"/>
            </a:pPr>
            <a:r>
              <a:rPr lang="en-US" sz="4400">
                <a:solidFill>
                  <a:srgbClr val="000000"/>
                </a:solidFill>
                <a:latin typeface="Times New Roman"/>
                <a:ea typeface="Times New Roman"/>
                <a:cs typeface="Times New Roman"/>
                <a:sym typeface="Times New Roman"/>
              </a:rPr>
              <a:t>It can handle censored data, where the exact event time is not fully known</a:t>
            </a:r>
          </a:p>
          <a:p>
            <a:pPr marL="950160" lvl="1" indent="-475080" algn="l">
              <a:lnSpc>
                <a:spcPts val="6161"/>
              </a:lnSpc>
              <a:buFont typeface="Arial"/>
              <a:buChar char="•"/>
            </a:pPr>
            <a:r>
              <a:rPr lang="en-US" sz="4400">
                <a:solidFill>
                  <a:srgbClr val="000000"/>
                </a:solidFill>
                <a:latin typeface="Times New Roman"/>
                <a:ea typeface="Times New Roman"/>
                <a:cs typeface="Times New Roman"/>
                <a:sym typeface="Times New Roman"/>
              </a:rPr>
              <a:t>It focuses on survival probability over time and the risk of the event occurring</a:t>
            </a:r>
          </a:p>
          <a:p>
            <a:pPr marL="950160" lvl="1" indent="-475080" algn="l">
              <a:lnSpc>
                <a:spcPts val="6161"/>
              </a:lnSpc>
              <a:buFont typeface="Arial"/>
              <a:buChar char="•"/>
            </a:pPr>
            <a:r>
              <a:rPr lang="en-US" sz="4400">
                <a:solidFill>
                  <a:srgbClr val="000000"/>
                </a:solidFill>
                <a:latin typeface="Times New Roman"/>
                <a:ea typeface="Times New Roman"/>
                <a:cs typeface="Times New Roman"/>
                <a:sym typeface="Times New Roman"/>
              </a:rPr>
              <a:t>It also examines how different factors (covariates) affect survival</a:t>
            </a:r>
          </a:p>
          <a:p>
            <a:pPr marL="950160" lvl="1" indent="-475080" algn="l">
              <a:lnSpc>
                <a:spcPts val="6161"/>
              </a:lnSpc>
              <a:buFont typeface="Arial"/>
              <a:buChar char="•"/>
            </a:pPr>
            <a:r>
              <a:rPr lang="en-US" sz="4400">
                <a:solidFill>
                  <a:srgbClr val="000000"/>
                </a:solidFill>
                <a:latin typeface="Times New Roman"/>
                <a:ea typeface="Times New Roman"/>
                <a:cs typeface="Times New Roman"/>
                <a:sym typeface="Times New Roman"/>
              </a:rPr>
              <a:t>Common methods include Kaplan–Meier and Cox proportional hazard</a:t>
            </a:r>
          </a:p>
          <a:p>
            <a:pPr algn="l">
              <a:lnSpc>
                <a:spcPts val="6161"/>
              </a:lnSpc>
            </a:pPr>
            <a:r>
              <a:rPr lang="en-US" sz="4400">
                <a:solidFill>
                  <a:srgbClr val="000000"/>
                </a:solidFill>
                <a:latin typeface="Times New Roman"/>
                <a:ea typeface="Times New Roman"/>
                <a:cs typeface="Times New Roman"/>
                <a:sym typeface="Times New Roman"/>
              </a:rPr>
              <a:t>       model.</a:t>
            </a:r>
          </a:p>
          <a:p>
            <a:pPr algn="l">
              <a:lnSpc>
                <a:spcPts val="6161"/>
              </a:lnSpc>
            </a:pPr>
            <a:endParaRPr lang="en-US" sz="440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749"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88749" y="678268"/>
            <a:ext cx="7378398" cy="1155682"/>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277191" y="2447915"/>
            <a:ext cx="17627583" cy="7319977"/>
          </a:xfrm>
          <a:prstGeom prst="rect">
            <a:avLst/>
          </a:prstGeom>
        </p:spPr>
        <p:txBody>
          <a:bodyPr lIns="0" tIns="0" rIns="0" bIns="0" rtlCol="0" anchor="t">
            <a:spAutoFit/>
          </a:bodyPr>
          <a:lstStyle/>
          <a:p>
            <a:pPr marL="996747" lvl="1" indent="-498374" algn="l">
              <a:lnSpc>
                <a:spcPts val="5540"/>
              </a:lnSpc>
              <a:buFont typeface="Arial"/>
              <a:buChar char="•"/>
            </a:pPr>
            <a:r>
              <a:rPr lang="en-US" sz="4616">
                <a:solidFill>
                  <a:srgbClr val="000000"/>
                </a:solidFill>
                <a:latin typeface="Times New Roman"/>
                <a:ea typeface="Times New Roman"/>
                <a:cs typeface="Times New Roman"/>
                <a:sym typeface="Times New Roman"/>
              </a:rPr>
              <a:t>Multi-omics data means combining different types of biological information from the same patient</a:t>
            </a:r>
          </a:p>
          <a:p>
            <a:pPr marL="996747" lvl="1" indent="-498374" algn="l">
              <a:lnSpc>
                <a:spcPts val="5540"/>
              </a:lnSpc>
              <a:buFont typeface="Arial"/>
              <a:buChar char="•"/>
            </a:pPr>
            <a:r>
              <a:rPr lang="en-US" sz="4616">
                <a:solidFill>
                  <a:srgbClr val="000000"/>
                </a:solidFill>
                <a:latin typeface="Times New Roman"/>
                <a:ea typeface="Times New Roman"/>
                <a:cs typeface="Times New Roman"/>
                <a:sym typeface="Times New Roman"/>
              </a:rPr>
              <a:t>It includes data like genes, RNA, proteins, and metabolites</a:t>
            </a:r>
          </a:p>
          <a:p>
            <a:pPr marL="996747" lvl="1" indent="-498374" algn="l">
              <a:lnSpc>
                <a:spcPts val="5540"/>
              </a:lnSpc>
              <a:buFont typeface="Arial"/>
              <a:buChar char="•"/>
            </a:pPr>
            <a:r>
              <a:rPr lang="en-US" sz="4616">
                <a:solidFill>
                  <a:srgbClr val="000000"/>
                </a:solidFill>
                <a:latin typeface="Times New Roman"/>
                <a:ea typeface="Times New Roman"/>
                <a:cs typeface="Times New Roman"/>
                <a:sym typeface="Times New Roman"/>
              </a:rPr>
              <a:t>These datasets are high-dimensional, meaning they contain thousands of variables but relatively fewer samples</a:t>
            </a:r>
          </a:p>
          <a:p>
            <a:pPr marL="996747" lvl="1" indent="-498374" algn="l">
              <a:lnSpc>
                <a:spcPts val="5540"/>
              </a:lnSpc>
              <a:buFont typeface="Arial"/>
              <a:buChar char="•"/>
            </a:pPr>
            <a:r>
              <a:rPr lang="en-US" sz="4616">
                <a:solidFill>
                  <a:srgbClr val="000000"/>
                </a:solidFill>
                <a:latin typeface="Times New Roman"/>
                <a:ea typeface="Times New Roman"/>
                <a:cs typeface="Times New Roman"/>
                <a:sym typeface="Times New Roman"/>
              </a:rPr>
              <a:t>This makes the data complex and challenging to analyze</a:t>
            </a:r>
          </a:p>
          <a:p>
            <a:pPr marL="996747" lvl="1" indent="-498374" algn="l">
              <a:lnSpc>
                <a:spcPts val="5540"/>
              </a:lnSpc>
              <a:buFont typeface="Arial"/>
              <a:buChar char="•"/>
            </a:pPr>
            <a:r>
              <a:rPr lang="en-US" sz="4616">
                <a:solidFill>
                  <a:srgbClr val="000000"/>
                </a:solidFill>
                <a:latin typeface="Times New Roman"/>
                <a:ea typeface="Times New Roman"/>
                <a:cs typeface="Times New Roman"/>
                <a:sym typeface="Times New Roman"/>
              </a:rPr>
              <a:t>By combining different data types, we get a more complete understanding of diseases</a:t>
            </a:r>
          </a:p>
          <a:p>
            <a:pPr marL="996747" lvl="1" indent="-498374" algn="l">
              <a:lnSpc>
                <a:spcPts val="5540"/>
              </a:lnSpc>
              <a:buFont typeface="Arial"/>
              <a:buChar char="•"/>
            </a:pPr>
            <a:r>
              <a:rPr lang="en-US" sz="4616">
                <a:solidFill>
                  <a:srgbClr val="000000"/>
                </a:solidFill>
                <a:latin typeface="Times New Roman"/>
                <a:ea typeface="Times New Roman"/>
                <a:cs typeface="Times New Roman"/>
                <a:sym typeface="Times New Roman"/>
              </a:rPr>
              <a:t>It is widely used to improve prediction, diagnosis, and treatment decisions</a:t>
            </a:r>
          </a:p>
          <a:p>
            <a:pPr algn="l">
              <a:lnSpc>
                <a:spcPts val="2276"/>
              </a:lnSpc>
              <a:spcBef>
                <a:spcPct val="0"/>
              </a:spcBef>
            </a:pPr>
            <a:endParaRPr lang="en-US" sz="4616">
              <a:solidFill>
                <a:srgbClr val="000000"/>
              </a:solidFill>
              <a:latin typeface="Times New Roman"/>
              <a:ea typeface="Times New Roman"/>
              <a:cs typeface="Times New Roman"/>
              <a:sym typeface="Times New Roman"/>
            </a:endParaRPr>
          </a:p>
        </p:txBody>
      </p:sp>
      <p:sp>
        <p:nvSpPr>
          <p:cNvPr id="12" name="TextBox 12"/>
          <p:cNvSpPr txBox="1"/>
          <p:nvPr/>
        </p:nvSpPr>
        <p:spPr>
          <a:xfrm>
            <a:off x="7593248" y="253123"/>
            <a:ext cx="10453215" cy="966862"/>
          </a:xfrm>
          <a:prstGeom prst="rect">
            <a:avLst/>
          </a:prstGeom>
        </p:spPr>
        <p:txBody>
          <a:bodyPr lIns="0" tIns="0" rIns="0" bIns="0" rtlCol="0" anchor="t">
            <a:spAutoFit/>
          </a:bodyPr>
          <a:lstStyle/>
          <a:p>
            <a:pPr algn="ctr">
              <a:lnSpc>
                <a:spcPts val="7608"/>
              </a:lnSpc>
            </a:pPr>
            <a:r>
              <a:rPr lang="en-US" sz="5434" b="1">
                <a:solidFill>
                  <a:srgbClr val="FFFFFF"/>
                </a:solidFill>
                <a:latin typeface="Times New Roman Bold"/>
                <a:ea typeface="Times New Roman Bold"/>
                <a:cs typeface="Times New Roman Bold"/>
                <a:sym typeface="Times New Roman Bold"/>
              </a:rPr>
              <a:t>MULTI-OMICS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753716"/>
            <a:ext cx="7378398" cy="1219102"/>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10042804" y="283164"/>
            <a:ext cx="7216496"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OBJECTIVES</a:t>
            </a:r>
          </a:p>
        </p:txBody>
      </p:sp>
      <p:sp>
        <p:nvSpPr>
          <p:cNvPr id="12" name="TextBox 12"/>
          <p:cNvSpPr txBox="1"/>
          <p:nvPr/>
        </p:nvSpPr>
        <p:spPr>
          <a:xfrm>
            <a:off x="574880" y="2427163"/>
            <a:ext cx="17076179" cy="6858656"/>
          </a:xfrm>
          <a:prstGeom prst="rect">
            <a:avLst/>
          </a:prstGeom>
        </p:spPr>
        <p:txBody>
          <a:bodyPr lIns="0" tIns="0" rIns="0" bIns="0" rtlCol="0" anchor="t">
            <a:spAutoFit/>
          </a:bodyPr>
          <a:lstStyle/>
          <a:p>
            <a:pPr marL="826176" lvl="1" indent="-413088" algn="just">
              <a:lnSpc>
                <a:spcPts val="5357"/>
              </a:lnSpc>
              <a:spcBef>
                <a:spcPct val="0"/>
              </a:spcBef>
              <a:buFont typeface="Arial"/>
              <a:buChar char="•"/>
            </a:pPr>
            <a:r>
              <a:rPr lang="en-US" sz="3826">
                <a:solidFill>
                  <a:srgbClr val="000000"/>
                </a:solidFill>
                <a:latin typeface="Times New Roman"/>
                <a:ea typeface="Times New Roman"/>
                <a:cs typeface="Times New Roman"/>
                <a:sym typeface="Times New Roman"/>
              </a:rPr>
              <a:t>To evaluate and compare different statistical and machine learning methods for survival prediction.</a:t>
            </a:r>
          </a:p>
          <a:p>
            <a:pPr marL="826176" lvl="1" indent="-413088" algn="just">
              <a:lnSpc>
                <a:spcPts val="5357"/>
              </a:lnSpc>
              <a:spcBef>
                <a:spcPct val="0"/>
              </a:spcBef>
              <a:buFont typeface="Arial"/>
              <a:buChar char="•"/>
            </a:pPr>
            <a:r>
              <a:rPr lang="en-US" sz="3826">
                <a:solidFill>
                  <a:srgbClr val="000000"/>
                </a:solidFill>
                <a:latin typeface="Times New Roman"/>
                <a:ea typeface="Times New Roman"/>
                <a:cs typeface="Times New Roman"/>
                <a:sym typeface="Times New Roman"/>
              </a:rPr>
              <a:t>To analyze the effectiveness of these methods when applied to multi-omics data.</a:t>
            </a:r>
          </a:p>
          <a:p>
            <a:pPr marL="826176" lvl="1" indent="-413088" algn="just">
              <a:lnSpc>
                <a:spcPts val="5357"/>
              </a:lnSpc>
              <a:spcBef>
                <a:spcPct val="0"/>
              </a:spcBef>
              <a:buFont typeface="Arial"/>
              <a:buChar char="•"/>
            </a:pPr>
            <a:r>
              <a:rPr lang="en-US" sz="3826">
                <a:solidFill>
                  <a:srgbClr val="000000"/>
                </a:solidFill>
                <a:latin typeface="Times New Roman"/>
                <a:ea typeface="Times New Roman"/>
                <a:cs typeface="Times New Roman"/>
                <a:sym typeface="Times New Roman"/>
              </a:rPr>
              <a:t>To study whether incorporating multi-omics data improves prediction accuracy compared with using only clinical data.</a:t>
            </a:r>
          </a:p>
          <a:p>
            <a:pPr marL="826176" lvl="1" indent="-413088" algn="just">
              <a:lnSpc>
                <a:spcPts val="5357"/>
              </a:lnSpc>
              <a:spcBef>
                <a:spcPct val="0"/>
              </a:spcBef>
              <a:buFont typeface="Arial"/>
              <a:buChar char="•"/>
            </a:pPr>
            <a:r>
              <a:rPr lang="en-US" sz="3826">
                <a:solidFill>
                  <a:srgbClr val="000000"/>
                </a:solidFill>
                <a:latin typeface="Times New Roman"/>
                <a:ea typeface="Times New Roman"/>
                <a:cs typeface="Times New Roman"/>
                <a:sym typeface="Times New Roman"/>
              </a:rPr>
              <a:t>To examine the impact of considering group structure of omics data (such as clinical, RNA, mutation, etc.) in model building.</a:t>
            </a:r>
          </a:p>
          <a:p>
            <a:pPr marL="826176" lvl="1" indent="-413088" algn="just">
              <a:lnSpc>
                <a:spcPts val="5357"/>
              </a:lnSpc>
              <a:spcBef>
                <a:spcPct val="0"/>
              </a:spcBef>
              <a:buFont typeface="Arial"/>
              <a:buChar char="•"/>
            </a:pPr>
            <a:r>
              <a:rPr lang="en-US" sz="3826">
                <a:solidFill>
                  <a:srgbClr val="000000"/>
                </a:solidFill>
                <a:latin typeface="Times New Roman"/>
                <a:ea typeface="Times New Roman"/>
                <a:cs typeface="Times New Roman"/>
                <a:sym typeface="Times New Roman"/>
              </a:rPr>
              <a:t>To assess model performance using appropriate metrics like C-index.</a:t>
            </a:r>
          </a:p>
          <a:p>
            <a:pPr marL="826176" lvl="1" indent="-413088" algn="just">
              <a:lnSpc>
                <a:spcPts val="5357"/>
              </a:lnSpc>
              <a:spcBef>
                <a:spcPct val="0"/>
              </a:spcBef>
              <a:buFont typeface="Arial"/>
              <a:buChar char="•"/>
            </a:pPr>
            <a:r>
              <a:rPr lang="en-US" sz="3826">
                <a:solidFill>
                  <a:srgbClr val="000000"/>
                </a:solidFill>
                <a:latin typeface="Times New Roman"/>
                <a:ea typeface="Times New Roman"/>
                <a:cs typeface="Times New Roman"/>
                <a:sym typeface="Times New Roman"/>
              </a:rPr>
              <a:t>To identify which method provides the best predictive performance for survival outcomes.</a:t>
            </a:r>
          </a:p>
          <a:p>
            <a:pPr algn="just">
              <a:lnSpc>
                <a:spcPts val="111"/>
              </a:lnSpc>
              <a:spcBef>
                <a:spcPct val="0"/>
              </a:spcBef>
            </a:pPr>
            <a:endParaRPr lang="en-US" sz="3826">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6" name="Group 6"/>
          <p:cNvGrpSpPr/>
          <p:nvPr/>
        </p:nvGrpSpPr>
        <p:grpSpPr>
          <a:xfrm>
            <a:off x="-705233" y="412753"/>
            <a:ext cx="8173524" cy="1798822"/>
            <a:chOff x="0" y="0"/>
            <a:chExt cx="10898031" cy="2398429"/>
          </a:xfrm>
        </p:grpSpPr>
        <p:sp>
          <p:nvSpPr>
            <p:cNvPr id="7" name="Freeform 7"/>
            <p:cNvSpPr/>
            <p:nvPr/>
          </p:nvSpPr>
          <p:spPr>
            <a:xfrm>
              <a:off x="12915" y="15517"/>
              <a:ext cx="10872241" cy="2367442"/>
            </a:xfrm>
            <a:custGeom>
              <a:avLst/>
              <a:gdLst/>
              <a:ahLst/>
              <a:cxnLst/>
              <a:rect l="l" t="t" r="r" b="b"/>
              <a:pathLst>
                <a:path w="10872241" h="2367442">
                  <a:moveTo>
                    <a:pt x="0" y="394600"/>
                  </a:moveTo>
                  <a:cubicBezTo>
                    <a:pt x="0" y="176585"/>
                    <a:pt x="148652" y="0"/>
                    <a:pt x="331916" y="0"/>
                  </a:cubicBezTo>
                  <a:lnTo>
                    <a:pt x="10540325" y="0"/>
                  </a:lnTo>
                  <a:cubicBezTo>
                    <a:pt x="10723589" y="0"/>
                    <a:pt x="10872241" y="176585"/>
                    <a:pt x="10872241" y="394600"/>
                  </a:cubicBezTo>
                  <a:lnTo>
                    <a:pt x="10872241" y="1972842"/>
                  </a:lnTo>
                  <a:cubicBezTo>
                    <a:pt x="10872241" y="2190702"/>
                    <a:pt x="10723589" y="2367442"/>
                    <a:pt x="10540325" y="2367442"/>
                  </a:cubicBezTo>
                  <a:lnTo>
                    <a:pt x="331916" y="2367442"/>
                  </a:lnTo>
                  <a:cubicBezTo>
                    <a:pt x="148652" y="2367442"/>
                    <a:pt x="0" y="2190702"/>
                    <a:pt x="0" y="1972842"/>
                  </a:cubicBezTo>
                  <a:close/>
                </a:path>
              </a:pathLst>
            </a:custGeom>
            <a:solidFill>
              <a:srgbClr val="FFFFFF"/>
            </a:solidFill>
          </p:spPr>
        </p:sp>
        <p:sp>
          <p:nvSpPr>
            <p:cNvPr id="8" name="Freeform 8"/>
            <p:cNvSpPr/>
            <p:nvPr/>
          </p:nvSpPr>
          <p:spPr>
            <a:xfrm>
              <a:off x="0" y="0"/>
              <a:ext cx="10898070" cy="2398468"/>
            </a:xfrm>
            <a:custGeom>
              <a:avLst/>
              <a:gdLst/>
              <a:ahLst/>
              <a:cxnLst/>
              <a:rect l="l" t="t" r="r" b="b"/>
              <a:pathLst>
                <a:path w="10898070" h="2398468">
                  <a:moveTo>
                    <a:pt x="0" y="410117"/>
                  </a:moveTo>
                  <a:cubicBezTo>
                    <a:pt x="0" y="183412"/>
                    <a:pt x="154463" y="0"/>
                    <a:pt x="344831" y="0"/>
                  </a:cubicBezTo>
                  <a:lnTo>
                    <a:pt x="10553240" y="0"/>
                  </a:lnTo>
                  <a:lnTo>
                    <a:pt x="10553240" y="15517"/>
                  </a:lnTo>
                  <a:lnTo>
                    <a:pt x="10553240" y="0"/>
                  </a:lnTo>
                  <a:cubicBezTo>
                    <a:pt x="10743607" y="0"/>
                    <a:pt x="10898070" y="183412"/>
                    <a:pt x="10898070" y="410117"/>
                  </a:cubicBezTo>
                  <a:lnTo>
                    <a:pt x="10885156" y="410117"/>
                  </a:lnTo>
                  <a:lnTo>
                    <a:pt x="10898070" y="410117"/>
                  </a:lnTo>
                  <a:lnTo>
                    <a:pt x="10898070" y="1988359"/>
                  </a:lnTo>
                  <a:lnTo>
                    <a:pt x="10885156" y="1988359"/>
                  </a:lnTo>
                  <a:lnTo>
                    <a:pt x="10898070" y="1988359"/>
                  </a:lnTo>
                  <a:cubicBezTo>
                    <a:pt x="10898070" y="2215064"/>
                    <a:pt x="10743607" y="2398468"/>
                    <a:pt x="10553240" y="2398468"/>
                  </a:cubicBezTo>
                  <a:lnTo>
                    <a:pt x="10553240" y="2382959"/>
                  </a:lnTo>
                  <a:lnTo>
                    <a:pt x="10553240" y="2398468"/>
                  </a:lnTo>
                  <a:lnTo>
                    <a:pt x="344831" y="2398468"/>
                  </a:lnTo>
                  <a:lnTo>
                    <a:pt x="344831" y="2382959"/>
                  </a:lnTo>
                  <a:lnTo>
                    <a:pt x="344831" y="2398468"/>
                  </a:lnTo>
                  <a:cubicBezTo>
                    <a:pt x="154463" y="2398468"/>
                    <a:pt x="0" y="2214909"/>
                    <a:pt x="0" y="1988359"/>
                  </a:cubicBezTo>
                  <a:lnTo>
                    <a:pt x="0" y="410117"/>
                  </a:lnTo>
                  <a:lnTo>
                    <a:pt x="12915" y="410117"/>
                  </a:lnTo>
                  <a:lnTo>
                    <a:pt x="0" y="410117"/>
                  </a:lnTo>
                  <a:moveTo>
                    <a:pt x="25830" y="410117"/>
                  </a:moveTo>
                  <a:lnTo>
                    <a:pt x="25830" y="1988359"/>
                  </a:lnTo>
                  <a:lnTo>
                    <a:pt x="12915" y="1988359"/>
                  </a:lnTo>
                  <a:lnTo>
                    <a:pt x="25830" y="1988359"/>
                  </a:lnTo>
                  <a:cubicBezTo>
                    <a:pt x="25830" y="2197530"/>
                    <a:pt x="168541" y="2367442"/>
                    <a:pt x="344831" y="2367442"/>
                  </a:cubicBezTo>
                  <a:lnTo>
                    <a:pt x="10553240" y="2367442"/>
                  </a:lnTo>
                  <a:cubicBezTo>
                    <a:pt x="10729530" y="2367442"/>
                    <a:pt x="10872240" y="2197530"/>
                    <a:pt x="10872240" y="1988359"/>
                  </a:cubicBezTo>
                  <a:lnTo>
                    <a:pt x="10872240" y="410117"/>
                  </a:lnTo>
                  <a:cubicBezTo>
                    <a:pt x="10872240" y="200946"/>
                    <a:pt x="10729530" y="31034"/>
                    <a:pt x="10553240" y="31034"/>
                  </a:cubicBezTo>
                  <a:lnTo>
                    <a:pt x="344831" y="31034"/>
                  </a:lnTo>
                  <a:lnTo>
                    <a:pt x="344831" y="15517"/>
                  </a:lnTo>
                  <a:lnTo>
                    <a:pt x="344831" y="31034"/>
                  </a:lnTo>
                  <a:cubicBezTo>
                    <a:pt x="168541" y="31034"/>
                    <a:pt x="25830" y="200946"/>
                    <a:pt x="25830" y="410117"/>
                  </a:cubicBezTo>
                  <a:close/>
                </a:path>
              </a:pathLst>
            </a:custGeom>
            <a:solidFill>
              <a:srgbClr val="1F497D"/>
            </a:solidFill>
          </p:spPr>
        </p:sp>
      </p:grpSp>
      <p:grpSp>
        <p:nvGrpSpPr>
          <p:cNvPr id="9" name="Group 9"/>
          <p:cNvGrpSpPr/>
          <p:nvPr/>
        </p:nvGrpSpPr>
        <p:grpSpPr>
          <a:xfrm>
            <a:off x="-88749" y="807991"/>
            <a:ext cx="7378398" cy="1008345"/>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Freeform 11"/>
          <p:cNvSpPr/>
          <p:nvPr/>
        </p:nvSpPr>
        <p:spPr>
          <a:xfrm>
            <a:off x="0" y="2378793"/>
            <a:ext cx="18288000" cy="7908207"/>
          </a:xfrm>
          <a:custGeom>
            <a:avLst/>
            <a:gdLst/>
            <a:ahLst/>
            <a:cxnLst/>
            <a:rect l="l" t="t" r="r" b="b"/>
            <a:pathLst>
              <a:path w="18288000" h="7908207">
                <a:moveTo>
                  <a:pt x="0" y="0"/>
                </a:moveTo>
                <a:lnTo>
                  <a:pt x="18288000" y="0"/>
                </a:lnTo>
                <a:lnTo>
                  <a:pt x="18288000" y="7908207"/>
                </a:lnTo>
                <a:lnTo>
                  <a:pt x="0" y="7908207"/>
                </a:lnTo>
                <a:lnTo>
                  <a:pt x="0" y="0"/>
                </a:lnTo>
                <a:close/>
              </a:path>
            </a:pathLst>
          </a:custGeom>
          <a:blipFill>
            <a:blip r:embed="rId6"/>
            <a:stretch>
              <a:fillRect t="-2534" b="-1818"/>
            </a:stretch>
          </a:blipFill>
        </p:spPr>
      </p:sp>
      <p:sp>
        <p:nvSpPr>
          <p:cNvPr id="12" name="TextBox 12"/>
          <p:cNvSpPr txBox="1"/>
          <p:nvPr/>
        </p:nvSpPr>
        <p:spPr>
          <a:xfrm>
            <a:off x="8795002" y="413639"/>
            <a:ext cx="8464298"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METHODOLOGY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9072"/>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571500" y="419320"/>
            <a:ext cx="8037452" cy="1816581"/>
            <a:chOff x="0" y="0"/>
            <a:chExt cx="10716603" cy="2422108"/>
          </a:xfrm>
        </p:grpSpPr>
        <p:sp>
          <p:nvSpPr>
            <p:cNvPr id="5" name="Freeform 5"/>
            <p:cNvSpPr/>
            <p:nvPr/>
          </p:nvSpPr>
          <p:spPr>
            <a:xfrm>
              <a:off x="12700" y="15670"/>
              <a:ext cx="10691241" cy="2390814"/>
            </a:xfrm>
            <a:custGeom>
              <a:avLst/>
              <a:gdLst/>
              <a:ahLst/>
              <a:cxnLst/>
              <a:rect l="l" t="t" r="r" b="b"/>
              <a:pathLst>
                <a:path w="10691241" h="2390814">
                  <a:moveTo>
                    <a:pt x="0" y="398495"/>
                  </a:moveTo>
                  <a:cubicBezTo>
                    <a:pt x="0" y="178328"/>
                    <a:pt x="146177" y="0"/>
                    <a:pt x="326390" y="0"/>
                  </a:cubicBezTo>
                  <a:lnTo>
                    <a:pt x="10364851" y="0"/>
                  </a:lnTo>
                  <a:cubicBezTo>
                    <a:pt x="10545064" y="0"/>
                    <a:pt x="10691241" y="178328"/>
                    <a:pt x="10691241" y="398495"/>
                  </a:cubicBezTo>
                  <a:lnTo>
                    <a:pt x="10691241" y="1992319"/>
                  </a:lnTo>
                  <a:cubicBezTo>
                    <a:pt x="10691241" y="2212330"/>
                    <a:pt x="10545064" y="2390814"/>
                    <a:pt x="10364851" y="2390814"/>
                  </a:cubicBezTo>
                  <a:lnTo>
                    <a:pt x="326390" y="2390814"/>
                  </a:lnTo>
                  <a:cubicBezTo>
                    <a:pt x="146177" y="2390814"/>
                    <a:pt x="0" y="2212330"/>
                    <a:pt x="0" y="1992319"/>
                  </a:cubicBezTo>
                  <a:close/>
                </a:path>
              </a:pathLst>
            </a:custGeom>
            <a:solidFill>
              <a:srgbClr val="FFFFFF"/>
            </a:solidFill>
          </p:spPr>
        </p:sp>
        <p:sp>
          <p:nvSpPr>
            <p:cNvPr id="6" name="Freeform 6"/>
            <p:cNvSpPr/>
            <p:nvPr/>
          </p:nvSpPr>
          <p:spPr>
            <a:xfrm>
              <a:off x="0" y="0"/>
              <a:ext cx="10716641" cy="2422146"/>
            </a:xfrm>
            <a:custGeom>
              <a:avLst/>
              <a:gdLst/>
              <a:ahLst/>
              <a:cxnLst/>
              <a:rect l="l" t="t" r="r" b="b"/>
              <a:pathLst>
                <a:path w="10716641" h="2422146">
                  <a:moveTo>
                    <a:pt x="0" y="414165"/>
                  </a:moveTo>
                  <a:cubicBezTo>
                    <a:pt x="0" y="185223"/>
                    <a:pt x="151892" y="0"/>
                    <a:pt x="339090" y="0"/>
                  </a:cubicBezTo>
                  <a:lnTo>
                    <a:pt x="10377551" y="0"/>
                  </a:lnTo>
                  <a:lnTo>
                    <a:pt x="10377551" y="15670"/>
                  </a:lnTo>
                  <a:lnTo>
                    <a:pt x="10377551" y="0"/>
                  </a:lnTo>
                  <a:cubicBezTo>
                    <a:pt x="10564749" y="0"/>
                    <a:pt x="10716641" y="185223"/>
                    <a:pt x="10716641" y="414165"/>
                  </a:cubicBezTo>
                  <a:lnTo>
                    <a:pt x="10703941" y="414165"/>
                  </a:lnTo>
                  <a:lnTo>
                    <a:pt x="10716641" y="414165"/>
                  </a:lnTo>
                  <a:lnTo>
                    <a:pt x="10716641" y="2007989"/>
                  </a:lnTo>
                  <a:lnTo>
                    <a:pt x="10703941" y="2007989"/>
                  </a:lnTo>
                  <a:lnTo>
                    <a:pt x="10716641" y="2007989"/>
                  </a:lnTo>
                  <a:cubicBezTo>
                    <a:pt x="10716641" y="2236932"/>
                    <a:pt x="10564749" y="2422146"/>
                    <a:pt x="10377551" y="2422146"/>
                  </a:cubicBezTo>
                  <a:lnTo>
                    <a:pt x="10377551" y="2406484"/>
                  </a:lnTo>
                  <a:lnTo>
                    <a:pt x="10377551" y="2422146"/>
                  </a:lnTo>
                  <a:lnTo>
                    <a:pt x="339090" y="2422146"/>
                  </a:lnTo>
                  <a:lnTo>
                    <a:pt x="339090" y="2406484"/>
                  </a:lnTo>
                  <a:lnTo>
                    <a:pt x="339090" y="2422146"/>
                  </a:lnTo>
                  <a:cubicBezTo>
                    <a:pt x="151892" y="2422146"/>
                    <a:pt x="0" y="2236775"/>
                    <a:pt x="0" y="2007989"/>
                  </a:cubicBezTo>
                  <a:lnTo>
                    <a:pt x="0" y="414165"/>
                  </a:lnTo>
                  <a:lnTo>
                    <a:pt x="12700" y="414165"/>
                  </a:lnTo>
                  <a:lnTo>
                    <a:pt x="0" y="414165"/>
                  </a:lnTo>
                  <a:moveTo>
                    <a:pt x="25400" y="414165"/>
                  </a:moveTo>
                  <a:lnTo>
                    <a:pt x="25400" y="2007989"/>
                  </a:lnTo>
                  <a:lnTo>
                    <a:pt x="12700" y="2007989"/>
                  </a:lnTo>
                  <a:lnTo>
                    <a:pt x="25400" y="2007989"/>
                  </a:lnTo>
                  <a:cubicBezTo>
                    <a:pt x="25400" y="2219224"/>
                    <a:pt x="165735" y="2390814"/>
                    <a:pt x="339090" y="2390814"/>
                  </a:cubicBezTo>
                  <a:lnTo>
                    <a:pt x="10377551" y="2390814"/>
                  </a:lnTo>
                  <a:cubicBezTo>
                    <a:pt x="10550906" y="2390814"/>
                    <a:pt x="10691241" y="2219224"/>
                    <a:pt x="10691241" y="2007989"/>
                  </a:cubicBezTo>
                  <a:lnTo>
                    <a:pt x="10691241" y="414165"/>
                  </a:lnTo>
                  <a:cubicBezTo>
                    <a:pt x="10691241" y="202930"/>
                    <a:pt x="10550906" y="31341"/>
                    <a:pt x="10377551" y="31341"/>
                  </a:cubicBezTo>
                  <a:lnTo>
                    <a:pt x="339090" y="31341"/>
                  </a:lnTo>
                  <a:lnTo>
                    <a:pt x="339090" y="15670"/>
                  </a:lnTo>
                  <a:lnTo>
                    <a:pt x="339090" y="31341"/>
                  </a:lnTo>
                  <a:cubicBezTo>
                    <a:pt x="165735" y="31341"/>
                    <a:pt x="25400" y="202930"/>
                    <a:pt x="25400" y="414165"/>
                  </a:cubicBezTo>
                  <a:close/>
                </a:path>
              </a:pathLst>
            </a:custGeom>
            <a:solidFill>
              <a:srgbClr val="1F497D"/>
            </a:solidFill>
          </p:spPr>
        </p:sp>
      </p:grpSp>
      <p:grpSp>
        <p:nvGrpSpPr>
          <p:cNvPr id="7" name="Group 7"/>
          <p:cNvGrpSpPr/>
          <p:nvPr/>
        </p:nvGrpSpPr>
        <p:grpSpPr>
          <a:xfrm>
            <a:off x="0" y="823437"/>
            <a:ext cx="7378398" cy="1008345"/>
            <a:chOff x="0" y="0"/>
            <a:chExt cx="9837864" cy="1344460"/>
          </a:xfrm>
        </p:grpSpPr>
        <p:sp>
          <p:nvSpPr>
            <p:cNvPr id="8" name="Freeform 8"/>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4"/>
              <a:stretch>
                <a:fillRect b="-6"/>
              </a:stretch>
            </a:blipFill>
          </p:spPr>
        </p:sp>
      </p:grpSp>
      <p:sp>
        <p:nvSpPr>
          <p:cNvPr id="9" name="Freeform 9"/>
          <p:cNvSpPr/>
          <p:nvPr/>
        </p:nvSpPr>
        <p:spPr>
          <a:xfrm>
            <a:off x="9163050" y="1692062"/>
            <a:ext cx="8539656" cy="3451438"/>
          </a:xfrm>
          <a:custGeom>
            <a:avLst/>
            <a:gdLst/>
            <a:ahLst/>
            <a:cxnLst/>
            <a:rect l="l" t="t" r="r" b="b"/>
            <a:pathLst>
              <a:path w="8539656" h="3451438">
                <a:moveTo>
                  <a:pt x="0" y="0"/>
                </a:moveTo>
                <a:lnTo>
                  <a:pt x="8539656" y="0"/>
                </a:lnTo>
                <a:lnTo>
                  <a:pt x="8539656" y="3451438"/>
                </a:lnTo>
                <a:lnTo>
                  <a:pt x="0" y="3451438"/>
                </a:lnTo>
                <a:lnTo>
                  <a:pt x="0" y="0"/>
                </a:lnTo>
                <a:close/>
              </a:path>
            </a:pathLst>
          </a:custGeom>
          <a:blipFill>
            <a:blip r:embed="rId5"/>
            <a:stretch>
              <a:fillRect l="-107109" t="-2421" b="-79410"/>
            </a:stretch>
          </a:blipFill>
        </p:spPr>
      </p:sp>
      <p:graphicFrame>
        <p:nvGraphicFramePr>
          <p:cNvPr id="10" name="Table 10"/>
          <p:cNvGraphicFramePr>
            <a:graphicFrameLocks noGrp="1"/>
          </p:cNvGraphicFramePr>
          <p:nvPr>
            <p:extLst>
              <p:ext uri="{D42A27DB-BD31-4B8C-83A1-F6EECF244321}">
                <p14:modId xmlns:p14="http://schemas.microsoft.com/office/powerpoint/2010/main" val="563520526"/>
              </p:ext>
            </p:extLst>
          </p:nvPr>
        </p:nvGraphicFramePr>
        <p:xfrm>
          <a:off x="9230837" y="5459098"/>
          <a:ext cx="8755478" cy="4639172"/>
        </p:xfrm>
        <a:graphic>
          <a:graphicData uri="http://schemas.openxmlformats.org/drawingml/2006/table">
            <a:tbl>
              <a:tblPr/>
              <a:tblGrid>
                <a:gridCol w="3342163">
                  <a:extLst>
                    <a:ext uri="{9D8B030D-6E8A-4147-A177-3AD203B41FA5}">
                      <a16:colId xmlns:a16="http://schemas.microsoft.com/office/drawing/2014/main" val="20000"/>
                    </a:ext>
                  </a:extLst>
                </a:gridCol>
                <a:gridCol w="2758919">
                  <a:extLst>
                    <a:ext uri="{9D8B030D-6E8A-4147-A177-3AD203B41FA5}">
                      <a16:colId xmlns:a16="http://schemas.microsoft.com/office/drawing/2014/main" val="20001"/>
                    </a:ext>
                  </a:extLst>
                </a:gridCol>
                <a:gridCol w="2654396">
                  <a:extLst>
                    <a:ext uri="{9D8B030D-6E8A-4147-A177-3AD203B41FA5}">
                      <a16:colId xmlns:a16="http://schemas.microsoft.com/office/drawing/2014/main" val="20002"/>
                    </a:ext>
                  </a:extLst>
                </a:gridCol>
              </a:tblGrid>
              <a:tr h="795542">
                <a:tc>
                  <a:txBody>
                    <a:bodyPr/>
                    <a:lstStyle/>
                    <a:p>
                      <a:pPr algn="ctr">
                        <a:lnSpc>
                          <a:spcPts val="2939"/>
                        </a:lnSpc>
                        <a:defRPr/>
                      </a:pPr>
                      <a:r>
                        <a:rPr lang="en-US" sz="2099" b="1">
                          <a:solidFill>
                            <a:srgbClr val="000000"/>
                          </a:solidFill>
                          <a:latin typeface="Times New Roman Bold"/>
                          <a:ea typeface="Times New Roman Bold"/>
                          <a:cs typeface="Times New Roman Bold"/>
                          <a:sym typeface="Times New Roman Bold"/>
                        </a:rPr>
                        <a:t>DATA SET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659"/>
                        </a:lnSpc>
                        <a:defRPr/>
                      </a:pPr>
                      <a:r>
                        <a:rPr lang="en-US" sz="1899" b="1">
                          <a:solidFill>
                            <a:srgbClr val="000000"/>
                          </a:solidFill>
                          <a:latin typeface="Times New Roman Bold"/>
                          <a:ea typeface="Times New Roman Bold"/>
                          <a:cs typeface="Times New Roman Bold"/>
                          <a:sym typeface="Times New Roman Bold"/>
                        </a:rPr>
                        <a:t>SAMPLES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659"/>
                        </a:lnSpc>
                        <a:defRPr/>
                      </a:pPr>
                      <a:r>
                        <a:rPr lang="en-US" sz="1899" b="1">
                          <a:solidFill>
                            <a:srgbClr val="000000"/>
                          </a:solidFill>
                          <a:latin typeface="Times New Roman Bold"/>
                          <a:ea typeface="Times New Roman Bold"/>
                          <a:cs typeface="Times New Roman Bold"/>
                          <a:sym typeface="Times New Roman Bold"/>
                        </a:rPr>
                        <a:t>VARIABLES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extLst>
                  <a:ext uri="{0D108BD9-81ED-4DB2-BD59-A6C34878D82A}">
                    <a16:rowId xmlns:a16="http://schemas.microsoft.com/office/drawing/2014/main" val="10000"/>
                  </a:ext>
                </a:extLst>
              </a:tr>
              <a:tr h="768726">
                <a:tc>
                  <a:txBody>
                    <a:bodyPr/>
                    <a:lstStyle/>
                    <a:p>
                      <a:pPr algn="ctr">
                        <a:lnSpc>
                          <a:spcPts val="2799"/>
                        </a:lnSpc>
                        <a:defRPr/>
                      </a:pPr>
                      <a:r>
                        <a:rPr lang="en-US" sz="1999">
                          <a:solidFill>
                            <a:srgbClr val="000000"/>
                          </a:solidFill>
                          <a:latin typeface="Times New Roman"/>
                          <a:ea typeface="Times New Roman"/>
                          <a:cs typeface="Times New Roman"/>
                          <a:sym typeface="Times New Roman"/>
                        </a:rPr>
                        <a:t>Clinical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193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dirty="0">
                          <a:solidFill>
                            <a:srgbClr val="000000"/>
                          </a:solidFill>
                          <a:latin typeface="Times New Roman"/>
                          <a:ea typeface="Times New Roman"/>
                          <a:cs typeface="Times New Roman"/>
                          <a:sym typeface="Times New Roman"/>
                        </a:rPr>
                        <a:t>17</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extLst>
                  <a:ext uri="{0D108BD9-81ED-4DB2-BD59-A6C34878D82A}">
                    <a16:rowId xmlns:a16="http://schemas.microsoft.com/office/drawing/2014/main" val="10001"/>
                  </a:ext>
                </a:extLst>
              </a:tr>
              <a:tr h="768726">
                <a:tc>
                  <a:txBody>
                    <a:bodyPr/>
                    <a:lstStyle/>
                    <a:p>
                      <a:pPr algn="ctr">
                        <a:lnSpc>
                          <a:spcPts val="2799"/>
                        </a:lnSpc>
                        <a:defRPr/>
                      </a:pPr>
                      <a:r>
                        <a:rPr lang="en-US" sz="1999">
                          <a:solidFill>
                            <a:srgbClr val="000000"/>
                          </a:solidFill>
                          <a:latin typeface="Times New Roman"/>
                          <a:ea typeface="Times New Roman"/>
                          <a:cs typeface="Times New Roman"/>
                          <a:sym typeface="Times New Roman"/>
                        </a:rPr>
                        <a:t>mRNA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193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20530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extLst>
                  <a:ext uri="{0D108BD9-81ED-4DB2-BD59-A6C34878D82A}">
                    <a16:rowId xmlns:a16="http://schemas.microsoft.com/office/drawing/2014/main" val="10002"/>
                  </a:ext>
                </a:extLst>
              </a:tr>
              <a:tr h="768726">
                <a:tc>
                  <a:txBody>
                    <a:bodyPr/>
                    <a:lstStyle/>
                    <a:p>
                      <a:pPr algn="ctr">
                        <a:lnSpc>
                          <a:spcPts val="2799"/>
                        </a:lnSpc>
                        <a:defRPr/>
                      </a:pPr>
                      <a:r>
                        <a:rPr lang="en-US" sz="1999">
                          <a:solidFill>
                            <a:srgbClr val="000000"/>
                          </a:solidFill>
                          <a:latin typeface="Times New Roman"/>
                          <a:ea typeface="Times New Roman"/>
                          <a:cs typeface="Times New Roman"/>
                          <a:sym typeface="Times New Roman"/>
                        </a:rPr>
                        <a:t>CNV</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193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24776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extLst>
                  <a:ext uri="{0D108BD9-81ED-4DB2-BD59-A6C34878D82A}">
                    <a16:rowId xmlns:a16="http://schemas.microsoft.com/office/drawing/2014/main" val="10003"/>
                  </a:ext>
                </a:extLst>
              </a:tr>
              <a:tr h="768726">
                <a:tc>
                  <a:txBody>
                    <a:bodyPr/>
                    <a:lstStyle/>
                    <a:p>
                      <a:pPr algn="ctr">
                        <a:lnSpc>
                          <a:spcPts val="2799"/>
                        </a:lnSpc>
                        <a:defRPr/>
                      </a:pPr>
                      <a:r>
                        <a:rPr lang="en-US" sz="1999">
                          <a:solidFill>
                            <a:srgbClr val="000000"/>
                          </a:solidFill>
                          <a:latin typeface="Times New Roman"/>
                          <a:ea typeface="Times New Roman"/>
                          <a:cs typeface="Times New Roman"/>
                          <a:sym typeface="Times New Roman"/>
                        </a:rPr>
                        <a:t>Mutation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193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40543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extLst>
                  <a:ext uri="{0D108BD9-81ED-4DB2-BD59-A6C34878D82A}">
                    <a16:rowId xmlns:a16="http://schemas.microsoft.com/office/drawing/2014/main" val="10004"/>
                  </a:ext>
                </a:extLst>
              </a:tr>
              <a:tr h="768726">
                <a:tc>
                  <a:txBody>
                    <a:bodyPr/>
                    <a:lstStyle/>
                    <a:p>
                      <a:pPr algn="ctr">
                        <a:lnSpc>
                          <a:spcPts val="2799"/>
                        </a:lnSpc>
                        <a:defRPr/>
                      </a:pPr>
                      <a:r>
                        <a:rPr lang="en-US" sz="1999">
                          <a:solidFill>
                            <a:srgbClr val="000000"/>
                          </a:solidFill>
                          <a:latin typeface="Times New Roman"/>
                          <a:ea typeface="Times New Roman"/>
                          <a:cs typeface="Times New Roman"/>
                          <a:sym typeface="Times New Roman"/>
                        </a:rPr>
                        <a:t>miRNA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193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tc>
                  <a:txBody>
                    <a:bodyPr/>
                    <a:lstStyle/>
                    <a:p>
                      <a:pPr algn="ctr">
                        <a:lnSpc>
                          <a:spcPts val="2799"/>
                        </a:lnSpc>
                        <a:defRPr/>
                      </a:pPr>
                      <a:r>
                        <a:rPr lang="en-US" sz="1999" dirty="0">
                          <a:solidFill>
                            <a:srgbClr val="000000"/>
                          </a:solidFill>
                          <a:latin typeface="Times New Roman"/>
                          <a:ea typeface="Times New Roman"/>
                          <a:cs typeface="Times New Roman"/>
                          <a:sym typeface="Times New Roman"/>
                        </a:rPr>
                        <a:t>2048</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DAC4C"/>
                    </a:solidFill>
                  </a:tcPr>
                </a:tc>
                <a:extLst>
                  <a:ext uri="{0D108BD9-81ED-4DB2-BD59-A6C34878D82A}">
                    <a16:rowId xmlns:a16="http://schemas.microsoft.com/office/drawing/2014/main" val="10005"/>
                  </a:ext>
                </a:extLst>
              </a:tr>
            </a:tbl>
          </a:graphicData>
        </a:graphic>
      </p:graphicFrame>
      <p:sp>
        <p:nvSpPr>
          <p:cNvPr id="11" name="TextBox 11"/>
          <p:cNvSpPr txBox="1"/>
          <p:nvPr/>
        </p:nvSpPr>
        <p:spPr>
          <a:xfrm>
            <a:off x="7605632" y="400510"/>
            <a:ext cx="10682368"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DATA COLLECTION</a:t>
            </a:r>
          </a:p>
        </p:txBody>
      </p:sp>
      <p:sp>
        <p:nvSpPr>
          <p:cNvPr id="12" name="TextBox 12"/>
          <p:cNvSpPr txBox="1"/>
          <p:nvPr/>
        </p:nvSpPr>
        <p:spPr>
          <a:xfrm>
            <a:off x="230355" y="3238500"/>
            <a:ext cx="8428982" cy="6393180"/>
          </a:xfrm>
          <a:prstGeom prst="rect">
            <a:avLst/>
          </a:prstGeom>
        </p:spPr>
        <p:txBody>
          <a:bodyPr lIns="0" tIns="0" rIns="0" bIns="0" rtlCol="0" anchor="t">
            <a:spAutoFit/>
          </a:bodyPr>
          <a:lstStyle/>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Data collected from TCGA (KIRC dataset)</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Includes clinical and omics data</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Omics data consists of:</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mRNA (gene expression)</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CNV (Copy Number Variation)</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Mutation data</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miRNA data</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Each omics dataset contains a large number of variables</a:t>
            </a:r>
          </a:p>
          <a:p>
            <a:pPr marL="712470" lvl="1" indent="-356235" algn="just">
              <a:lnSpc>
                <a:spcPts val="4620"/>
              </a:lnSpc>
              <a:spcBef>
                <a:spcPct val="0"/>
              </a:spcBef>
              <a:buFont typeface="Arial"/>
              <a:buChar char="•"/>
            </a:pPr>
            <a:r>
              <a:rPr lang="en-US" sz="3300" dirty="0">
                <a:solidFill>
                  <a:srgbClr val="000000"/>
                </a:solidFill>
                <a:latin typeface="Times New Roman"/>
                <a:ea typeface="Times New Roman"/>
                <a:cs typeface="Times New Roman"/>
                <a:sym typeface="Times New Roman"/>
              </a:rPr>
              <a:t>Data merged using common sample IDs</a:t>
            </a:r>
          </a:p>
          <a:p>
            <a:pPr algn="just">
              <a:lnSpc>
                <a:spcPts val="4620"/>
              </a:lnSpc>
              <a:spcBef>
                <a:spcPct val="0"/>
              </a:spcBef>
            </a:pPr>
            <a:endParaRPr lang="en-US" sz="33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6365"/>
            <a:ext cx="18288000" cy="10168967"/>
            <a:chOff x="0" y="0"/>
            <a:chExt cx="24384000" cy="13558623"/>
          </a:xfrm>
        </p:grpSpPr>
        <p:sp>
          <p:nvSpPr>
            <p:cNvPr id="3" name="Freeform 3"/>
            <p:cNvSpPr/>
            <p:nvPr/>
          </p:nvSpPr>
          <p:spPr>
            <a:xfrm>
              <a:off x="0" y="0"/>
              <a:ext cx="24384000" cy="13558622"/>
            </a:xfrm>
            <a:custGeom>
              <a:avLst/>
              <a:gdLst/>
              <a:ahLst/>
              <a:cxnLst/>
              <a:rect l="l" t="t" r="r" b="b"/>
              <a:pathLst>
                <a:path w="24384000" h="13558622">
                  <a:moveTo>
                    <a:pt x="0" y="0"/>
                  </a:moveTo>
                  <a:lnTo>
                    <a:pt x="24384000" y="0"/>
                  </a:lnTo>
                  <a:lnTo>
                    <a:pt x="24384000" y="13558622"/>
                  </a:lnTo>
                  <a:lnTo>
                    <a:pt x="0" y="13558622"/>
                  </a:lnTo>
                  <a:lnTo>
                    <a:pt x="0" y="0"/>
                  </a:lnTo>
                  <a:close/>
                </a:path>
              </a:pathLst>
            </a:custGeom>
            <a:blipFill>
              <a:blip r:embed="rId3"/>
              <a:stretch>
                <a:fillRect t="-580" b="-34300"/>
              </a:stretch>
            </a:blipFill>
          </p:spPr>
        </p:sp>
      </p:grpSp>
      <p:grpSp>
        <p:nvGrpSpPr>
          <p:cNvPr id="7" name="Group 7"/>
          <p:cNvGrpSpPr/>
          <p:nvPr/>
        </p:nvGrpSpPr>
        <p:grpSpPr>
          <a:xfrm>
            <a:off x="0" y="950027"/>
            <a:ext cx="7378398" cy="1221673"/>
            <a:chOff x="0" y="0"/>
            <a:chExt cx="9837864" cy="1344460"/>
          </a:xfrm>
        </p:grpSpPr>
        <p:sp>
          <p:nvSpPr>
            <p:cNvPr id="8" name="Freeform 8"/>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4"/>
              <a:stretch>
                <a:fillRect b="-6"/>
              </a:stretch>
            </a:blipFill>
          </p:spPr>
        </p:sp>
      </p:grpSp>
      <p:sp>
        <p:nvSpPr>
          <p:cNvPr id="9" name="Freeform 9"/>
          <p:cNvSpPr/>
          <p:nvPr/>
        </p:nvSpPr>
        <p:spPr>
          <a:xfrm>
            <a:off x="9144000" y="2581214"/>
            <a:ext cx="9453590" cy="7220179"/>
          </a:xfrm>
          <a:custGeom>
            <a:avLst/>
            <a:gdLst/>
            <a:ahLst/>
            <a:cxnLst/>
            <a:rect l="l" t="t" r="r" b="b"/>
            <a:pathLst>
              <a:path w="9453590" h="7220179">
                <a:moveTo>
                  <a:pt x="0" y="0"/>
                </a:moveTo>
                <a:lnTo>
                  <a:pt x="9453590" y="0"/>
                </a:lnTo>
                <a:lnTo>
                  <a:pt x="9453590" y="7220179"/>
                </a:lnTo>
                <a:lnTo>
                  <a:pt x="0" y="7220179"/>
                </a:lnTo>
                <a:lnTo>
                  <a:pt x="0" y="0"/>
                </a:lnTo>
                <a:close/>
              </a:path>
            </a:pathLst>
          </a:custGeom>
          <a:blipFill>
            <a:blip r:embed="rId5"/>
            <a:stretch>
              <a:fillRect/>
            </a:stretch>
          </a:blipFill>
        </p:spPr>
      </p:sp>
      <p:sp>
        <p:nvSpPr>
          <p:cNvPr id="10" name="TextBox 10"/>
          <p:cNvSpPr txBox="1"/>
          <p:nvPr/>
        </p:nvSpPr>
        <p:spPr>
          <a:xfrm>
            <a:off x="8818185" y="614840"/>
            <a:ext cx="8950104"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DATA PREPROCESSSING</a:t>
            </a:r>
          </a:p>
        </p:txBody>
      </p:sp>
      <p:sp>
        <p:nvSpPr>
          <p:cNvPr id="11" name="TextBox 11"/>
          <p:cNvSpPr txBox="1"/>
          <p:nvPr/>
        </p:nvSpPr>
        <p:spPr>
          <a:xfrm>
            <a:off x="301904" y="2689695"/>
            <a:ext cx="9000560" cy="6803365"/>
          </a:xfrm>
          <a:prstGeom prst="rect">
            <a:avLst/>
          </a:prstGeom>
        </p:spPr>
        <p:txBody>
          <a:bodyPr lIns="0" tIns="0" rIns="0" bIns="0" rtlCol="0" anchor="t">
            <a:spAutoFit/>
          </a:bodyPr>
          <a:lstStyle/>
          <a:p>
            <a:pPr marL="695621" lvl="1" indent="-347810" algn="l">
              <a:lnSpc>
                <a:spcPts val="4510"/>
              </a:lnSpc>
              <a:spcBef>
                <a:spcPct val="0"/>
              </a:spcBef>
              <a:buFont typeface="Arial"/>
              <a:buChar char="•"/>
            </a:pPr>
            <a:r>
              <a:rPr lang="en-US" sz="3221">
                <a:solidFill>
                  <a:srgbClr val="000000"/>
                </a:solidFill>
                <a:latin typeface="Times New Roman"/>
                <a:ea typeface="Times New Roman"/>
                <a:cs typeface="Times New Roman"/>
                <a:sym typeface="Times New Roman"/>
              </a:rPr>
              <a:t>Loading multiple datasets: clinical, mRNA, CNV, mutation, miRNA. </a:t>
            </a:r>
          </a:p>
          <a:p>
            <a:pPr marL="695621" lvl="1" indent="-347810" algn="l">
              <a:lnSpc>
                <a:spcPts val="4510"/>
              </a:lnSpc>
              <a:buFont typeface="Arial"/>
              <a:buChar char="•"/>
            </a:pPr>
            <a:r>
              <a:rPr lang="en-US" sz="3221">
                <a:solidFill>
                  <a:srgbClr val="000000"/>
                </a:solidFill>
                <a:latin typeface="Times New Roman"/>
                <a:ea typeface="Times New Roman"/>
                <a:cs typeface="Times New Roman"/>
                <a:sym typeface="Times New Roman"/>
              </a:rPr>
              <a:t>Processing clinical variables: -  </a:t>
            </a:r>
          </a:p>
          <a:p>
            <a:pPr algn="l">
              <a:lnSpc>
                <a:spcPts val="4510"/>
              </a:lnSpc>
            </a:pPr>
            <a:r>
              <a:rPr lang="en-US" sz="3221">
                <a:solidFill>
                  <a:srgbClr val="000000"/>
                </a:solidFill>
                <a:latin typeface="Times New Roman"/>
                <a:ea typeface="Times New Roman"/>
                <a:cs typeface="Times New Roman"/>
                <a:sym typeface="Times New Roman"/>
              </a:rPr>
              <a:t>              - Gender encoded as binary. </a:t>
            </a:r>
          </a:p>
          <a:p>
            <a:pPr algn="l">
              <a:lnSpc>
                <a:spcPts val="4510"/>
              </a:lnSpc>
            </a:pPr>
            <a:r>
              <a:rPr lang="en-US" sz="3221">
                <a:solidFill>
                  <a:srgbClr val="000000"/>
                </a:solidFill>
                <a:latin typeface="Times New Roman"/>
                <a:ea typeface="Times New Roman"/>
                <a:cs typeface="Times New Roman"/>
                <a:sym typeface="Times New Roman"/>
              </a:rPr>
              <a:t>              - Tumor stage converted to numeric levels. </a:t>
            </a:r>
          </a:p>
          <a:p>
            <a:pPr algn="l">
              <a:lnSpc>
                <a:spcPts val="4510"/>
              </a:lnSpc>
            </a:pPr>
            <a:r>
              <a:rPr lang="en-US" sz="3221">
                <a:solidFill>
                  <a:srgbClr val="000000"/>
                </a:solidFill>
                <a:latin typeface="Times New Roman"/>
                <a:ea typeface="Times New Roman"/>
                <a:cs typeface="Times New Roman"/>
                <a:sym typeface="Times New Roman"/>
              </a:rPr>
              <a:t>              - Removal of missing values using complete                        </a:t>
            </a:r>
          </a:p>
          <a:p>
            <a:pPr algn="l">
              <a:lnSpc>
                <a:spcPts val="4510"/>
              </a:lnSpc>
            </a:pPr>
            <a:r>
              <a:rPr lang="en-US" sz="3221">
                <a:solidFill>
                  <a:srgbClr val="000000"/>
                </a:solidFill>
                <a:latin typeface="Times New Roman"/>
                <a:ea typeface="Times New Roman"/>
                <a:cs typeface="Times New Roman"/>
                <a:sym typeface="Times New Roman"/>
              </a:rPr>
              <a:t>                case filtering.</a:t>
            </a:r>
          </a:p>
          <a:p>
            <a:pPr marL="695621" lvl="1" indent="-347810" algn="l">
              <a:lnSpc>
                <a:spcPts val="4510"/>
              </a:lnSpc>
              <a:buFont typeface="Arial"/>
              <a:buChar char="•"/>
            </a:pPr>
            <a:r>
              <a:rPr lang="en-US" sz="3221">
                <a:solidFill>
                  <a:srgbClr val="000000"/>
                </a:solidFill>
                <a:latin typeface="Times New Roman"/>
                <a:ea typeface="Times New Roman"/>
                <a:cs typeface="Times New Roman"/>
                <a:sym typeface="Times New Roman"/>
              </a:rPr>
              <a:t> Replacement of remaining missing values with 0.  </a:t>
            </a:r>
          </a:p>
          <a:p>
            <a:pPr marL="695621" lvl="1" indent="-347810" algn="l">
              <a:lnSpc>
                <a:spcPts val="4510"/>
              </a:lnSpc>
              <a:buFont typeface="Arial"/>
              <a:buChar char="•"/>
            </a:pPr>
            <a:r>
              <a:rPr lang="en-US" sz="3221">
                <a:solidFill>
                  <a:srgbClr val="000000"/>
                </a:solidFill>
                <a:latin typeface="Times New Roman"/>
                <a:ea typeface="Times New Roman"/>
                <a:cs typeface="Times New Roman"/>
                <a:sym typeface="Times New Roman"/>
              </a:rPr>
              <a:t>Removal of invalid observations (for example, OS.time ≤ 0). </a:t>
            </a:r>
          </a:p>
          <a:p>
            <a:pPr marL="695621" lvl="1" indent="-347810" algn="l">
              <a:lnSpc>
                <a:spcPts val="4510"/>
              </a:lnSpc>
              <a:spcBef>
                <a:spcPct val="0"/>
              </a:spcBef>
              <a:buFont typeface="Arial"/>
              <a:buChar char="•"/>
            </a:pPr>
            <a:r>
              <a:rPr lang="en-US" sz="3221">
                <a:solidFill>
                  <a:srgbClr val="000000"/>
                </a:solidFill>
                <a:latin typeface="Times New Roman"/>
                <a:ea typeface="Times New Roman"/>
                <a:cs typeface="Times New Roman"/>
                <a:sym typeface="Times New Roman"/>
              </a:rPr>
              <a:t>Merging all datasets using common sample ID (inner join)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702073"/>
            <a:ext cx="7378398" cy="1164827"/>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Freeform 11"/>
          <p:cNvSpPr/>
          <p:nvPr/>
        </p:nvSpPr>
        <p:spPr>
          <a:xfrm>
            <a:off x="376628" y="2291506"/>
            <a:ext cx="17346693" cy="7761050"/>
          </a:xfrm>
          <a:custGeom>
            <a:avLst/>
            <a:gdLst/>
            <a:ahLst/>
            <a:cxnLst/>
            <a:rect l="l" t="t" r="r" b="b"/>
            <a:pathLst>
              <a:path w="17346693" h="7761050">
                <a:moveTo>
                  <a:pt x="0" y="0"/>
                </a:moveTo>
                <a:lnTo>
                  <a:pt x="17346692" y="0"/>
                </a:lnTo>
                <a:lnTo>
                  <a:pt x="17346692" y="7761050"/>
                </a:lnTo>
                <a:lnTo>
                  <a:pt x="0" y="7761050"/>
                </a:lnTo>
                <a:lnTo>
                  <a:pt x="0" y="0"/>
                </a:lnTo>
                <a:close/>
              </a:path>
            </a:pathLst>
          </a:custGeom>
          <a:blipFill>
            <a:blip r:embed="rId6"/>
            <a:stretch>
              <a:fillRect l="-270" r="-270"/>
            </a:stretch>
          </a:blipFill>
        </p:spPr>
      </p:sp>
      <p:sp>
        <p:nvSpPr>
          <p:cNvPr id="12" name="TextBox 12"/>
          <p:cNvSpPr txBox="1"/>
          <p:nvPr/>
        </p:nvSpPr>
        <p:spPr>
          <a:xfrm>
            <a:off x="8546575" y="404114"/>
            <a:ext cx="9176745" cy="974725"/>
          </a:xfrm>
          <a:prstGeom prst="rect">
            <a:avLst/>
          </a:prstGeom>
        </p:spPr>
        <p:txBody>
          <a:bodyPr lIns="0" tIns="0" rIns="0" bIns="0" rtlCol="0" anchor="t">
            <a:spAutoFit/>
          </a:bodyPr>
          <a:lstStyle/>
          <a:p>
            <a:pPr algn="ctr">
              <a:lnSpc>
                <a:spcPts val="7699"/>
              </a:lnSpc>
              <a:spcBef>
                <a:spcPct val="0"/>
              </a:spcBef>
            </a:pPr>
            <a:r>
              <a:rPr lang="en-US" sz="5499" b="1">
                <a:solidFill>
                  <a:srgbClr val="FFFFFF"/>
                </a:solidFill>
                <a:latin typeface="Times New Roman Bold"/>
                <a:ea typeface="Times New Roman Bold"/>
                <a:cs typeface="Times New Roman Bold"/>
                <a:sym typeface="Times New Roman Bold"/>
              </a:rPr>
              <a:t>DATASET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6365"/>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7" name="Group 7"/>
          <p:cNvGrpSpPr/>
          <p:nvPr/>
        </p:nvGrpSpPr>
        <p:grpSpPr>
          <a:xfrm>
            <a:off x="0" y="981947"/>
            <a:ext cx="7378398" cy="1243734"/>
            <a:chOff x="0" y="0"/>
            <a:chExt cx="9837864" cy="1344460"/>
          </a:xfrm>
        </p:grpSpPr>
        <p:sp>
          <p:nvSpPr>
            <p:cNvPr id="8" name="Freeform 8"/>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4"/>
              <a:stretch>
                <a:fillRect b="-6"/>
              </a:stretch>
            </a:blipFill>
          </p:spPr>
        </p:sp>
      </p:grpSp>
      <p:sp>
        <p:nvSpPr>
          <p:cNvPr id="9" name="TextBox 9"/>
          <p:cNvSpPr txBox="1"/>
          <p:nvPr/>
        </p:nvSpPr>
        <p:spPr>
          <a:xfrm>
            <a:off x="7947679" y="629089"/>
            <a:ext cx="10105946"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DATA INTEGRATION</a:t>
            </a:r>
          </a:p>
        </p:txBody>
      </p:sp>
      <p:sp>
        <p:nvSpPr>
          <p:cNvPr id="10" name="TextBox 10"/>
          <p:cNvSpPr txBox="1"/>
          <p:nvPr/>
        </p:nvSpPr>
        <p:spPr>
          <a:xfrm>
            <a:off x="9139238" y="4943792"/>
            <a:ext cx="9525" cy="342265"/>
          </a:xfrm>
          <a:prstGeom prst="rect">
            <a:avLst/>
          </a:prstGeom>
        </p:spPr>
        <p:txBody>
          <a:bodyPr lIns="0" tIns="0" rIns="0" bIns="0" rtlCol="0" anchor="t">
            <a:spAutoFit/>
          </a:bodyPr>
          <a:lstStyle/>
          <a:p>
            <a:pPr algn="ctr">
              <a:lnSpc>
                <a:spcPts val="2659"/>
              </a:lnSpc>
              <a:spcBef>
                <a:spcPct val="0"/>
              </a:spcBef>
            </a:pPr>
            <a:endParaRPr/>
          </a:p>
        </p:txBody>
      </p:sp>
      <p:sp>
        <p:nvSpPr>
          <p:cNvPr id="11" name="TextBox 11"/>
          <p:cNvSpPr txBox="1"/>
          <p:nvPr/>
        </p:nvSpPr>
        <p:spPr>
          <a:xfrm>
            <a:off x="502641" y="3005735"/>
            <a:ext cx="16196280" cy="6723768"/>
          </a:xfrm>
          <a:prstGeom prst="rect">
            <a:avLst/>
          </a:prstGeom>
        </p:spPr>
        <p:txBody>
          <a:bodyPr lIns="0" tIns="0" rIns="0" bIns="0" rtlCol="0" anchor="t">
            <a:spAutoFit/>
          </a:bodyPr>
          <a:lstStyle/>
          <a:p>
            <a:pPr marL="743718" lvl="1" indent="-371859" algn="just">
              <a:lnSpc>
                <a:spcPts val="4822"/>
              </a:lnSpc>
              <a:buFont typeface="Arial"/>
              <a:buChar char="•"/>
            </a:pPr>
            <a:r>
              <a:rPr lang="en-US" sz="3444">
                <a:solidFill>
                  <a:srgbClr val="000000"/>
                </a:solidFill>
                <a:latin typeface="Times New Roman"/>
                <a:ea typeface="Times New Roman"/>
                <a:cs typeface="Times New Roman"/>
                <a:sym typeface="Times New Roman"/>
              </a:rPr>
              <a:t>Data integration is the process of combining data from different sources into one unified dataset. </a:t>
            </a:r>
          </a:p>
          <a:p>
            <a:pPr marL="743718" lvl="1" indent="-371859" algn="just">
              <a:lnSpc>
                <a:spcPts val="4822"/>
              </a:lnSpc>
              <a:buFont typeface="Arial"/>
              <a:buChar char="•"/>
            </a:pPr>
            <a:r>
              <a:rPr lang="en-US" sz="3444">
                <a:solidFill>
                  <a:srgbClr val="000000"/>
                </a:solidFill>
                <a:latin typeface="Times New Roman"/>
                <a:ea typeface="Times New Roman"/>
                <a:cs typeface="Times New Roman"/>
                <a:sym typeface="Times New Roman"/>
              </a:rPr>
              <a:t>In multi-source studies, data may come from various domains like clinical, genomic, and other biological layers. </a:t>
            </a:r>
          </a:p>
          <a:p>
            <a:pPr marL="743718" lvl="1" indent="-371859" algn="just">
              <a:lnSpc>
                <a:spcPts val="4822"/>
              </a:lnSpc>
              <a:buFont typeface="Arial"/>
              <a:buChar char="•"/>
            </a:pPr>
            <a:r>
              <a:rPr lang="en-US" sz="3444">
                <a:solidFill>
                  <a:srgbClr val="000000"/>
                </a:solidFill>
                <a:latin typeface="Times New Roman"/>
                <a:ea typeface="Times New Roman"/>
                <a:cs typeface="Times New Roman"/>
                <a:sym typeface="Times New Roman"/>
              </a:rPr>
              <a:t>A common identifier, such as a patient or sample ID, is used to link data across sources. </a:t>
            </a:r>
          </a:p>
          <a:p>
            <a:pPr marL="743718" lvl="1" indent="-371859" algn="just">
              <a:lnSpc>
                <a:spcPts val="4822"/>
              </a:lnSpc>
              <a:buFont typeface="Arial"/>
              <a:buChar char="•"/>
            </a:pPr>
            <a:r>
              <a:rPr lang="en-US" sz="3444">
                <a:solidFill>
                  <a:srgbClr val="000000"/>
                </a:solidFill>
                <a:latin typeface="Times New Roman"/>
                <a:ea typeface="Times New Roman"/>
                <a:cs typeface="Times New Roman"/>
                <a:sym typeface="Times New Roman"/>
              </a:rPr>
              <a:t>This ensures that all information refers to the same entity and improves data consistency. </a:t>
            </a:r>
          </a:p>
          <a:p>
            <a:pPr marL="743718" lvl="1" indent="-371859" algn="just">
              <a:lnSpc>
                <a:spcPts val="4822"/>
              </a:lnSpc>
              <a:buFont typeface="Arial"/>
              <a:buChar char="•"/>
            </a:pPr>
            <a:r>
              <a:rPr lang="en-US" sz="3444">
                <a:solidFill>
                  <a:srgbClr val="000000"/>
                </a:solidFill>
                <a:latin typeface="Times New Roman"/>
                <a:ea typeface="Times New Roman"/>
                <a:cs typeface="Times New Roman"/>
                <a:sym typeface="Times New Roman"/>
              </a:rPr>
              <a:t>During integration, issues like missing values and inconsistencies are identified and addressed. </a:t>
            </a:r>
          </a:p>
          <a:p>
            <a:pPr marL="743718" lvl="1" indent="-371859" algn="just">
              <a:lnSpc>
                <a:spcPts val="4822"/>
              </a:lnSpc>
              <a:buFont typeface="Arial"/>
              <a:buChar char="•"/>
            </a:pPr>
            <a:r>
              <a:rPr lang="en-US" sz="3444">
                <a:solidFill>
                  <a:srgbClr val="000000"/>
                </a:solidFill>
                <a:latin typeface="Times New Roman"/>
                <a:ea typeface="Times New Roman"/>
                <a:cs typeface="Times New Roman"/>
                <a:sym typeface="Times New Roman"/>
              </a:rPr>
              <a:t>The integrated dataset offers a complete view by capturing information from multiple perspectives. This unified data is then used for further analysis and model building.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6365"/>
            <a:ext cx="18883400" cy="10287000"/>
            <a:chOff x="0" y="0"/>
            <a:chExt cx="25177867" cy="13716000"/>
          </a:xfrm>
        </p:grpSpPr>
        <p:sp>
          <p:nvSpPr>
            <p:cNvPr id="3" name="Freeform 3"/>
            <p:cNvSpPr/>
            <p:nvPr/>
          </p:nvSpPr>
          <p:spPr>
            <a:xfrm>
              <a:off x="0" y="0"/>
              <a:ext cx="25177866" cy="13716000"/>
            </a:xfrm>
            <a:custGeom>
              <a:avLst/>
              <a:gdLst/>
              <a:ahLst/>
              <a:cxnLst/>
              <a:rect l="l" t="t" r="r" b="b"/>
              <a:pathLst>
                <a:path w="25177866" h="13716000">
                  <a:moveTo>
                    <a:pt x="0" y="0"/>
                  </a:moveTo>
                  <a:lnTo>
                    <a:pt x="25177866" y="0"/>
                  </a:lnTo>
                  <a:lnTo>
                    <a:pt x="25177866" y="13716000"/>
                  </a:lnTo>
                  <a:lnTo>
                    <a:pt x="0" y="13716000"/>
                  </a:lnTo>
                  <a:lnTo>
                    <a:pt x="0" y="0"/>
                  </a:lnTo>
                  <a:close/>
                </a:path>
              </a:pathLst>
            </a:custGeom>
            <a:blipFill>
              <a:blip r:embed="rId3"/>
              <a:stretch>
                <a:fillRect t="-1627" b="-36046"/>
              </a:stretch>
            </a:blipFill>
          </p:spPr>
        </p:sp>
      </p:grpSp>
      <p:grpSp>
        <p:nvGrpSpPr>
          <p:cNvPr id="7" name="Group 7"/>
          <p:cNvGrpSpPr/>
          <p:nvPr/>
        </p:nvGrpSpPr>
        <p:grpSpPr>
          <a:xfrm>
            <a:off x="24581" y="853010"/>
            <a:ext cx="7378398" cy="1166610"/>
            <a:chOff x="0" y="0"/>
            <a:chExt cx="9837864" cy="1344460"/>
          </a:xfrm>
        </p:grpSpPr>
        <p:sp>
          <p:nvSpPr>
            <p:cNvPr id="8" name="Freeform 8"/>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4"/>
              <a:stretch>
                <a:fillRect b="-6"/>
              </a:stretch>
            </a:blipFill>
          </p:spPr>
        </p:sp>
      </p:grpSp>
      <p:sp>
        <p:nvSpPr>
          <p:cNvPr id="9" name="TextBox 9"/>
          <p:cNvSpPr txBox="1"/>
          <p:nvPr/>
        </p:nvSpPr>
        <p:spPr>
          <a:xfrm>
            <a:off x="0" y="2957253"/>
            <a:ext cx="16188022" cy="3554180"/>
          </a:xfrm>
          <a:prstGeom prst="rect">
            <a:avLst/>
          </a:prstGeom>
        </p:spPr>
        <p:txBody>
          <a:bodyPr lIns="0" tIns="0" rIns="0" bIns="0" rtlCol="0" anchor="t">
            <a:spAutoFit/>
          </a:bodyPr>
          <a:lstStyle/>
          <a:p>
            <a:pPr marL="865963" lvl="1" indent="-432981" algn="l">
              <a:lnSpc>
                <a:spcPts val="5615"/>
              </a:lnSpc>
              <a:buFont typeface="Arial"/>
              <a:buChar char="•"/>
            </a:pPr>
            <a:r>
              <a:rPr lang="en-US" sz="4010">
                <a:solidFill>
                  <a:srgbClr val="000000"/>
                </a:solidFill>
                <a:latin typeface="Times New Roman"/>
                <a:ea typeface="Times New Roman"/>
                <a:cs typeface="Times New Roman"/>
                <a:sym typeface="Times New Roman"/>
              </a:rPr>
              <a:t>Feature grouping organizes variables into meaningful groups based on their source or characteristics</a:t>
            </a:r>
          </a:p>
          <a:p>
            <a:pPr marL="865963" lvl="1" indent="-432981" algn="l">
              <a:lnSpc>
                <a:spcPts val="5615"/>
              </a:lnSpc>
              <a:buFont typeface="Arial"/>
              <a:buChar char="•"/>
            </a:pPr>
            <a:r>
              <a:rPr lang="en-US" sz="4010">
                <a:solidFill>
                  <a:srgbClr val="000000"/>
                </a:solidFill>
                <a:latin typeface="Times New Roman"/>
                <a:ea typeface="Times New Roman"/>
                <a:cs typeface="Times New Roman"/>
                <a:sym typeface="Times New Roman"/>
              </a:rPr>
              <a:t>In multi-omics data, features are grouped into clinical and different omics types (mRNA, CNV, mutation, miRNA)</a:t>
            </a:r>
          </a:p>
          <a:p>
            <a:pPr marL="865963" lvl="1" indent="-432981" algn="l">
              <a:lnSpc>
                <a:spcPts val="5615"/>
              </a:lnSpc>
              <a:buFont typeface="Arial"/>
              <a:buChar char="•"/>
            </a:pPr>
            <a:r>
              <a:rPr lang="en-US" sz="4010">
                <a:solidFill>
                  <a:srgbClr val="000000"/>
                </a:solidFill>
                <a:latin typeface="Times New Roman"/>
                <a:ea typeface="Times New Roman"/>
                <a:cs typeface="Times New Roman"/>
                <a:sym typeface="Times New Roman"/>
              </a:rPr>
              <a:t>It helps capture relationships and structure within the data</a:t>
            </a:r>
          </a:p>
        </p:txBody>
      </p:sp>
      <p:grpSp>
        <p:nvGrpSpPr>
          <p:cNvPr id="10" name="Group 10"/>
          <p:cNvGrpSpPr/>
          <p:nvPr/>
        </p:nvGrpSpPr>
        <p:grpSpPr>
          <a:xfrm>
            <a:off x="11777887" y="6742234"/>
            <a:ext cx="6067887" cy="2950574"/>
            <a:chOff x="0" y="0"/>
            <a:chExt cx="1598126" cy="777106"/>
          </a:xfrm>
        </p:grpSpPr>
        <p:sp>
          <p:nvSpPr>
            <p:cNvPr id="11" name="Freeform 11"/>
            <p:cNvSpPr/>
            <p:nvPr/>
          </p:nvSpPr>
          <p:spPr>
            <a:xfrm>
              <a:off x="0" y="0"/>
              <a:ext cx="1598126" cy="777106"/>
            </a:xfrm>
            <a:custGeom>
              <a:avLst/>
              <a:gdLst/>
              <a:ahLst/>
              <a:cxnLst/>
              <a:rect l="l" t="t" r="r" b="b"/>
              <a:pathLst>
                <a:path w="1598126" h="777106">
                  <a:moveTo>
                    <a:pt x="65070" y="0"/>
                  </a:moveTo>
                  <a:lnTo>
                    <a:pt x="1533056" y="0"/>
                  </a:lnTo>
                  <a:cubicBezTo>
                    <a:pt x="1550314" y="0"/>
                    <a:pt x="1566865" y="6856"/>
                    <a:pt x="1579068" y="19059"/>
                  </a:cubicBezTo>
                  <a:cubicBezTo>
                    <a:pt x="1591271" y="31262"/>
                    <a:pt x="1598126" y="47812"/>
                    <a:pt x="1598126" y="65070"/>
                  </a:cubicBezTo>
                  <a:lnTo>
                    <a:pt x="1598126" y="712036"/>
                  </a:lnTo>
                  <a:cubicBezTo>
                    <a:pt x="1598126" y="747973"/>
                    <a:pt x="1568994" y="777106"/>
                    <a:pt x="1533056" y="777106"/>
                  </a:cubicBezTo>
                  <a:lnTo>
                    <a:pt x="65070" y="777106"/>
                  </a:lnTo>
                  <a:cubicBezTo>
                    <a:pt x="47812" y="777106"/>
                    <a:pt x="31262" y="770250"/>
                    <a:pt x="19059" y="758047"/>
                  </a:cubicBezTo>
                  <a:cubicBezTo>
                    <a:pt x="6856" y="745844"/>
                    <a:pt x="0" y="729293"/>
                    <a:pt x="0" y="712036"/>
                  </a:cubicBezTo>
                  <a:lnTo>
                    <a:pt x="0" y="65070"/>
                  </a:lnTo>
                  <a:cubicBezTo>
                    <a:pt x="0" y="29133"/>
                    <a:pt x="29133" y="0"/>
                    <a:pt x="65070" y="0"/>
                  </a:cubicBezTo>
                  <a:close/>
                </a:path>
              </a:pathLst>
            </a:custGeom>
            <a:solidFill>
              <a:srgbClr val="FF914D"/>
            </a:solidFill>
          </p:spPr>
        </p:sp>
        <p:sp>
          <p:nvSpPr>
            <p:cNvPr id="12" name="TextBox 12"/>
            <p:cNvSpPr txBox="1"/>
            <p:nvPr/>
          </p:nvSpPr>
          <p:spPr>
            <a:xfrm>
              <a:off x="0" y="-57150"/>
              <a:ext cx="1598126" cy="834256"/>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0184477" y="7852211"/>
            <a:ext cx="5576072" cy="582931"/>
          </a:xfrm>
          <a:prstGeom prst="rect">
            <a:avLst/>
          </a:prstGeom>
        </p:spPr>
        <p:txBody>
          <a:bodyPr lIns="0" tIns="0" rIns="0" bIns="0" rtlCol="0" anchor="t">
            <a:spAutoFit/>
          </a:bodyPr>
          <a:lstStyle/>
          <a:p>
            <a:pPr algn="ctr">
              <a:lnSpc>
                <a:spcPts val="4619"/>
              </a:lnSpc>
              <a:spcBef>
                <a:spcPct val="0"/>
              </a:spcBef>
            </a:pPr>
            <a:r>
              <a:rPr lang="en-US" sz="3299">
                <a:solidFill>
                  <a:srgbClr val="000000"/>
                </a:solidFill>
                <a:latin typeface="Times New Roman"/>
                <a:ea typeface="Times New Roman"/>
                <a:cs typeface="Times New Roman"/>
                <a:sym typeface="Times New Roman"/>
              </a:rPr>
              <a:t>Features</a:t>
            </a:r>
          </a:p>
        </p:txBody>
      </p:sp>
      <p:sp>
        <p:nvSpPr>
          <p:cNvPr id="14" name="TextBox 14"/>
          <p:cNvSpPr txBox="1"/>
          <p:nvPr/>
        </p:nvSpPr>
        <p:spPr>
          <a:xfrm>
            <a:off x="7971387" y="365660"/>
            <a:ext cx="8469789" cy="974700"/>
          </a:xfrm>
          <a:prstGeom prst="rect">
            <a:avLst/>
          </a:prstGeom>
        </p:spPr>
        <p:txBody>
          <a:bodyPr lIns="0" tIns="0" rIns="0" bIns="0" rtlCol="0" anchor="t">
            <a:spAutoFit/>
          </a:bodyPr>
          <a:lstStyle/>
          <a:p>
            <a:pPr algn="ctr">
              <a:lnSpc>
                <a:spcPts val="7701"/>
              </a:lnSpc>
            </a:pPr>
            <a:r>
              <a:rPr lang="en-US" sz="5500" b="1">
                <a:solidFill>
                  <a:srgbClr val="FFFFFF"/>
                </a:solidFill>
                <a:latin typeface="Times New Roman Bold"/>
                <a:ea typeface="Times New Roman Bold"/>
                <a:cs typeface="Times New Roman Bold"/>
                <a:sym typeface="Times New Roman Bold"/>
              </a:rPr>
              <a:t>FEATURE GROUPING</a:t>
            </a:r>
          </a:p>
        </p:txBody>
      </p:sp>
      <p:sp>
        <p:nvSpPr>
          <p:cNvPr id="15" name="AutoShape 15"/>
          <p:cNvSpPr/>
          <p:nvPr/>
        </p:nvSpPr>
        <p:spPr>
          <a:xfrm flipH="1">
            <a:off x="13772953" y="7465559"/>
            <a:ext cx="874458" cy="720980"/>
          </a:xfrm>
          <a:prstGeom prst="line">
            <a:avLst/>
          </a:prstGeom>
          <a:ln w="38100" cap="flat">
            <a:solidFill>
              <a:srgbClr val="000000"/>
            </a:solidFill>
            <a:prstDash val="solid"/>
            <a:headEnd type="none" w="sm" len="sm"/>
            <a:tailEnd type="none" w="sm" len="sm"/>
          </a:ln>
        </p:spPr>
      </p:sp>
      <p:sp>
        <p:nvSpPr>
          <p:cNvPr id="16" name="AutoShape 16"/>
          <p:cNvSpPr/>
          <p:nvPr/>
        </p:nvSpPr>
        <p:spPr>
          <a:xfrm>
            <a:off x="13772953" y="8205589"/>
            <a:ext cx="879558" cy="770910"/>
          </a:xfrm>
          <a:prstGeom prst="line">
            <a:avLst/>
          </a:prstGeom>
          <a:ln w="38100" cap="flat">
            <a:solidFill>
              <a:srgbClr val="000000"/>
            </a:solidFill>
            <a:prstDash val="solid"/>
            <a:headEnd type="none" w="sm" len="sm"/>
            <a:tailEnd type="none" w="sm" len="sm"/>
          </a:ln>
        </p:spPr>
      </p:sp>
      <p:sp>
        <p:nvSpPr>
          <p:cNvPr id="17" name="TextBox 17"/>
          <p:cNvSpPr txBox="1"/>
          <p:nvPr/>
        </p:nvSpPr>
        <p:spPr>
          <a:xfrm>
            <a:off x="13618094" y="7081491"/>
            <a:ext cx="3975192" cy="2176809"/>
          </a:xfrm>
          <a:prstGeom prst="rect">
            <a:avLst/>
          </a:prstGeom>
        </p:spPr>
        <p:txBody>
          <a:bodyPr lIns="0" tIns="0" rIns="0" bIns="0" rtlCol="0" anchor="t">
            <a:spAutoFit/>
          </a:bodyPr>
          <a:lstStyle/>
          <a:p>
            <a:pPr algn="ctr">
              <a:lnSpc>
                <a:spcPts val="3393"/>
              </a:lnSpc>
            </a:pPr>
            <a:r>
              <a:rPr lang="en-US" sz="2423">
                <a:solidFill>
                  <a:srgbClr val="000000"/>
                </a:solidFill>
                <a:latin typeface="Times New Roman MT"/>
                <a:ea typeface="Times New Roman MT"/>
                <a:cs typeface="Times New Roman MT"/>
                <a:sym typeface="Times New Roman MT"/>
              </a:rPr>
              <a:t>Clinical</a:t>
            </a:r>
          </a:p>
          <a:p>
            <a:pPr algn="ctr">
              <a:lnSpc>
                <a:spcPts val="3393"/>
              </a:lnSpc>
            </a:pPr>
            <a:r>
              <a:rPr lang="en-US" sz="2423">
                <a:solidFill>
                  <a:srgbClr val="000000"/>
                </a:solidFill>
                <a:latin typeface="Times New Roman MT"/>
                <a:ea typeface="Times New Roman MT"/>
                <a:cs typeface="Times New Roman MT"/>
                <a:sym typeface="Times New Roman MT"/>
              </a:rPr>
              <a:t>mRNA</a:t>
            </a:r>
          </a:p>
          <a:p>
            <a:pPr algn="ctr">
              <a:lnSpc>
                <a:spcPts val="3393"/>
              </a:lnSpc>
            </a:pPr>
            <a:r>
              <a:rPr lang="en-US" sz="2423">
                <a:solidFill>
                  <a:srgbClr val="000000"/>
                </a:solidFill>
                <a:latin typeface="Times New Roman MT"/>
                <a:ea typeface="Times New Roman MT"/>
                <a:cs typeface="Times New Roman MT"/>
                <a:sym typeface="Times New Roman MT"/>
              </a:rPr>
              <a:t>CNV</a:t>
            </a:r>
          </a:p>
          <a:p>
            <a:pPr algn="ctr">
              <a:lnSpc>
                <a:spcPts val="3393"/>
              </a:lnSpc>
            </a:pPr>
            <a:r>
              <a:rPr lang="en-US" sz="2423">
                <a:solidFill>
                  <a:srgbClr val="000000"/>
                </a:solidFill>
                <a:latin typeface="Times New Roman MT"/>
                <a:ea typeface="Times New Roman MT"/>
                <a:cs typeface="Times New Roman MT"/>
                <a:sym typeface="Times New Roman MT"/>
              </a:rPr>
              <a:t>Mutation</a:t>
            </a:r>
          </a:p>
          <a:p>
            <a:pPr algn="ctr">
              <a:lnSpc>
                <a:spcPts val="3393"/>
              </a:lnSpc>
            </a:pPr>
            <a:r>
              <a:rPr lang="en-US" sz="2423">
                <a:solidFill>
                  <a:srgbClr val="000000"/>
                </a:solidFill>
                <a:latin typeface="Times New Roman MT"/>
                <a:ea typeface="Times New Roman MT"/>
                <a:cs typeface="Times New Roman MT"/>
                <a:sym typeface="Times New Roman MT"/>
              </a:rPr>
              <a:t>miRna</a:t>
            </a:r>
          </a:p>
        </p:txBody>
      </p:sp>
      <p:sp>
        <p:nvSpPr>
          <p:cNvPr id="18" name="TextBox 18"/>
          <p:cNvSpPr txBox="1"/>
          <p:nvPr/>
        </p:nvSpPr>
        <p:spPr>
          <a:xfrm>
            <a:off x="0" y="6561892"/>
            <a:ext cx="11157902" cy="3584321"/>
          </a:xfrm>
          <a:prstGeom prst="rect">
            <a:avLst/>
          </a:prstGeom>
        </p:spPr>
        <p:txBody>
          <a:bodyPr lIns="0" tIns="0" rIns="0" bIns="0" rtlCol="0" anchor="t">
            <a:spAutoFit/>
          </a:bodyPr>
          <a:lstStyle/>
          <a:p>
            <a:pPr marL="865760" lvl="1" indent="-432880" algn="l">
              <a:lnSpc>
                <a:spcPts val="5614"/>
              </a:lnSpc>
              <a:spcBef>
                <a:spcPct val="0"/>
              </a:spcBef>
              <a:buFont typeface="Arial"/>
              <a:buChar char="•"/>
            </a:pPr>
            <a:r>
              <a:rPr lang="en-US" sz="4010" dirty="0">
                <a:solidFill>
                  <a:srgbClr val="000000"/>
                </a:solidFill>
                <a:latin typeface="Times New Roman MT"/>
                <a:ea typeface="Times New Roman MT"/>
                <a:cs typeface="Times New Roman MT"/>
                <a:sym typeface="Times New Roman MT"/>
              </a:rPr>
              <a:t>Allows models to treat related variables as a single unit</a:t>
            </a:r>
          </a:p>
          <a:p>
            <a:pPr marL="865760" lvl="1" indent="-432880" algn="l">
              <a:lnSpc>
                <a:spcPts val="5614"/>
              </a:lnSpc>
              <a:spcBef>
                <a:spcPct val="0"/>
              </a:spcBef>
              <a:buFont typeface="Arial"/>
              <a:buChar char="•"/>
            </a:pPr>
            <a:r>
              <a:rPr lang="en-US" sz="4010" dirty="0">
                <a:solidFill>
                  <a:srgbClr val="000000"/>
                </a:solidFill>
                <a:latin typeface="Times New Roman MT"/>
                <a:ea typeface="Times New Roman MT"/>
                <a:cs typeface="Times New Roman MT"/>
                <a:sym typeface="Times New Roman MT"/>
              </a:rPr>
              <a:t>Improves model performance and interpretability</a:t>
            </a:r>
          </a:p>
          <a:p>
            <a:pPr marL="865760" lvl="1" indent="-432880" algn="l">
              <a:lnSpc>
                <a:spcPts val="5614"/>
              </a:lnSpc>
              <a:spcBef>
                <a:spcPct val="0"/>
              </a:spcBef>
              <a:buFont typeface="Arial"/>
              <a:buChar char="•"/>
            </a:pPr>
            <a:r>
              <a:rPr lang="en-US" sz="4010" dirty="0">
                <a:solidFill>
                  <a:srgbClr val="000000"/>
                </a:solidFill>
                <a:latin typeface="Times New Roman MT"/>
                <a:ea typeface="Times New Roman MT"/>
                <a:cs typeface="Times New Roman MT"/>
                <a:sym typeface="Times New Roman MT"/>
              </a:rPr>
              <a:t>Especially useful for high-dimensional datasets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9525" y="656197"/>
            <a:ext cx="7378398" cy="1286903"/>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grpSp>
        <p:nvGrpSpPr>
          <p:cNvPr id="11" name="Group 11"/>
          <p:cNvGrpSpPr/>
          <p:nvPr/>
        </p:nvGrpSpPr>
        <p:grpSpPr>
          <a:xfrm>
            <a:off x="197200" y="2543101"/>
            <a:ext cx="8956325" cy="7558410"/>
            <a:chOff x="0" y="0"/>
            <a:chExt cx="2358867" cy="1990692"/>
          </a:xfrm>
        </p:grpSpPr>
        <p:sp>
          <p:nvSpPr>
            <p:cNvPr id="12" name="Freeform 12"/>
            <p:cNvSpPr/>
            <p:nvPr/>
          </p:nvSpPr>
          <p:spPr>
            <a:xfrm>
              <a:off x="0" y="0"/>
              <a:ext cx="2358867" cy="1990692"/>
            </a:xfrm>
            <a:custGeom>
              <a:avLst/>
              <a:gdLst/>
              <a:ahLst/>
              <a:cxnLst/>
              <a:rect l="l" t="t" r="r" b="b"/>
              <a:pathLst>
                <a:path w="2358867" h="1990692">
                  <a:moveTo>
                    <a:pt x="44085" y="0"/>
                  </a:moveTo>
                  <a:lnTo>
                    <a:pt x="2314783" y="0"/>
                  </a:lnTo>
                  <a:cubicBezTo>
                    <a:pt x="2339130" y="0"/>
                    <a:pt x="2358867" y="19737"/>
                    <a:pt x="2358867" y="44085"/>
                  </a:cubicBezTo>
                  <a:lnTo>
                    <a:pt x="2358867" y="1946608"/>
                  </a:lnTo>
                  <a:cubicBezTo>
                    <a:pt x="2358867" y="1958299"/>
                    <a:pt x="2354223" y="1969513"/>
                    <a:pt x="2345955" y="1977780"/>
                  </a:cubicBezTo>
                  <a:cubicBezTo>
                    <a:pt x="2337688" y="1986048"/>
                    <a:pt x="2326475" y="1990692"/>
                    <a:pt x="2314783" y="1990692"/>
                  </a:cubicBezTo>
                  <a:lnTo>
                    <a:pt x="44085" y="1990692"/>
                  </a:lnTo>
                  <a:cubicBezTo>
                    <a:pt x="32393" y="1990692"/>
                    <a:pt x="21180" y="1986048"/>
                    <a:pt x="12912" y="1977780"/>
                  </a:cubicBezTo>
                  <a:cubicBezTo>
                    <a:pt x="4645" y="1969513"/>
                    <a:pt x="0" y="1958299"/>
                    <a:pt x="0" y="1946608"/>
                  </a:cubicBezTo>
                  <a:lnTo>
                    <a:pt x="0" y="44085"/>
                  </a:lnTo>
                  <a:cubicBezTo>
                    <a:pt x="0" y="32393"/>
                    <a:pt x="4645" y="21180"/>
                    <a:pt x="12912" y="12912"/>
                  </a:cubicBezTo>
                  <a:cubicBezTo>
                    <a:pt x="21180" y="4645"/>
                    <a:pt x="32393" y="0"/>
                    <a:pt x="44085" y="0"/>
                  </a:cubicBezTo>
                  <a:close/>
                </a:path>
              </a:pathLst>
            </a:custGeom>
            <a:solidFill>
              <a:srgbClr val="F4E3BD"/>
            </a:solidFill>
          </p:spPr>
        </p:sp>
        <p:sp>
          <p:nvSpPr>
            <p:cNvPr id="13" name="TextBox 13"/>
            <p:cNvSpPr txBox="1"/>
            <p:nvPr/>
          </p:nvSpPr>
          <p:spPr>
            <a:xfrm>
              <a:off x="0" y="-57150"/>
              <a:ext cx="2358867" cy="2047842"/>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9441076" y="2543101"/>
            <a:ext cx="8536751" cy="7558410"/>
            <a:chOff x="0" y="0"/>
            <a:chExt cx="2248362" cy="1990692"/>
          </a:xfrm>
        </p:grpSpPr>
        <p:sp>
          <p:nvSpPr>
            <p:cNvPr id="15" name="Freeform 15"/>
            <p:cNvSpPr/>
            <p:nvPr/>
          </p:nvSpPr>
          <p:spPr>
            <a:xfrm>
              <a:off x="0" y="0"/>
              <a:ext cx="2248362" cy="1990692"/>
            </a:xfrm>
            <a:custGeom>
              <a:avLst/>
              <a:gdLst/>
              <a:ahLst/>
              <a:cxnLst/>
              <a:rect l="l" t="t" r="r" b="b"/>
              <a:pathLst>
                <a:path w="2248362" h="1990692">
                  <a:moveTo>
                    <a:pt x="46252" y="0"/>
                  </a:moveTo>
                  <a:lnTo>
                    <a:pt x="2202111" y="0"/>
                  </a:lnTo>
                  <a:cubicBezTo>
                    <a:pt x="2214377" y="0"/>
                    <a:pt x="2226142" y="4873"/>
                    <a:pt x="2234816" y="13547"/>
                  </a:cubicBezTo>
                  <a:cubicBezTo>
                    <a:pt x="2243489" y="22221"/>
                    <a:pt x="2248362" y="33985"/>
                    <a:pt x="2248362" y="46252"/>
                  </a:cubicBezTo>
                  <a:lnTo>
                    <a:pt x="2248362" y="1944441"/>
                  </a:lnTo>
                  <a:cubicBezTo>
                    <a:pt x="2248362" y="1956707"/>
                    <a:pt x="2243489" y="1968472"/>
                    <a:pt x="2234816" y="1977145"/>
                  </a:cubicBezTo>
                  <a:cubicBezTo>
                    <a:pt x="2226142" y="1985819"/>
                    <a:pt x="2214377" y="1990692"/>
                    <a:pt x="2202111" y="1990692"/>
                  </a:cubicBezTo>
                  <a:lnTo>
                    <a:pt x="46252" y="1990692"/>
                  </a:lnTo>
                  <a:cubicBezTo>
                    <a:pt x="33985" y="1990692"/>
                    <a:pt x="22221" y="1985819"/>
                    <a:pt x="13547" y="1977145"/>
                  </a:cubicBezTo>
                  <a:cubicBezTo>
                    <a:pt x="4873" y="1968472"/>
                    <a:pt x="0" y="1956707"/>
                    <a:pt x="0" y="1944441"/>
                  </a:cubicBezTo>
                  <a:lnTo>
                    <a:pt x="0" y="46252"/>
                  </a:lnTo>
                  <a:cubicBezTo>
                    <a:pt x="0" y="33985"/>
                    <a:pt x="4873" y="22221"/>
                    <a:pt x="13547" y="13547"/>
                  </a:cubicBezTo>
                  <a:cubicBezTo>
                    <a:pt x="22221" y="4873"/>
                    <a:pt x="33985" y="0"/>
                    <a:pt x="46252" y="0"/>
                  </a:cubicBezTo>
                  <a:close/>
                </a:path>
              </a:pathLst>
            </a:custGeom>
            <a:solidFill>
              <a:srgbClr val="F4E3BD"/>
            </a:solidFill>
          </p:spPr>
        </p:sp>
        <p:sp>
          <p:nvSpPr>
            <p:cNvPr id="16" name="TextBox 16"/>
            <p:cNvSpPr txBox="1"/>
            <p:nvPr/>
          </p:nvSpPr>
          <p:spPr>
            <a:xfrm>
              <a:off x="0" y="-57150"/>
              <a:ext cx="2248362" cy="2047842"/>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521835" y="2783295"/>
            <a:ext cx="8307055" cy="741095"/>
            <a:chOff x="0" y="0"/>
            <a:chExt cx="2187866" cy="195185"/>
          </a:xfrm>
        </p:grpSpPr>
        <p:sp>
          <p:nvSpPr>
            <p:cNvPr id="18" name="Freeform 18"/>
            <p:cNvSpPr/>
            <p:nvPr/>
          </p:nvSpPr>
          <p:spPr>
            <a:xfrm>
              <a:off x="0" y="0"/>
              <a:ext cx="2187866" cy="195185"/>
            </a:xfrm>
            <a:custGeom>
              <a:avLst/>
              <a:gdLst/>
              <a:ahLst/>
              <a:cxnLst/>
              <a:rect l="l" t="t" r="r" b="b"/>
              <a:pathLst>
                <a:path w="2187866" h="195185">
                  <a:moveTo>
                    <a:pt x="47530" y="0"/>
                  </a:moveTo>
                  <a:lnTo>
                    <a:pt x="2140336" y="0"/>
                  </a:lnTo>
                  <a:cubicBezTo>
                    <a:pt x="2166586" y="0"/>
                    <a:pt x="2187866" y="21280"/>
                    <a:pt x="2187866" y="47530"/>
                  </a:cubicBezTo>
                  <a:lnTo>
                    <a:pt x="2187866" y="147655"/>
                  </a:lnTo>
                  <a:cubicBezTo>
                    <a:pt x="2187866" y="173905"/>
                    <a:pt x="2166586" y="195185"/>
                    <a:pt x="2140336" y="195185"/>
                  </a:cubicBezTo>
                  <a:lnTo>
                    <a:pt x="47530" y="195185"/>
                  </a:lnTo>
                  <a:cubicBezTo>
                    <a:pt x="21280" y="195185"/>
                    <a:pt x="0" y="173905"/>
                    <a:pt x="0" y="147655"/>
                  </a:cubicBezTo>
                  <a:lnTo>
                    <a:pt x="0" y="47530"/>
                  </a:lnTo>
                  <a:cubicBezTo>
                    <a:pt x="0" y="21280"/>
                    <a:pt x="21280" y="0"/>
                    <a:pt x="47530" y="0"/>
                  </a:cubicBezTo>
                  <a:close/>
                </a:path>
              </a:pathLst>
            </a:custGeom>
            <a:solidFill>
              <a:srgbClr val="EDAC4C"/>
            </a:solidFill>
          </p:spPr>
        </p:sp>
        <p:sp>
          <p:nvSpPr>
            <p:cNvPr id="19" name="TextBox 19"/>
            <p:cNvSpPr txBox="1"/>
            <p:nvPr/>
          </p:nvSpPr>
          <p:spPr>
            <a:xfrm>
              <a:off x="0" y="-57150"/>
              <a:ext cx="2187866" cy="252335"/>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9650646" y="2783295"/>
            <a:ext cx="8097900" cy="741095"/>
            <a:chOff x="0" y="0"/>
            <a:chExt cx="2132780" cy="195185"/>
          </a:xfrm>
        </p:grpSpPr>
        <p:sp>
          <p:nvSpPr>
            <p:cNvPr id="21" name="Freeform 21"/>
            <p:cNvSpPr/>
            <p:nvPr/>
          </p:nvSpPr>
          <p:spPr>
            <a:xfrm>
              <a:off x="0" y="0"/>
              <a:ext cx="2132780" cy="195185"/>
            </a:xfrm>
            <a:custGeom>
              <a:avLst/>
              <a:gdLst/>
              <a:ahLst/>
              <a:cxnLst/>
              <a:rect l="l" t="t" r="r" b="b"/>
              <a:pathLst>
                <a:path w="2132780" h="195185">
                  <a:moveTo>
                    <a:pt x="48758" y="0"/>
                  </a:moveTo>
                  <a:lnTo>
                    <a:pt x="2084022" y="0"/>
                  </a:lnTo>
                  <a:cubicBezTo>
                    <a:pt x="2110951" y="0"/>
                    <a:pt x="2132780" y="21830"/>
                    <a:pt x="2132780" y="48758"/>
                  </a:cubicBezTo>
                  <a:lnTo>
                    <a:pt x="2132780" y="146427"/>
                  </a:lnTo>
                  <a:cubicBezTo>
                    <a:pt x="2132780" y="173356"/>
                    <a:pt x="2110951" y="195185"/>
                    <a:pt x="2084022" y="195185"/>
                  </a:cubicBezTo>
                  <a:lnTo>
                    <a:pt x="48758" y="195185"/>
                  </a:lnTo>
                  <a:cubicBezTo>
                    <a:pt x="35827" y="195185"/>
                    <a:pt x="23425" y="190048"/>
                    <a:pt x="14281" y="180905"/>
                  </a:cubicBezTo>
                  <a:cubicBezTo>
                    <a:pt x="5137" y="171761"/>
                    <a:pt x="0" y="159359"/>
                    <a:pt x="0" y="146427"/>
                  </a:cubicBezTo>
                  <a:lnTo>
                    <a:pt x="0" y="48758"/>
                  </a:lnTo>
                  <a:cubicBezTo>
                    <a:pt x="0" y="21830"/>
                    <a:pt x="21830" y="0"/>
                    <a:pt x="48758" y="0"/>
                  </a:cubicBezTo>
                  <a:close/>
                </a:path>
              </a:pathLst>
            </a:custGeom>
            <a:solidFill>
              <a:srgbClr val="EDAC4C"/>
            </a:solidFill>
          </p:spPr>
        </p:sp>
        <p:sp>
          <p:nvSpPr>
            <p:cNvPr id="22" name="TextBox 22"/>
            <p:cNvSpPr txBox="1"/>
            <p:nvPr/>
          </p:nvSpPr>
          <p:spPr>
            <a:xfrm>
              <a:off x="0" y="-57150"/>
              <a:ext cx="2132780" cy="252335"/>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2119094" y="1486901"/>
            <a:ext cx="4557656" cy="823655"/>
            <a:chOff x="0" y="0"/>
            <a:chExt cx="2319069" cy="419100"/>
          </a:xfrm>
        </p:grpSpPr>
        <p:sp>
          <p:nvSpPr>
            <p:cNvPr id="24" name="Freeform 24"/>
            <p:cNvSpPr/>
            <p:nvPr/>
          </p:nvSpPr>
          <p:spPr>
            <a:xfrm>
              <a:off x="6556" y="0"/>
              <a:ext cx="2312513" cy="419100"/>
            </a:xfrm>
            <a:custGeom>
              <a:avLst/>
              <a:gdLst/>
              <a:ahLst/>
              <a:cxnLst/>
              <a:rect l="l" t="t" r="r" b="b"/>
              <a:pathLst>
                <a:path w="2312513" h="419100">
                  <a:moveTo>
                    <a:pt x="2268738" y="0"/>
                  </a:moveTo>
                  <a:lnTo>
                    <a:pt x="180945" y="0"/>
                  </a:lnTo>
                  <a:cubicBezTo>
                    <a:pt x="169196" y="0"/>
                    <a:pt x="158079" y="5318"/>
                    <a:pt x="150705" y="14465"/>
                  </a:cubicBezTo>
                  <a:lnTo>
                    <a:pt x="5104" y="195085"/>
                  </a:lnTo>
                  <a:cubicBezTo>
                    <a:pt x="-1701" y="203528"/>
                    <a:pt x="-1701" y="215572"/>
                    <a:pt x="5104" y="224015"/>
                  </a:cubicBezTo>
                  <a:lnTo>
                    <a:pt x="150705" y="404635"/>
                  </a:lnTo>
                  <a:cubicBezTo>
                    <a:pt x="158079" y="413782"/>
                    <a:pt x="169196" y="419100"/>
                    <a:pt x="180945" y="419100"/>
                  </a:cubicBezTo>
                  <a:lnTo>
                    <a:pt x="2268738" y="419100"/>
                  </a:lnTo>
                  <a:cubicBezTo>
                    <a:pt x="2268738" y="419100"/>
                    <a:pt x="2312513" y="357188"/>
                    <a:pt x="2312513" y="209550"/>
                  </a:cubicBezTo>
                  <a:cubicBezTo>
                    <a:pt x="2312513" y="61912"/>
                    <a:pt x="2268738" y="0"/>
                    <a:pt x="2268738" y="0"/>
                  </a:cubicBezTo>
                  <a:close/>
                </a:path>
              </a:pathLst>
            </a:custGeom>
            <a:solidFill>
              <a:srgbClr val="FF914D"/>
            </a:solidFill>
          </p:spPr>
        </p:sp>
        <p:sp>
          <p:nvSpPr>
            <p:cNvPr id="25" name="TextBox 25"/>
            <p:cNvSpPr txBox="1"/>
            <p:nvPr/>
          </p:nvSpPr>
          <p:spPr>
            <a:xfrm>
              <a:off x="184150" y="-57150"/>
              <a:ext cx="2090469" cy="476250"/>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324932" y="6322306"/>
            <a:ext cx="4551036" cy="977172"/>
          </a:xfrm>
          <a:custGeom>
            <a:avLst/>
            <a:gdLst/>
            <a:ahLst/>
            <a:cxnLst/>
            <a:rect l="l" t="t" r="r" b="b"/>
            <a:pathLst>
              <a:path w="4551036" h="977172">
                <a:moveTo>
                  <a:pt x="0" y="0"/>
                </a:moveTo>
                <a:lnTo>
                  <a:pt x="4551036" y="0"/>
                </a:lnTo>
                <a:lnTo>
                  <a:pt x="4551036" y="977172"/>
                </a:lnTo>
                <a:lnTo>
                  <a:pt x="0" y="977172"/>
                </a:lnTo>
                <a:lnTo>
                  <a:pt x="0" y="0"/>
                </a:lnTo>
                <a:close/>
              </a:path>
            </a:pathLst>
          </a:custGeom>
          <a:blipFill>
            <a:blip r:embed="rId6"/>
            <a:stretch>
              <a:fillRect t="-23473" b="-42987"/>
            </a:stretch>
          </a:blipFill>
        </p:spPr>
      </p:sp>
      <p:sp>
        <p:nvSpPr>
          <p:cNvPr id="27" name="Freeform 27"/>
          <p:cNvSpPr/>
          <p:nvPr/>
        </p:nvSpPr>
        <p:spPr>
          <a:xfrm>
            <a:off x="10201629" y="6740263"/>
            <a:ext cx="3365168" cy="955708"/>
          </a:xfrm>
          <a:custGeom>
            <a:avLst/>
            <a:gdLst/>
            <a:ahLst/>
            <a:cxnLst/>
            <a:rect l="l" t="t" r="r" b="b"/>
            <a:pathLst>
              <a:path w="3365168" h="955708">
                <a:moveTo>
                  <a:pt x="0" y="0"/>
                </a:moveTo>
                <a:lnTo>
                  <a:pt x="3365168" y="0"/>
                </a:lnTo>
                <a:lnTo>
                  <a:pt x="3365168" y="955707"/>
                </a:lnTo>
                <a:lnTo>
                  <a:pt x="0" y="955707"/>
                </a:lnTo>
                <a:lnTo>
                  <a:pt x="0" y="0"/>
                </a:lnTo>
                <a:close/>
              </a:path>
            </a:pathLst>
          </a:custGeom>
          <a:blipFill>
            <a:blip r:embed="rId7"/>
            <a:stretch>
              <a:fillRect/>
            </a:stretch>
          </a:blipFill>
        </p:spPr>
      </p:sp>
      <p:sp>
        <p:nvSpPr>
          <p:cNvPr id="28" name="TextBox 28"/>
          <p:cNvSpPr txBox="1"/>
          <p:nvPr/>
        </p:nvSpPr>
        <p:spPr>
          <a:xfrm>
            <a:off x="8607942" y="302626"/>
            <a:ext cx="8068808"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MODEL SELECTION</a:t>
            </a:r>
          </a:p>
        </p:txBody>
      </p:sp>
      <p:sp>
        <p:nvSpPr>
          <p:cNvPr id="29" name="TextBox 29"/>
          <p:cNvSpPr txBox="1"/>
          <p:nvPr/>
        </p:nvSpPr>
        <p:spPr>
          <a:xfrm>
            <a:off x="12349172" y="1495295"/>
            <a:ext cx="4209800" cy="702092"/>
          </a:xfrm>
          <a:prstGeom prst="rect">
            <a:avLst/>
          </a:prstGeom>
        </p:spPr>
        <p:txBody>
          <a:bodyPr lIns="0" tIns="0" rIns="0" bIns="0" rtlCol="0" anchor="t">
            <a:spAutoFit/>
          </a:bodyPr>
          <a:lstStyle/>
          <a:p>
            <a:pPr algn="ctr">
              <a:lnSpc>
                <a:spcPts val="5520"/>
              </a:lnSpc>
              <a:spcBef>
                <a:spcPct val="0"/>
              </a:spcBef>
            </a:pPr>
            <a:r>
              <a:rPr lang="en-US" sz="3942" b="1">
                <a:solidFill>
                  <a:srgbClr val="000000"/>
                </a:solidFill>
                <a:latin typeface="Times New Roman Bold"/>
                <a:ea typeface="Times New Roman Bold"/>
                <a:cs typeface="Times New Roman Bold"/>
                <a:sym typeface="Times New Roman Bold"/>
              </a:rPr>
              <a:t>Reference Models</a:t>
            </a:r>
          </a:p>
        </p:txBody>
      </p:sp>
      <p:sp>
        <p:nvSpPr>
          <p:cNvPr id="30" name="TextBox 30"/>
          <p:cNvSpPr txBox="1"/>
          <p:nvPr/>
        </p:nvSpPr>
        <p:spPr>
          <a:xfrm>
            <a:off x="521835" y="3421107"/>
            <a:ext cx="7704246" cy="2805949"/>
          </a:xfrm>
          <a:prstGeom prst="rect">
            <a:avLst/>
          </a:prstGeom>
        </p:spPr>
        <p:txBody>
          <a:bodyPr lIns="0" tIns="0" rIns="0" bIns="0" rtlCol="0" anchor="t">
            <a:spAutoFit/>
          </a:bodyPr>
          <a:lstStyle/>
          <a:p>
            <a:pPr marL="691190" lvl="1" indent="-345595" algn="just">
              <a:lnSpc>
                <a:spcPts val="4482"/>
              </a:lnSpc>
              <a:buFont typeface="Arial"/>
              <a:buChar char="•"/>
            </a:pPr>
            <a:r>
              <a:rPr lang="en-US" sz="3201">
                <a:solidFill>
                  <a:srgbClr val="000000"/>
                </a:solidFill>
                <a:latin typeface="Times New Roman"/>
                <a:ea typeface="Times New Roman"/>
                <a:cs typeface="Times New Roman"/>
                <a:sym typeface="Times New Roman"/>
              </a:rPr>
              <a:t>Estimates survival probability over time</a:t>
            </a:r>
          </a:p>
          <a:p>
            <a:pPr marL="691190" lvl="1" indent="-345595" algn="just">
              <a:lnSpc>
                <a:spcPts val="4482"/>
              </a:lnSpc>
              <a:buFont typeface="Arial"/>
              <a:buChar char="•"/>
            </a:pPr>
            <a:r>
              <a:rPr lang="en-US" sz="3201">
                <a:solidFill>
                  <a:srgbClr val="000000"/>
                </a:solidFill>
                <a:latin typeface="Times New Roman"/>
                <a:ea typeface="Times New Roman"/>
                <a:cs typeface="Times New Roman"/>
                <a:sym typeface="Times New Roman"/>
              </a:rPr>
              <a:t>Handles censored data</a:t>
            </a:r>
          </a:p>
          <a:p>
            <a:pPr marL="691190" lvl="1" indent="-345595" algn="just">
              <a:lnSpc>
                <a:spcPts val="4482"/>
              </a:lnSpc>
              <a:buFont typeface="Arial"/>
              <a:buChar char="•"/>
            </a:pPr>
            <a:r>
              <a:rPr lang="en-US" sz="3201">
                <a:solidFill>
                  <a:srgbClr val="000000"/>
                </a:solidFill>
                <a:latin typeface="Times New Roman"/>
                <a:ea typeface="Times New Roman"/>
                <a:cs typeface="Times New Roman"/>
                <a:sym typeface="Times New Roman"/>
              </a:rPr>
              <a:t>Produces step-wise survival curve</a:t>
            </a:r>
          </a:p>
          <a:p>
            <a:pPr marL="691190" lvl="1" indent="-345595" algn="just">
              <a:lnSpc>
                <a:spcPts val="4482"/>
              </a:lnSpc>
              <a:buFont typeface="Arial"/>
              <a:buChar char="•"/>
            </a:pPr>
            <a:r>
              <a:rPr lang="en-US" sz="3201">
                <a:solidFill>
                  <a:srgbClr val="000000"/>
                </a:solidFill>
                <a:latin typeface="Times New Roman"/>
                <a:ea typeface="Times New Roman"/>
                <a:cs typeface="Times New Roman"/>
                <a:sym typeface="Times New Roman"/>
              </a:rPr>
              <a:t>Used as baseline model</a:t>
            </a:r>
          </a:p>
          <a:p>
            <a:pPr marL="691190" lvl="1" indent="-345595" algn="just">
              <a:lnSpc>
                <a:spcPts val="4482"/>
              </a:lnSpc>
              <a:spcBef>
                <a:spcPct val="0"/>
              </a:spcBef>
              <a:buFont typeface="Arial"/>
              <a:buChar char="•"/>
            </a:pPr>
            <a:r>
              <a:rPr lang="en-US" sz="3201">
                <a:solidFill>
                  <a:srgbClr val="000000"/>
                </a:solidFill>
                <a:latin typeface="Times New Roman"/>
                <a:ea typeface="Times New Roman"/>
                <a:cs typeface="Times New Roman"/>
                <a:sym typeface="Times New Roman"/>
              </a:rPr>
              <a:t>Does not use predictor variables</a:t>
            </a:r>
          </a:p>
        </p:txBody>
      </p:sp>
      <p:sp>
        <p:nvSpPr>
          <p:cNvPr id="31" name="TextBox 31"/>
          <p:cNvSpPr txBox="1"/>
          <p:nvPr/>
        </p:nvSpPr>
        <p:spPr>
          <a:xfrm>
            <a:off x="521835" y="7289678"/>
            <a:ext cx="8622165" cy="2524415"/>
          </a:xfrm>
          <a:prstGeom prst="rect">
            <a:avLst/>
          </a:prstGeom>
        </p:spPr>
        <p:txBody>
          <a:bodyPr lIns="0" tIns="0" rIns="0" bIns="0" rtlCol="0" anchor="t">
            <a:spAutoFit/>
          </a:bodyPr>
          <a:lstStyle/>
          <a:p>
            <a:pPr algn="l">
              <a:lnSpc>
                <a:spcPts val="5020"/>
              </a:lnSpc>
            </a:pPr>
            <a:r>
              <a:rPr lang="en-US" sz="3586">
                <a:solidFill>
                  <a:srgbClr val="000000"/>
                </a:solidFill>
                <a:latin typeface="Times New Roman"/>
                <a:ea typeface="Times New Roman"/>
                <a:cs typeface="Times New Roman"/>
                <a:sym typeface="Times New Roman"/>
              </a:rPr>
              <a:t> • di​: number of events (deaths)</a:t>
            </a:r>
          </a:p>
          <a:p>
            <a:pPr algn="l">
              <a:lnSpc>
                <a:spcPts val="5020"/>
              </a:lnSpc>
            </a:pPr>
            <a:r>
              <a:rPr lang="en-US" sz="3586">
                <a:solidFill>
                  <a:srgbClr val="000000"/>
                </a:solidFill>
                <a:latin typeface="Times New Roman"/>
                <a:ea typeface="Times New Roman"/>
                <a:cs typeface="Times New Roman"/>
                <a:sym typeface="Times New Roman"/>
              </a:rPr>
              <a:t> • ni​: number of individuals at risk</a:t>
            </a:r>
          </a:p>
          <a:p>
            <a:pPr algn="l">
              <a:lnSpc>
                <a:spcPts val="5020"/>
              </a:lnSpc>
              <a:spcBef>
                <a:spcPct val="0"/>
              </a:spcBef>
            </a:pPr>
            <a:r>
              <a:rPr lang="en-US" sz="3586">
                <a:solidFill>
                  <a:srgbClr val="000000"/>
                </a:solidFill>
                <a:latin typeface="Times New Roman"/>
                <a:ea typeface="Times New Roman"/>
                <a:cs typeface="Times New Roman"/>
                <a:sym typeface="Times New Roman"/>
              </a:rPr>
              <a:t>Survival probability is calculated at each event time and multiplied cumulatively</a:t>
            </a:r>
          </a:p>
        </p:txBody>
      </p:sp>
      <p:sp>
        <p:nvSpPr>
          <p:cNvPr id="32" name="TextBox 32"/>
          <p:cNvSpPr txBox="1"/>
          <p:nvPr/>
        </p:nvSpPr>
        <p:spPr>
          <a:xfrm>
            <a:off x="9581467" y="3648215"/>
            <a:ext cx="8396360" cy="2986543"/>
          </a:xfrm>
          <a:prstGeom prst="rect">
            <a:avLst/>
          </a:prstGeom>
        </p:spPr>
        <p:txBody>
          <a:bodyPr lIns="0" tIns="0" rIns="0" bIns="0" rtlCol="0" anchor="t">
            <a:spAutoFit/>
          </a:bodyPr>
          <a:lstStyle/>
          <a:p>
            <a:pPr marL="729850" lvl="1" indent="-364925" algn="l">
              <a:lnSpc>
                <a:spcPts val="4732"/>
              </a:lnSpc>
              <a:buFont typeface="Arial"/>
              <a:buChar char="•"/>
            </a:pPr>
            <a:r>
              <a:rPr lang="en-US" sz="3380" dirty="0">
                <a:solidFill>
                  <a:srgbClr val="000000"/>
                </a:solidFill>
                <a:latin typeface="Times New Roman"/>
                <a:ea typeface="Times New Roman"/>
                <a:cs typeface="Times New Roman"/>
                <a:sym typeface="Times New Roman"/>
              </a:rPr>
              <a:t>Models relationship between survival and covariates</a:t>
            </a:r>
          </a:p>
          <a:p>
            <a:pPr marL="729850" lvl="1" indent="-364925" algn="l">
              <a:lnSpc>
                <a:spcPts val="4732"/>
              </a:lnSpc>
              <a:buFont typeface="Arial"/>
              <a:buChar char="•"/>
            </a:pPr>
            <a:r>
              <a:rPr lang="en-US" sz="3380" dirty="0">
                <a:solidFill>
                  <a:srgbClr val="000000"/>
                </a:solidFill>
                <a:latin typeface="Times New Roman"/>
                <a:ea typeface="Times New Roman"/>
                <a:cs typeface="Times New Roman"/>
                <a:sym typeface="Times New Roman"/>
              </a:rPr>
              <a:t>Based on hazard function</a:t>
            </a:r>
          </a:p>
          <a:p>
            <a:pPr marL="729850" lvl="1" indent="-364925" algn="l">
              <a:lnSpc>
                <a:spcPts val="4732"/>
              </a:lnSpc>
              <a:buFont typeface="Arial"/>
              <a:buChar char="•"/>
            </a:pPr>
            <a:r>
              <a:rPr lang="en-US" sz="3380" dirty="0">
                <a:solidFill>
                  <a:srgbClr val="000000"/>
                </a:solidFill>
                <a:latin typeface="Times New Roman"/>
                <a:ea typeface="Times New Roman"/>
                <a:cs typeface="Times New Roman"/>
                <a:sym typeface="Times New Roman"/>
              </a:rPr>
              <a:t>Assumes proportional hazards</a:t>
            </a:r>
          </a:p>
          <a:p>
            <a:pPr marL="729850" lvl="1" indent="-364925" algn="l">
              <a:lnSpc>
                <a:spcPts val="4732"/>
              </a:lnSpc>
              <a:spcBef>
                <a:spcPct val="0"/>
              </a:spcBef>
              <a:buFont typeface="Arial"/>
              <a:buChar char="•"/>
            </a:pPr>
            <a:r>
              <a:rPr lang="en-US" sz="3380" dirty="0">
                <a:solidFill>
                  <a:srgbClr val="000000"/>
                </a:solidFill>
                <a:latin typeface="Times New Roman"/>
                <a:ea typeface="Times New Roman"/>
                <a:cs typeface="Times New Roman"/>
                <a:sym typeface="Times New Roman"/>
              </a:rPr>
              <a:t>Provides interpretable coefficients</a:t>
            </a:r>
          </a:p>
        </p:txBody>
      </p:sp>
      <p:sp>
        <p:nvSpPr>
          <p:cNvPr id="33" name="TextBox 33"/>
          <p:cNvSpPr txBox="1"/>
          <p:nvPr/>
        </p:nvSpPr>
        <p:spPr>
          <a:xfrm>
            <a:off x="9795236" y="7610245"/>
            <a:ext cx="7953311" cy="2364921"/>
          </a:xfrm>
          <a:prstGeom prst="rect">
            <a:avLst/>
          </a:prstGeom>
        </p:spPr>
        <p:txBody>
          <a:bodyPr lIns="0" tIns="0" rIns="0" bIns="0" rtlCol="0" anchor="t">
            <a:spAutoFit/>
          </a:bodyPr>
          <a:lstStyle/>
          <a:p>
            <a:pPr algn="just">
              <a:lnSpc>
                <a:spcPts val="4698"/>
              </a:lnSpc>
            </a:pPr>
            <a:r>
              <a:rPr lang="en-US" sz="3356">
                <a:solidFill>
                  <a:srgbClr val="000000"/>
                </a:solidFill>
                <a:latin typeface="Times New Roman"/>
                <a:ea typeface="Times New Roman"/>
                <a:cs typeface="Times New Roman"/>
                <a:sym typeface="Times New Roman"/>
              </a:rPr>
              <a:t> • h0(t): baseline hazard</a:t>
            </a:r>
          </a:p>
          <a:p>
            <a:pPr algn="just">
              <a:lnSpc>
                <a:spcPts val="4698"/>
              </a:lnSpc>
            </a:pPr>
            <a:r>
              <a:rPr lang="en-US" sz="3356">
                <a:solidFill>
                  <a:srgbClr val="000000"/>
                </a:solidFill>
                <a:latin typeface="Times New Roman"/>
                <a:ea typeface="Times New Roman"/>
                <a:cs typeface="Times New Roman"/>
                <a:sym typeface="Times New Roman"/>
              </a:rPr>
              <a:t> • β: coefficients</a:t>
            </a:r>
          </a:p>
          <a:p>
            <a:pPr algn="just">
              <a:lnSpc>
                <a:spcPts val="4698"/>
              </a:lnSpc>
            </a:pPr>
            <a:r>
              <a:rPr lang="en-US" sz="3356">
                <a:solidFill>
                  <a:srgbClr val="000000"/>
                </a:solidFill>
                <a:latin typeface="Times New Roman"/>
                <a:ea typeface="Times New Roman"/>
                <a:cs typeface="Times New Roman"/>
                <a:sym typeface="Times New Roman"/>
              </a:rPr>
              <a:t> • X: predictor variables</a:t>
            </a:r>
          </a:p>
          <a:p>
            <a:pPr algn="just">
              <a:lnSpc>
                <a:spcPts val="4698"/>
              </a:lnSpc>
              <a:spcBef>
                <a:spcPct val="0"/>
              </a:spcBef>
            </a:pPr>
            <a:r>
              <a:rPr lang="en-US" sz="3356">
                <a:solidFill>
                  <a:srgbClr val="000000"/>
                </a:solidFill>
                <a:latin typeface="Times New Roman"/>
                <a:ea typeface="Times New Roman"/>
                <a:cs typeface="Times New Roman"/>
                <a:sym typeface="Times New Roman"/>
              </a:rPr>
              <a:t>Measures effect of variables on survival risk</a:t>
            </a:r>
          </a:p>
        </p:txBody>
      </p:sp>
      <p:sp>
        <p:nvSpPr>
          <p:cNvPr id="34" name="TextBox 34"/>
          <p:cNvSpPr txBox="1"/>
          <p:nvPr/>
        </p:nvSpPr>
        <p:spPr>
          <a:xfrm>
            <a:off x="521835" y="2740457"/>
            <a:ext cx="8307055" cy="731522"/>
          </a:xfrm>
          <a:prstGeom prst="rect">
            <a:avLst/>
          </a:prstGeom>
        </p:spPr>
        <p:txBody>
          <a:bodyPr lIns="0" tIns="0" rIns="0" bIns="0" rtlCol="0" anchor="t">
            <a:spAutoFit/>
          </a:bodyPr>
          <a:lstStyle/>
          <a:p>
            <a:pPr algn="ctr">
              <a:lnSpc>
                <a:spcPts val="5879"/>
              </a:lnSpc>
              <a:spcBef>
                <a:spcPct val="0"/>
              </a:spcBef>
            </a:pPr>
            <a:r>
              <a:rPr lang="en-US" sz="4199" b="1">
                <a:solidFill>
                  <a:srgbClr val="000000"/>
                </a:solidFill>
                <a:latin typeface="Times New Roman Bold"/>
                <a:ea typeface="Times New Roman Bold"/>
                <a:cs typeface="Times New Roman Bold"/>
                <a:sym typeface="Times New Roman Bold"/>
              </a:rPr>
              <a:t>Kaplan Meiere</a:t>
            </a:r>
          </a:p>
        </p:txBody>
      </p:sp>
      <p:sp>
        <p:nvSpPr>
          <p:cNvPr id="35" name="TextBox 35"/>
          <p:cNvSpPr txBox="1"/>
          <p:nvPr/>
        </p:nvSpPr>
        <p:spPr>
          <a:xfrm>
            <a:off x="9650646" y="2688045"/>
            <a:ext cx="8327180" cy="731522"/>
          </a:xfrm>
          <a:prstGeom prst="rect">
            <a:avLst/>
          </a:prstGeom>
        </p:spPr>
        <p:txBody>
          <a:bodyPr lIns="0" tIns="0" rIns="0" bIns="0" rtlCol="0" anchor="t">
            <a:spAutoFit/>
          </a:bodyPr>
          <a:lstStyle/>
          <a:p>
            <a:pPr algn="ctr">
              <a:lnSpc>
                <a:spcPts val="5879"/>
              </a:lnSpc>
              <a:spcBef>
                <a:spcPct val="0"/>
              </a:spcBef>
            </a:pPr>
            <a:r>
              <a:rPr lang="en-US" sz="4199" b="1">
                <a:solidFill>
                  <a:srgbClr val="000000"/>
                </a:solidFill>
                <a:latin typeface="Times New Roman Bold"/>
                <a:ea typeface="Times New Roman Bold"/>
                <a:cs typeface="Times New Roman Bold"/>
                <a:sym typeface="Times New Roman Bold"/>
              </a:rPr>
              <a:t>Cox Model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7269"/>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234700" y="608741"/>
            <a:ext cx="7169084" cy="1220715"/>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grpSp>
        <p:nvGrpSpPr>
          <p:cNvPr id="11" name="Group 11"/>
          <p:cNvGrpSpPr/>
          <p:nvPr/>
        </p:nvGrpSpPr>
        <p:grpSpPr>
          <a:xfrm>
            <a:off x="293123" y="2560684"/>
            <a:ext cx="8683141" cy="7441811"/>
            <a:chOff x="0" y="0"/>
            <a:chExt cx="2286918" cy="1959983"/>
          </a:xfrm>
        </p:grpSpPr>
        <p:sp>
          <p:nvSpPr>
            <p:cNvPr id="12" name="Freeform 12"/>
            <p:cNvSpPr/>
            <p:nvPr/>
          </p:nvSpPr>
          <p:spPr>
            <a:xfrm>
              <a:off x="0" y="0"/>
              <a:ext cx="2286918" cy="1959983"/>
            </a:xfrm>
            <a:custGeom>
              <a:avLst/>
              <a:gdLst/>
              <a:ahLst/>
              <a:cxnLst/>
              <a:rect l="l" t="t" r="r" b="b"/>
              <a:pathLst>
                <a:path w="2286918" h="1959983">
                  <a:moveTo>
                    <a:pt x="45472" y="0"/>
                  </a:moveTo>
                  <a:lnTo>
                    <a:pt x="2241446" y="0"/>
                  </a:lnTo>
                  <a:cubicBezTo>
                    <a:pt x="2253506" y="0"/>
                    <a:pt x="2265072" y="4791"/>
                    <a:pt x="2273599" y="13318"/>
                  </a:cubicBezTo>
                  <a:cubicBezTo>
                    <a:pt x="2282127" y="21846"/>
                    <a:pt x="2286918" y="33412"/>
                    <a:pt x="2286918" y="45472"/>
                  </a:cubicBezTo>
                  <a:lnTo>
                    <a:pt x="2286918" y="1914511"/>
                  </a:lnTo>
                  <a:cubicBezTo>
                    <a:pt x="2286918" y="1926571"/>
                    <a:pt x="2282127" y="1938137"/>
                    <a:pt x="2273599" y="1946665"/>
                  </a:cubicBezTo>
                  <a:cubicBezTo>
                    <a:pt x="2265072" y="1955192"/>
                    <a:pt x="2253506" y="1959983"/>
                    <a:pt x="2241446" y="1959983"/>
                  </a:cubicBezTo>
                  <a:lnTo>
                    <a:pt x="45472" y="1959983"/>
                  </a:lnTo>
                  <a:cubicBezTo>
                    <a:pt x="33412" y="1959983"/>
                    <a:pt x="21846" y="1955192"/>
                    <a:pt x="13318" y="1946665"/>
                  </a:cubicBezTo>
                  <a:cubicBezTo>
                    <a:pt x="4791" y="1938137"/>
                    <a:pt x="0" y="1926571"/>
                    <a:pt x="0" y="1914511"/>
                  </a:cubicBezTo>
                  <a:lnTo>
                    <a:pt x="0" y="45472"/>
                  </a:lnTo>
                  <a:cubicBezTo>
                    <a:pt x="0" y="33412"/>
                    <a:pt x="4791" y="21846"/>
                    <a:pt x="13318" y="13318"/>
                  </a:cubicBezTo>
                  <a:cubicBezTo>
                    <a:pt x="21846" y="4791"/>
                    <a:pt x="33412" y="0"/>
                    <a:pt x="45472" y="0"/>
                  </a:cubicBezTo>
                  <a:close/>
                </a:path>
              </a:pathLst>
            </a:custGeom>
            <a:solidFill>
              <a:srgbClr val="F4E3BD"/>
            </a:solidFill>
          </p:spPr>
        </p:sp>
        <p:sp>
          <p:nvSpPr>
            <p:cNvPr id="13" name="TextBox 13"/>
            <p:cNvSpPr txBox="1"/>
            <p:nvPr/>
          </p:nvSpPr>
          <p:spPr>
            <a:xfrm>
              <a:off x="0" y="-57150"/>
              <a:ext cx="2286918" cy="201713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514350" y="2693420"/>
            <a:ext cx="8307055" cy="741095"/>
            <a:chOff x="0" y="0"/>
            <a:chExt cx="2187866" cy="195185"/>
          </a:xfrm>
        </p:grpSpPr>
        <p:sp>
          <p:nvSpPr>
            <p:cNvPr id="15" name="Freeform 15"/>
            <p:cNvSpPr/>
            <p:nvPr/>
          </p:nvSpPr>
          <p:spPr>
            <a:xfrm>
              <a:off x="0" y="0"/>
              <a:ext cx="2187866" cy="195185"/>
            </a:xfrm>
            <a:custGeom>
              <a:avLst/>
              <a:gdLst/>
              <a:ahLst/>
              <a:cxnLst/>
              <a:rect l="l" t="t" r="r" b="b"/>
              <a:pathLst>
                <a:path w="2187866" h="195185">
                  <a:moveTo>
                    <a:pt x="47530" y="0"/>
                  </a:moveTo>
                  <a:lnTo>
                    <a:pt x="2140336" y="0"/>
                  </a:lnTo>
                  <a:cubicBezTo>
                    <a:pt x="2166586" y="0"/>
                    <a:pt x="2187866" y="21280"/>
                    <a:pt x="2187866" y="47530"/>
                  </a:cubicBezTo>
                  <a:lnTo>
                    <a:pt x="2187866" y="147655"/>
                  </a:lnTo>
                  <a:cubicBezTo>
                    <a:pt x="2187866" y="173905"/>
                    <a:pt x="2166586" y="195185"/>
                    <a:pt x="2140336" y="195185"/>
                  </a:cubicBezTo>
                  <a:lnTo>
                    <a:pt x="47530" y="195185"/>
                  </a:lnTo>
                  <a:cubicBezTo>
                    <a:pt x="21280" y="195185"/>
                    <a:pt x="0" y="173905"/>
                    <a:pt x="0" y="147655"/>
                  </a:cubicBezTo>
                  <a:lnTo>
                    <a:pt x="0" y="47530"/>
                  </a:lnTo>
                  <a:cubicBezTo>
                    <a:pt x="0" y="21280"/>
                    <a:pt x="21280" y="0"/>
                    <a:pt x="47530" y="0"/>
                  </a:cubicBezTo>
                  <a:close/>
                </a:path>
              </a:pathLst>
            </a:custGeom>
            <a:solidFill>
              <a:srgbClr val="EDAC4C"/>
            </a:solidFill>
          </p:spPr>
        </p:sp>
        <p:sp>
          <p:nvSpPr>
            <p:cNvPr id="16" name="TextBox 16"/>
            <p:cNvSpPr txBox="1"/>
            <p:nvPr/>
          </p:nvSpPr>
          <p:spPr>
            <a:xfrm>
              <a:off x="0" y="-57150"/>
              <a:ext cx="2187866" cy="252335"/>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144000" y="1333343"/>
            <a:ext cx="8902585" cy="1121593"/>
            <a:chOff x="0" y="0"/>
            <a:chExt cx="4291090" cy="646670"/>
          </a:xfrm>
        </p:grpSpPr>
        <p:sp>
          <p:nvSpPr>
            <p:cNvPr id="18" name="Freeform 18"/>
            <p:cNvSpPr/>
            <p:nvPr/>
          </p:nvSpPr>
          <p:spPr>
            <a:xfrm>
              <a:off x="2340" y="0"/>
              <a:ext cx="4288749" cy="646671"/>
            </a:xfrm>
            <a:custGeom>
              <a:avLst/>
              <a:gdLst/>
              <a:ahLst/>
              <a:cxnLst/>
              <a:rect l="l" t="t" r="r" b="b"/>
              <a:pathLst>
                <a:path w="4288749" h="646671">
                  <a:moveTo>
                    <a:pt x="4244975" y="0"/>
                  </a:moveTo>
                  <a:lnTo>
                    <a:pt x="176115" y="0"/>
                  </a:lnTo>
                  <a:cubicBezTo>
                    <a:pt x="170255" y="0"/>
                    <a:pt x="164880" y="3256"/>
                    <a:pt x="162167" y="8450"/>
                  </a:cubicBezTo>
                  <a:lnTo>
                    <a:pt x="2074" y="314886"/>
                  </a:lnTo>
                  <a:cubicBezTo>
                    <a:pt x="-691" y="320179"/>
                    <a:pt x="-691" y="326491"/>
                    <a:pt x="2074" y="331785"/>
                  </a:cubicBezTo>
                  <a:lnTo>
                    <a:pt x="162167" y="638221"/>
                  </a:lnTo>
                  <a:cubicBezTo>
                    <a:pt x="164880" y="643415"/>
                    <a:pt x="170255" y="646671"/>
                    <a:pt x="176115" y="646671"/>
                  </a:cubicBezTo>
                  <a:lnTo>
                    <a:pt x="4244975" y="646671"/>
                  </a:lnTo>
                  <a:cubicBezTo>
                    <a:pt x="4244975" y="646671"/>
                    <a:pt x="4288750" y="551140"/>
                    <a:pt x="4288750" y="323335"/>
                  </a:cubicBezTo>
                  <a:cubicBezTo>
                    <a:pt x="4288750" y="95531"/>
                    <a:pt x="4244975" y="0"/>
                    <a:pt x="4244975" y="0"/>
                  </a:cubicBezTo>
                  <a:close/>
                </a:path>
              </a:pathLst>
            </a:custGeom>
            <a:solidFill>
              <a:srgbClr val="FF914D"/>
            </a:solidFill>
          </p:spPr>
        </p:sp>
        <p:sp>
          <p:nvSpPr>
            <p:cNvPr id="19" name="TextBox 19"/>
            <p:cNvSpPr txBox="1"/>
            <p:nvPr/>
          </p:nvSpPr>
          <p:spPr>
            <a:xfrm>
              <a:off x="184150" y="-57150"/>
              <a:ext cx="4062490" cy="70382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9144000" y="2560684"/>
            <a:ext cx="8882397" cy="7441811"/>
            <a:chOff x="0" y="0"/>
            <a:chExt cx="2339397" cy="1959983"/>
          </a:xfrm>
        </p:grpSpPr>
        <p:sp>
          <p:nvSpPr>
            <p:cNvPr id="21" name="Freeform 21"/>
            <p:cNvSpPr/>
            <p:nvPr/>
          </p:nvSpPr>
          <p:spPr>
            <a:xfrm>
              <a:off x="0" y="0"/>
              <a:ext cx="2339397" cy="1959983"/>
            </a:xfrm>
            <a:custGeom>
              <a:avLst/>
              <a:gdLst/>
              <a:ahLst/>
              <a:cxnLst/>
              <a:rect l="l" t="t" r="r" b="b"/>
              <a:pathLst>
                <a:path w="2339397" h="1959983">
                  <a:moveTo>
                    <a:pt x="44452" y="0"/>
                  </a:moveTo>
                  <a:lnTo>
                    <a:pt x="2294945" y="0"/>
                  </a:lnTo>
                  <a:cubicBezTo>
                    <a:pt x="2319495" y="0"/>
                    <a:pt x="2339397" y="19902"/>
                    <a:pt x="2339397" y="44452"/>
                  </a:cubicBezTo>
                  <a:lnTo>
                    <a:pt x="2339397" y="1915532"/>
                  </a:lnTo>
                  <a:cubicBezTo>
                    <a:pt x="2339397" y="1927321"/>
                    <a:pt x="2334713" y="1938627"/>
                    <a:pt x="2326377" y="1946964"/>
                  </a:cubicBezTo>
                  <a:cubicBezTo>
                    <a:pt x="2318041" y="1955300"/>
                    <a:pt x="2306734" y="1959983"/>
                    <a:pt x="2294945" y="1959983"/>
                  </a:cubicBezTo>
                  <a:lnTo>
                    <a:pt x="44452" y="1959983"/>
                  </a:lnTo>
                  <a:cubicBezTo>
                    <a:pt x="32662" y="1959983"/>
                    <a:pt x="21356" y="1955300"/>
                    <a:pt x="13020" y="1946964"/>
                  </a:cubicBezTo>
                  <a:cubicBezTo>
                    <a:pt x="4683" y="1938627"/>
                    <a:pt x="0" y="1927321"/>
                    <a:pt x="0" y="1915532"/>
                  </a:cubicBezTo>
                  <a:lnTo>
                    <a:pt x="0" y="44452"/>
                  </a:lnTo>
                  <a:cubicBezTo>
                    <a:pt x="0" y="32662"/>
                    <a:pt x="4683" y="21356"/>
                    <a:pt x="13020" y="13020"/>
                  </a:cubicBezTo>
                  <a:cubicBezTo>
                    <a:pt x="21356" y="4683"/>
                    <a:pt x="32662" y="0"/>
                    <a:pt x="44452" y="0"/>
                  </a:cubicBezTo>
                  <a:close/>
                </a:path>
              </a:pathLst>
            </a:custGeom>
            <a:solidFill>
              <a:srgbClr val="F4E3BD"/>
            </a:solidFill>
          </p:spPr>
        </p:sp>
        <p:sp>
          <p:nvSpPr>
            <p:cNvPr id="22" name="TextBox 22"/>
            <p:cNvSpPr txBox="1"/>
            <p:nvPr/>
          </p:nvSpPr>
          <p:spPr>
            <a:xfrm>
              <a:off x="0" y="-57150"/>
              <a:ext cx="2339397" cy="201713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9521504" y="2693420"/>
            <a:ext cx="8167766" cy="741095"/>
            <a:chOff x="0" y="0"/>
            <a:chExt cx="2151181" cy="195185"/>
          </a:xfrm>
        </p:grpSpPr>
        <p:sp>
          <p:nvSpPr>
            <p:cNvPr id="24" name="Freeform 24"/>
            <p:cNvSpPr/>
            <p:nvPr/>
          </p:nvSpPr>
          <p:spPr>
            <a:xfrm>
              <a:off x="0" y="0"/>
              <a:ext cx="2151181" cy="195185"/>
            </a:xfrm>
            <a:custGeom>
              <a:avLst/>
              <a:gdLst/>
              <a:ahLst/>
              <a:cxnLst/>
              <a:rect l="l" t="t" r="r" b="b"/>
              <a:pathLst>
                <a:path w="2151181" h="195185">
                  <a:moveTo>
                    <a:pt x="48341" y="0"/>
                  </a:moveTo>
                  <a:lnTo>
                    <a:pt x="2102840" y="0"/>
                  </a:lnTo>
                  <a:cubicBezTo>
                    <a:pt x="2115661" y="0"/>
                    <a:pt x="2127957" y="5093"/>
                    <a:pt x="2137022" y="14159"/>
                  </a:cubicBezTo>
                  <a:cubicBezTo>
                    <a:pt x="2146088" y="23224"/>
                    <a:pt x="2151181" y="35520"/>
                    <a:pt x="2151181" y="48341"/>
                  </a:cubicBezTo>
                  <a:lnTo>
                    <a:pt x="2151181" y="146844"/>
                  </a:lnTo>
                  <a:cubicBezTo>
                    <a:pt x="2151181" y="173542"/>
                    <a:pt x="2129538" y="195185"/>
                    <a:pt x="2102840" y="195185"/>
                  </a:cubicBezTo>
                  <a:lnTo>
                    <a:pt x="48341" y="195185"/>
                  </a:lnTo>
                  <a:cubicBezTo>
                    <a:pt x="35520" y="195185"/>
                    <a:pt x="23224" y="190092"/>
                    <a:pt x="14159" y="181027"/>
                  </a:cubicBezTo>
                  <a:cubicBezTo>
                    <a:pt x="5093" y="171961"/>
                    <a:pt x="0" y="159665"/>
                    <a:pt x="0" y="146844"/>
                  </a:cubicBezTo>
                  <a:lnTo>
                    <a:pt x="0" y="48341"/>
                  </a:lnTo>
                  <a:cubicBezTo>
                    <a:pt x="0" y="35520"/>
                    <a:pt x="5093" y="23224"/>
                    <a:pt x="14159" y="14159"/>
                  </a:cubicBezTo>
                  <a:cubicBezTo>
                    <a:pt x="23224" y="5093"/>
                    <a:pt x="35520" y="0"/>
                    <a:pt x="48341" y="0"/>
                  </a:cubicBezTo>
                  <a:close/>
                </a:path>
              </a:pathLst>
            </a:custGeom>
            <a:solidFill>
              <a:srgbClr val="EDAC4C"/>
            </a:solidFill>
          </p:spPr>
        </p:sp>
        <p:sp>
          <p:nvSpPr>
            <p:cNvPr id="25" name="TextBox 25"/>
            <p:cNvSpPr txBox="1"/>
            <p:nvPr/>
          </p:nvSpPr>
          <p:spPr>
            <a:xfrm>
              <a:off x="0" y="-57150"/>
              <a:ext cx="2151181" cy="252335"/>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028700" y="6581112"/>
            <a:ext cx="4795383" cy="915623"/>
          </a:xfrm>
          <a:custGeom>
            <a:avLst/>
            <a:gdLst/>
            <a:ahLst/>
            <a:cxnLst/>
            <a:rect l="l" t="t" r="r" b="b"/>
            <a:pathLst>
              <a:path w="4795383" h="915623">
                <a:moveTo>
                  <a:pt x="0" y="0"/>
                </a:moveTo>
                <a:lnTo>
                  <a:pt x="4795383" y="0"/>
                </a:lnTo>
                <a:lnTo>
                  <a:pt x="4795383" y="915623"/>
                </a:lnTo>
                <a:lnTo>
                  <a:pt x="0" y="915623"/>
                </a:lnTo>
                <a:lnTo>
                  <a:pt x="0" y="0"/>
                </a:lnTo>
                <a:close/>
              </a:path>
            </a:pathLst>
          </a:custGeom>
          <a:blipFill>
            <a:blip r:embed="rId6"/>
            <a:stretch>
              <a:fillRect/>
            </a:stretch>
          </a:blipFill>
        </p:spPr>
      </p:sp>
      <p:sp>
        <p:nvSpPr>
          <p:cNvPr id="27" name="Freeform 27"/>
          <p:cNvSpPr/>
          <p:nvPr/>
        </p:nvSpPr>
        <p:spPr>
          <a:xfrm>
            <a:off x="10463255" y="6581112"/>
            <a:ext cx="4561211" cy="798441"/>
          </a:xfrm>
          <a:custGeom>
            <a:avLst/>
            <a:gdLst/>
            <a:ahLst/>
            <a:cxnLst/>
            <a:rect l="l" t="t" r="r" b="b"/>
            <a:pathLst>
              <a:path w="4561211" h="798441">
                <a:moveTo>
                  <a:pt x="0" y="0"/>
                </a:moveTo>
                <a:lnTo>
                  <a:pt x="4561211" y="0"/>
                </a:lnTo>
                <a:lnTo>
                  <a:pt x="4561211" y="798441"/>
                </a:lnTo>
                <a:lnTo>
                  <a:pt x="0" y="798441"/>
                </a:lnTo>
                <a:lnTo>
                  <a:pt x="0" y="0"/>
                </a:lnTo>
                <a:close/>
              </a:path>
            </a:pathLst>
          </a:custGeom>
          <a:blipFill>
            <a:blip r:embed="rId7"/>
            <a:stretch>
              <a:fillRect b="-24024"/>
            </a:stretch>
          </a:blipFill>
        </p:spPr>
      </p:sp>
      <p:sp>
        <p:nvSpPr>
          <p:cNvPr id="28" name="TextBox 28"/>
          <p:cNvSpPr txBox="1"/>
          <p:nvPr/>
        </p:nvSpPr>
        <p:spPr>
          <a:xfrm>
            <a:off x="11977415" y="2579120"/>
            <a:ext cx="3694529" cy="1760065"/>
          </a:xfrm>
          <a:prstGeom prst="rect">
            <a:avLst/>
          </a:prstGeom>
        </p:spPr>
        <p:txBody>
          <a:bodyPr lIns="0" tIns="0" rIns="0" bIns="0" rtlCol="0" anchor="t">
            <a:spAutoFit/>
          </a:bodyPr>
          <a:lstStyle/>
          <a:p>
            <a:pPr algn="ctr">
              <a:lnSpc>
                <a:spcPts val="6378"/>
              </a:lnSpc>
              <a:spcBef>
                <a:spcPct val="0"/>
              </a:spcBef>
            </a:pPr>
            <a:r>
              <a:rPr lang="en-US" sz="4556" b="1">
                <a:solidFill>
                  <a:srgbClr val="000000"/>
                </a:solidFill>
                <a:latin typeface="Times New Roman Bold"/>
                <a:ea typeface="Times New Roman Bold"/>
                <a:cs typeface="Times New Roman Bold"/>
                <a:sym typeface="Times New Roman Bold"/>
              </a:rPr>
              <a:t>Cox Boost</a:t>
            </a:r>
          </a:p>
          <a:p>
            <a:pPr algn="ctr">
              <a:lnSpc>
                <a:spcPts val="7654"/>
              </a:lnSpc>
              <a:spcBef>
                <a:spcPct val="0"/>
              </a:spcBef>
            </a:pPr>
            <a:endParaRPr lang="en-US" sz="4556" b="1">
              <a:solidFill>
                <a:srgbClr val="000000"/>
              </a:solidFill>
              <a:latin typeface="Times New Roman Bold"/>
              <a:ea typeface="Times New Roman Bold"/>
              <a:cs typeface="Times New Roman Bold"/>
              <a:sym typeface="Times New Roman Bold"/>
            </a:endParaRPr>
          </a:p>
        </p:txBody>
      </p:sp>
      <p:sp>
        <p:nvSpPr>
          <p:cNvPr id="29" name="TextBox 29"/>
          <p:cNvSpPr txBox="1"/>
          <p:nvPr/>
        </p:nvSpPr>
        <p:spPr>
          <a:xfrm>
            <a:off x="9361358" y="3554445"/>
            <a:ext cx="8636869" cy="3484478"/>
          </a:xfrm>
          <a:prstGeom prst="rect">
            <a:avLst/>
          </a:prstGeom>
        </p:spPr>
        <p:txBody>
          <a:bodyPr lIns="0" tIns="0" rIns="0" bIns="0" rtlCol="0" anchor="t">
            <a:spAutoFit/>
          </a:bodyPr>
          <a:lstStyle/>
          <a:p>
            <a:pPr marL="716388" lvl="1" indent="-358194" algn="just">
              <a:lnSpc>
                <a:spcPts val="4645"/>
              </a:lnSpc>
              <a:buFont typeface="Arial"/>
              <a:buChar char="•"/>
            </a:pPr>
            <a:r>
              <a:rPr lang="en-US" sz="3318">
                <a:solidFill>
                  <a:srgbClr val="000000"/>
                </a:solidFill>
                <a:latin typeface="Times New Roman"/>
                <a:ea typeface="Times New Roman"/>
                <a:cs typeface="Times New Roman"/>
                <a:sym typeface="Times New Roman"/>
              </a:rPr>
              <a:t>Boosting-based extension of Cox model</a:t>
            </a:r>
          </a:p>
          <a:p>
            <a:pPr marL="716388" lvl="1" indent="-358194" algn="just">
              <a:lnSpc>
                <a:spcPts val="4645"/>
              </a:lnSpc>
              <a:buFont typeface="Arial"/>
              <a:buChar char="•"/>
            </a:pPr>
            <a:r>
              <a:rPr lang="en-US" sz="3318">
                <a:solidFill>
                  <a:srgbClr val="000000"/>
                </a:solidFill>
                <a:latin typeface="Times New Roman"/>
                <a:ea typeface="Times New Roman"/>
                <a:cs typeface="Times New Roman"/>
                <a:sym typeface="Times New Roman"/>
              </a:rPr>
              <a:t>Builds model iteratively (step-by-step)</a:t>
            </a:r>
          </a:p>
          <a:p>
            <a:pPr marL="716388" lvl="1" indent="-358194" algn="just">
              <a:lnSpc>
                <a:spcPts val="4645"/>
              </a:lnSpc>
              <a:buFont typeface="Arial"/>
              <a:buChar char="•"/>
            </a:pPr>
            <a:r>
              <a:rPr lang="en-US" sz="3318">
                <a:solidFill>
                  <a:srgbClr val="000000"/>
                </a:solidFill>
                <a:latin typeface="Times New Roman"/>
                <a:ea typeface="Times New Roman"/>
                <a:cs typeface="Times New Roman"/>
                <a:sym typeface="Times New Roman"/>
              </a:rPr>
              <a:t>Updates coefficients using learning rate</a:t>
            </a:r>
          </a:p>
          <a:p>
            <a:pPr marL="716388" lvl="1" indent="-358194" algn="just">
              <a:lnSpc>
                <a:spcPts val="4645"/>
              </a:lnSpc>
              <a:buFont typeface="Arial"/>
              <a:buChar char="•"/>
            </a:pPr>
            <a:r>
              <a:rPr lang="en-US" sz="3318">
                <a:solidFill>
                  <a:srgbClr val="000000"/>
                </a:solidFill>
                <a:latin typeface="Times New Roman"/>
                <a:ea typeface="Times New Roman"/>
                <a:cs typeface="Times New Roman"/>
                <a:sym typeface="Times New Roman"/>
              </a:rPr>
              <a:t>Performs automatic feature selection</a:t>
            </a:r>
          </a:p>
          <a:p>
            <a:pPr marL="716388" lvl="1" indent="-358194" algn="just">
              <a:lnSpc>
                <a:spcPts val="4645"/>
              </a:lnSpc>
              <a:buFont typeface="Arial"/>
              <a:buChar char="•"/>
            </a:pPr>
            <a:r>
              <a:rPr lang="en-US" sz="3318">
                <a:solidFill>
                  <a:srgbClr val="000000"/>
                </a:solidFill>
                <a:latin typeface="Times New Roman"/>
                <a:ea typeface="Times New Roman"/>
                <a:cs typeface="Times New Roman"/>
                <a:sym typeface="Times New Roman"/>
              </a:rPr>
              <a:t>Suitable for high-dimensional data</a:t>
            </a:r>
          </a:p>
          <a:p>
            <a:pPr algn="just">
              <a:lnSpc>
                <a:spcPts val="4645"/>
              </a:lnSpc>
              <a:spcBef>
                <a:spcPct val="0"/>
              </a:spcBef>
            </a:pPr>
            <a:endParaRPr lang="en-US" sz="3318">
              <a:solidFill>
                <a:srgbClr val="000000"/>
              </a:solidFill>
              <a:latin typeface="Times New Roman"/>
              <a:ea typeface="Times New Roman"/>
              <a:cs typeface="Times New Roman"/>
              <a:sym typeface="Times New Roman"/>
            </a:endParaRPr>
          </a:p>
        </p:txBody>
      </p:sp>
      <p:sp>
        <p:nvSpPr>
          <p:cNvPr id="30" name="TextBox 30"/>
          <p:cNvSpPr txBox="1"/>
          <p:nvPr/>
        </p:nvSpPr>
        <p:spPr>
          <a:xfrm>
            <a:off x="8592648" y="141628"/>
            <a:ext cx="8666652"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MODEL SELECTION</a:t>
            </a:r>
          </a:p>
        </p:txBody>
      </p:sp>
      <p:sp>
        <p:nvSpPr>
          <p:cNvPr id="31" name="TextBox 31"/>
          <p:cNvSpPr txBox="1"/>
          <p:nvPr/>
        </p:nvSpPr>
        <p:spPr>
          <a:xfrm>
            <a:off x="9807535" y="1336474"/>
            <a:ext cx="7595704" cy="1107996"/>
          </a:xfrm>
          <a:prstGeom prst="rect">
            <a:avLst/>
          </a:prstGeom>
        </p:spPr>
        <p:txBody>
          <a:bodyPr wrap="square" lIns="0" tIns="0" rIns="0" bIns="0" rtlCol="0" anchor="t">
            <a:spAutoFit/>
          </a:bodyPr>
          <a:lstStyle/>
          <a:p>
            <a:pPr algn="ctr"/>
            <a:r>
              <a:rPr lang="en-US" sz="3600" b="1" dirty="0">
                <a:solidFill>
                  <a:srgbClr val="000000"/>
                </a:solidFill>
                <a:latin typeface="Times New Roman Bold"/>
                <a:ea typeface="Times New Roman Bold"/>
                <a:cs typeface="Times New Roman Bold"/>
                <a:sym typeface="Times New Roman Bold"/>
              </a:rPr>
              <a:t>Penalized Regression and </a:t>
            </a:r>
          </a:p>
          <a:p>
            <a:pPr algn="ctr">
              <a:spcBef>
                <a:spcPct val="0"/>
              </a:spcBef>
            </a:pPr>
            <a:r>
              <a:rPr lang="en-US" sz="3600" b="1" dirty="0">
                <a:solidFill>
                  <a:srgbClr val="000000"/>
                </a:solidFill>
                <a:latin typeface="Times New Roman Bold"/>
                <a:ea typeface="Times New Roman Bold"/>
                <a:cs typeface="Times New Roman Bold"/>
                <a:sym typeface="Times New Roman Bold"/>
              </a:rPr>
              <a:t>Boosting Models</a:t>
            </a:r>
          </a:p>
        </p:txBody>
      </p:sp>
      <p:sp>
        <p:nvSpPr>
          <p:cNvPr id="32" name="TextBox 32"/>
          <p:cNvSpPr txBox="1"/>
          <p:nvPr/>
        </p:nvSpPr>
        <p:spPr>
          <a:xfrm>
            <a:off x="985204" y="2588645"/>
            <a:ext cx="6633972" cy="691516"/>
          </a:xfrm>
          <a:prstGeom prst="rect">
            <a:avLst/>
          </a:prstGeom>
        </p:spPr>
        <p:txBody>
          <a:bodyPr lIns="0" tIns="0" rIns="0" bIns="0" rtlCol="0" anchor="t">
            <a:spAutoFit/>
          </a:bodyPr>
          <a:lstStyle/>
          <a:p>
            <a:pPr algn="ctr">
              <a:lnSpc>
                <a:spcPts val="5459"/>
              </a:lnSpc>
              <a:spcBef>
                <a:spcPct val="0"/>
              </a:spcBef>
            </a:pPr>
            <a:r>
              <a:rPr lang="en-US" sz="3899" b="1">
                <a:solidFill>
                  <a:srgbClr val="000000"/>
                </a:solidFill>
                <a:latin typeface="Times New Roman Bold"/>
                <a:ea typeface="Times New Roman Bold"/>
                <a:cs typeface="Times New Roman Bold"/>
                <a:sym typeface="Times New Roman Bold"/>
              </a:rPr>
              <a:t>Cox Lasso</a:t>
            </a:r>
          </a:p>
        </p:txBody>
      </p:sp>
      <p:sp>
        <p:nvSpPr>
          <p:cNvPr id="33" name="TextBox 33"/>
          <p:cNvSpPr txBox="1"/>
          <p:nvPr/>
        </p:nvSpPr>
        <p:spPr>
          <a:xfrm>
            <a:off x="9164188" y="7411010"/>
            <a:ext cx="9759363" cy="2941339"/>
          </a:xfrm>
          <a:prstGeom prst="rect">
            <a:avLst/>
          </a:prstGeom>
        </p:spPr>
        <p:txBody>
          <a:bodyPr lIns="0" tIns="0" rIns="0" bIns="0" rtlCol="0" anchor="t">
            <a:spAutoFit/>
          </a:bodyPr>
          <a:lstStyle/>
          <a:p>
            <a:pPr marL="722066" lvl="1" indent="-361033" algn="l">
              <a:lnSpc>
                <a:spcPts val="4682"/>
              </a:lnSpc>
              <a:buFont typeface="Arial"/>
              <a:buChar char="•"/>
            </a:pPr>
            <a:r>
              <a:rPr lang="en-US" sz="3344">
                <a:solidFill>
                  <a:srgbClr val="000000"/>
                </a:solidFill>
                <a:latin typeface="Times New Roman"/>
                <a:ea typeface="Times New Roman"/>
                <a:cs typeface="Times New Roman"/>
                <a:sym typeface="Times New Roman"/>
              </a:rPr>
              <a:t>β^m: coefficients at iteration m</a:t>
            </a:r>
          </a:p>
          <a:p>
            <a:pPr marL="722066" lvl="1" indent="-361033" algn="l">
              <a:lnSpc>
                <a:spcPts val="4682"/>
              </a:lnSpc>
              <a:buFont typeface="Arial"/>
              <a:buChar char="•"/>
            </a:pPr>
            <a:r>
              <a:rPr lang="en-US" sz="3344">
                <a:solidFill>
                  <a:srgbClr val="000000"/>
                </a:solidFill>
                <a:latin typeface="Times New Roman"/>
                <a:ea typeface="Times New Roman"/>
                <a:cs typeface="Times New Roman"/>
                <a:sym typeface="Times New Roman"/>
              </a:rPr>
              <a:t>ν : learning rate</a:t>
            </a:r>
          </a:p>
          <a:p>
            <a:pPr marL="722066" lvl="1" indent="-361033" algn="l">
              <a:lnSpc>
                <a:spcPts val="4682"/>
              </a:lnSpc>
              <a:buFont typeface="Arial"/>
              <a:buChar char="•"/>
            </a:pPr>
            <a:r>
              <a:rPr lang="en-US" sz="3344">
                <a:solidFill>
                  <a:srgbClr val="000000"/>
                </a:solidFill>
                <a:latin typeface="Times New Roman"/>
                <a:ea typeface="Times New Roman"/>
                <a:cs typeface="Times New Roman"/>
                <a:sym typeface="Times New Roman"/>
              </a:rPr>
              <a:t>Δβj : update for selected variable</a:t>
            </a:r>
          </a:p>
          <a:p>
            <a:pPr marL="722066" lvl="1" indent="-361033" algn="l">
              <a:lnSpc>
                <a:spcPts val="4682"/>
              </a:lnSpc>
              <a:buFont typeface="Arial"/>
              <a:buChar char="•"/>
            </a:pPr>
            <a:r>
              <a:rPr lang="en-US" sz="3344">
                <a:solidFill>
                  <a:srgbClr val="000000"/>
                </a:solidFill>
                <a:latin typeface="Times New Roman"/>
                <a:ea typeface="Times New Roman"/>
                <a:cs typeface="Times New Roman"/>
                <a:sym typeface="Times New Roman"/>
              </a:rPr>
              <a:t>Iteratively improves model using boosting</a:t>
            </a:r>
          </a:p>
          <a:p>
            <a:pPr algn="l">
              <a:lnSpc>
                <a:spcPts val="4682"/>
              </a:lnSpc>
              <a:spcBef>
                <a:spcPct val="0"/>
              </a:spcBef>
            </a:pPr>
            <a:endParaRPr lang="en-US" sz="3344">
              <a:solidFill>
                <a:srgbClr val="000000"/>
              </a:solidFill>
              <a:latin typeface="Times New Roman"/>
              <a:ea typeface="Times New Roman"/>
              <a:cs typeface="Times New Roman"/>
              <a:sym typeface="Times New Roman"/>
            </a:endParaRPr>
          </a:p>
        </p:txBody>
      </p:sp>
      <p:sp>
        <p:nvSpPr>
          <p:cNvPr id="34" name="TextBox 34"/>
          <p:cNvSpPr txBox="1"/>
          <p:nvPr/>
        </p:nvSpPr>
        <p:spPr>
          <a:xfrm>
            <a:off x="370553" y="3554445"/>
            <a:ext cx="8450853" cy="2953438"/>
          </a:xfrm>
          <a:prstGeom prst="rect">
            <a:avLst/>
          </a:prstGeom>
        </p:spPr>
        <p:txBody>
          <a:bodyPr lIns="0" tIns="0" rIns="0" bIns="0" rtlCol="0" anchor="t">
            <a:spAutoFit/>
          </a:bodyPr>
          <a:lstStyle/>
          <a:p>
            <a:pPr marL="722819" lvl="1" indent="-361409" algn="just">
              <a:lnSpc>
                <a:spcPts val="4687"/>
              </a:lnSpc>
              <a:buFont typeface="Arial"/>
              <a:buChar char="•"/>
            </a:pPr>
            <a:r>
              <a:rPr lang="en-US" sz="3347">
                <a:solidFill>
                  <a:srgbClr val="000000"/>
                </a:solidFill>
                <a:latin typeface="Times New Roman"/>
                <a:ea typeface="Times New Roman"/>
                <a:cs typeface="Times New Roman"/>
                <a:sym typeface="Times New Roman"/>
              </a:rPr>
              <a:t>Penalized Cox model with L1 regularization</a:t>
            </a:r>
          </a:p>
          <a:p>
            <a:pPr marL="722819" lvl="1" indent="-361409" algn="just">
              <a:lnSpc>
                <a:spcPts val="4687"/>
              </a:lnSpc>
              <a:buFont typeface="Arial"/>
              <a:buChar char="•"/>
            </a:pPr>
            <a:r>
              <a:rPr lang="en-US" sz="3347">
                <a:solidFill>
                  <a:srgbClr val="000000"/>
                </a:solidFill>
                <a:latin typeface="Times New Roman"/>
                <a:ea typeface="Times New Roman"/>
                <a:cs typeface="Times New Roman"/>
                <a:sym typeface="Times New Roman"/>
              </a:rPr>
              <a:t>Shrinks coefficients → automatic feature selection</a:t>
            </a:r>
          </a:p>
          <a:p>
            <a:pPr marL="722819" lvl="1" indent="-361409" algn="just">
              <a:lnSpc>
                <a:spcPts val="4687"/>
              </a:lnSpc>
              <a:buFont typeface="Arial"/>
              <a:buChar char="•"/>
            </a:pPr>
            <a:r>
              <a:rPr lang="en-US" sz="3347">
                <a:solidFill>
                  <a:srgbClr val="000000"/>
                </a:solidFill>
                <a:latin typeface="Times New Roman"/>
                <a:ea typeface="Times New Roman"/>
                <a:cs typeface="Times New Roman"/>
                <a:sym typeface="Times New Roman"/>
              </a:rPr>
              <a:t>Reduces overfitting</a:t>
            </a:r>
          </a:p>
          <a:p>
            <a:pPr marL="722819" lvl="1" indent="-361409" algn="just">
              <a:lnSpc>
                <a:spcPts val="4687"/>
              </a:lnSpc>
              <a:spcBef>
                <a:spcPct val="0"/>
              </a:spcBef>
              <a:buFont typeface="Arial"/>
              <a:buChar char="•"/>
            </a:pPr>
            <a:r>
              <a:rPr lang="en-US" sz="3347">
                <a:solidFill>
                  <a:srgbClr val="000000"/>
                </a:solidFill>
                <a:latin typeface="Times New Roman"/>
                <a:ea typeface="Times New Roman"/>
                <a:cs typeface="Times New Roman"/>
                <a:sym typeface="Times New Roman"/>
              </a:rPr>
              <a:t>Suitable for high-dimensional data</a:t>
            </a:r>
          </a:p>
        </p:txBody>
      </p:sp>
      <p:sp>
        <p:nvSpPr>
          <p:cNvPr id="35" name="TextBox 35"/>
          <p:cNvSpPr txBox="1"/>
          <p:nvPr/>
        </p:nvSpPr>
        <p:spPr>
          <a:xfrm>
            <a:off x="331838" y="7753910"/>
            <a:ext cx="8528282" cy="1955221"/>
          </a:xfrm>
          <a:prstGeom prst="rect">
            <a:avLst/>
          </a:prstGeom>
        </p:spPr>
        <p:txBody>
          <a:bodyPr lIns="0" tIns="0" rIns="0" bIns="0" rtlCol="0" anchor="t">
            <a:spAutoFit/>
          </a:bodyPr>
          <a:lstStyle/>
          <a:p>
            <a:pPr marL="796353" lvl="1" indent="-398176" algn="l">
              <a:lnSpc>
                <a:spcPts val="5163"/>
              </a:lnSpc>
              <a:buFont typeface="Arial"/>
              <a:buChar char="•"/>
            </a:pPr>
            <a:r>
              <a:rPr lang="en-US" sz="3688">
                <a:solidFill>
                  <a:srgbClr val="000000"/>
                </a:solidFill>
                <a:latin typeface="Times New Roman"/>
                <a:ea typeface="Times New Roman"/>
                <a:cs typeface="Times New Roman"/>
                <a:sym typeface="Times New Roman"/>
              </a:rPr>
              <a:t>L(β): partial likelihood</a:t>
            </a:r>
          </a:p>
          <a:p>
            <a:pPr marL="796353" lvl="1" indent="-398176" algn="l">
              <a:lnSpc>
                <a:spcPts val="5163"/>
              </a:lnSpc>
              <a:buFont typeface="Arial"/>
              <a:buChar char="•"/>
            </a:pPr>
            <a:r>
              <a:rPr lang="en-US" sz="3688">
                <a:solidFill>
                  <a:srgbClr val="000000"/>
                </a:solidFill>
                <a:latin typeface="Times New Roman"/>
                <a:ea typeface="Times New Roman"/>
                <a:cs typeface="Times New Roman"/>
                <a:sym typeface="Times New Roman"/>
              </a:rPr>
              <a:t>λ: regularization parameter</a:t>
            </a:r>
          </a:p>
          <a:p>
            <a:pPr marL="796353" lvl="1" indent="-398176" algn="l">
              <a:lnSpc>
                <a:spcPts val="5163"/>
              </a:lnSpc>
              <a:spcBef>
                <a:spcPct val="0"/>
              </a:spcBef>
              <a:buFont typeface="Arial"/>
              <a:buChar char="•"/>
            </a:pPr>
            <a:r>
              <a:rPr lang="en-US" sz="3688">
                <a:solidFill>
                  <a:srgbClr val="000000"/>
                </a:solidFill>
                <a:latin typeface="Times New Roman"/>
                <a:ea typeface="Times New Roman"/>
                <a:cs typeface="Times New Roman"/>
                <a:sym typeface="Times New Roman"/>
              </a:rPr>
              <a:t>βj​: coefficients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D49C"/>
        </a:solidFill>
        <a:effectLst/>
      </p:bgPr>
    </p:bg>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9525" y="723900"/>
            <a:ext cx="7378398" cy="1252243"/>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grpSp>
        <p:nvGrpSpPr>
          <p:cNvPr id="11" name="Group 11"/>
          <p:cNvGrpSpPr/>
          <p:nvPr/>
        </p:nvGrpSpPr>
        <p:grpSpPr>
          <a:xfrm>
            <a:off x="9951473" y="1460400"/>
            <a:ext cx="7307827" cy="881260"/>
            <a:chOff x="0" y="0"/>
            <a:chExt cx="3718436" cy="448411"/>
          </a:xfrm>
        </p:grpSpPr>
        <p:sp>
          <p:nvSpPr>
            <p:cNvPr id="12" name="Freeform 12"/>
            <p:cNvSpPr/>
            <p:nvPr/>
          </p:nvSpPr>
          <p:spPr>
            <a:xfrm>
              <a:off x="3876" y="0"/>
              <a:ext cx="3714560" cy="448411"/>
            </a:xfrm>
            <a:custGeom>
              <a:avLst/>
              <a:gdLst/>
              <a:ahLst/>
              <a:cxnLst/>
              <a:rect l="l" t="t" r="r" b="b"/>
              <a:pathLst>
                <a:path w="3714560" h="448411">
                  <a:moveTo>
                    <a:pt x="3670786" y="0"/>
                  </a:moveTo>
                  <a:lnTo>
                    <a:pt x="176633" y="0"/>
                  </a:lnTo>
                  <a:cubicBezTo>
                    <a:pt x="169336" y="0"/>
                    <a:pt x="162463" y="3427"/>
                    <a:pt x="158073" y="9255"/>
                  </a:cubicBezTo>
                  <a:lnTo>
                    <a:pt x="3097" y="214951"/>
                  </a:lnTo>
                  <a:cubicBezTo>
                    <a:pt x="-1032" y="220430"/>
                    <a:pt x="-1032" y="227981"/>
                    <a:pt x="3097" y="233460"/>
                  </a:cubicBezTo>
                  <a:lnTo>
                    <a:pt x="158073" y="439156"/>
                  </a:lnTo>
                  <a:cubicBezTo>
                    <a:pt x="162463" y="444984"/>
                    <a:pt x="169336" y="448411"/>
                    <a:pt x="176633" y="448411"/>
                  </a:cubicBezTo>
                  <a:lnTo>
                    <a:pt x="3670786" y="448411"/>
                  </a:lnTo>
                  <a:cubicBezTo>
                    <a:pt x="3670786" y="448411"/>
                    <a:pt x="3714560" y="382168"/>
                    <a:pt x="3714560" y="224205"/>
                  </a:cubicBezTo>
                  <a:cubicBezTo>
                    <a:pt x="3714560" y="66243"/>
                    <a:pt x="3670786" y="0"/>
                    <a:pt x="3670786" y="0"/>
                  </a:cubicBezTo>
                  <a:close/>
                </a:path>
              </a:pathLst>
            </a:custGeom>
            <a:solidFill>
              <a:srgbClr val="FF914D"/>
            </a:solidFill>
          </p:spPr>
        </p:sp>
        <p:sp>
          <p:nvSpPr>
            <p:cNvPr id="13" name="TextBox 13"/>
            <p:cNvSpPr txBox="1"/>
            <p:nvPr/>
          </p:nvSpPr>
          <p:spPr>
            <a:xfrm>
              <a:off x="184150" y="-57150"/>
              <a:ext cx="3489836" cy="50556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299182" y="2507924"/>
            <a:ext cx="8844818" cy="7531973"/>
            <a:chOff x="0" y="0"/>
            <a:chExt cx="2329499" cy="1983729"/>
          </a:xfrm>
        </p:grpSpPr>
        <p:sp>
          <p:nvSpPr>
            <p:cNvPr id="15" name="Freeform 15"/>
            <p:cNvSpPr/>
            <p:nvPr/>
          </p:nvSpPr>
          <p:spPr>
            <a:xfrm>
              <a:off x="0" y="0"/>
              <a:ext cx="2329499" cy="1983729"/>
            </a:xfrm>
            <a:custGeom>
              <a:avLst/>
              <a:gdLst/>
              <a:ahLst/>
              <a:cxnLst/>
              <a:rect l="l" t="t" r="r" b="b"/>
              <a:pathLst>
                <a:path w="2329499" h="1983729">
                  <a:moveTo>
                    <a:pt x="44641" y="0"/>
                  </a:moveTo>
                  <a:lnTo>
                    <a:pt x="2284859" y="0"/>
                  </a:lnTo>
                  <a:cubicBezTo>
                    <a:pt x="2309513" y="0"/>
                    <a:pt x="2329499" y="19986"/>
                    <a:pt x="2329499" y="44641"/>
                  </a:cubicBezTo>
                  <a:lnTo>
                    <a:pt x="2329499" y="1939089"/>
                  </a:lnTo>
                  <a:cubicBezTo>
                    <a:pt x="2329499" y="1963743"/>
                    <a:pt x="2309513" y="1983729"/>
                    <a:pt x="2284859" y="1983729"/>
                  </a:cubicBezTo>
                  <a:lnTo>
                    <a:pt x="44641" y="1983729"/>
                  </a:lnTo>
                  <a:cubicBezTo>
                    <a:pt x="32801" y="1983729"/>
                    <a:pt x="21447" y="1979026"/>
                    <a:pt x="13075" y="1970655"/>
                  </a:cubicBezTo>
                  <a:cubicBezTo>
                    <a:pt x="4703" y="1962283"/>
                    <a:pt x="0" y="1950928"/>
                    <a:pt x="0" y="1939089"/>
                  </a:cubicBezTo>
                  <a:lnTo>
                    <a:pt x="0" y="44641"/>
                  </a:lnTo>
                  <a:cubicBezTo>
                    <a:pt x="0" y="19986"/>
                    <a:pt x="19986" y="0"/>
                    <a:pt x="44641" y="0"/>
                  </a:cubicBezTo>
                  <a:close/>
                </a:path>
              </a:pathLst>
            </a:custGeom>
            <a:solidFill>
              <a:srgbClr val="F4E3BD"/>
            </a:solidFill>
          </p:spPr>
        </p:sp>
        <p:sp>
          <p:nvSpPr>
            <p:cNvPr id="16" name="TextBox 16"/>
            <p:cNvSpPr txBox="1"/>
            <p:nvPr/>
          </p:nvSpPr>
          <p:spPr>
            <a:xfrm>
              <a:off x="0" y="-57150"/>
              <a:ext cx="2329499" cy="2040879"/>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354098" y="2507924"/>
            <a:ext cx="8654424" cy="7531973"/>
            <a:chOff x="0" y="0"/>
            <a:chExt cx="2279354" cy="1983729"/>
          </a:xfrm>
        </p:grpSpPr>
        <p:sp>
          <p:nvSpPr>
            <p:cNvPr id="18" name="Freeform 18"/>
            <p:cNvSpPr/>
            <p:nvPr/>
          </p:nvSpPr>
          <p:spPr>
            <a:xfrm>
              <a:off x="0" y="0"/>
              <a:ext cx="2279354" cy="1983729"/>
            </a:xfrm>
            <a:custGeom>
              <a:avLst/>
              <a:gdLst/>
              <a:ahLst/>
              <a:cxnLst/>
              <a:rect l="l" t="t" r="r" b="b"/>
              <a:pathLst>
                <a:path w="2279354" h="1983729">
                  <a:moveTo>
                    <a:pt x="45623" y="0"/>
                  </a:moveTo>
                  <a:lnTo>
                    <a:pt x="2233732" y="0"/>
                  </a:lnTo>
                  <a:cubicBezTo>
                    <a:pt x="2245832" y="0"/>
                    <a:pt x="2257436" y="4807"/>
                    <a:pt x="2265992" y="13363"/>
                  </a:cubicBezTo>
                  <a:cubicBezTo>
                    <a:pt x="2274548" y="21918"/>
                    <a:pt x="2279354" y="33523"/>
                    <a:pt x="2279354" y="45623"/>
                  </a:cubicBezTo>
                  <a:lnTo>
                    <a:pt x="2279354" y="1938107"/>
                  </a:lnTo>
                  <a:cubicBezTo>
                    <a:pt x="2279354" y="1950207"/>
                    <a:pt x="2274548" y="1961811"/>
                    <a:pt x="2265992" y="1970367"/>
                  </a:cubicBezTo>
                  <a:cubicBezTo>
                    <a:pt x="2257436" y="1978923"/>
                    <a:pt x="2245832" y="1983729"/>
                    <a:pt x="2233732" y="1983729"/>
                  </a:cubicBezTo>
                  <a:lnTo>
                    <a:pt x="45623" y="1983729"/>
                  </a:lnTo>
                  <a:cubicBezTo>
                    <a:pt x="33523" y="1983729"/>
                    <a:pt x="21918" y="1978923"/>
                    <a:pt x="13363" y="1970367"/>
                  </a:cubicBezTo>
                  <a:cubicBezTo>
                    <a:pt x="4807" y="1961811"/>
                    <a:pt x="0" y="1950207"/>
                    <a:pt x="0" y="1938107"/>
                  </a:cubicBezTo>
                  <a:lnTo>
                    <a:pt x="0" y="45623"/>
                  </a:lnTo>
                  <a:cubicBezTo>
                    <a:pt x="0" y="33523"/>
                    <a:pt x="4807" y="21918"/>
                    <a:pt x="13363" y="13363"/>
                  </a:cubicBezTo>
                  <a:cubicBezTo>
                    <a:pt x="21918" y="4807"/>
                    <a:pt x="33523" y="0"/>
                    <a:pt x="45623" y="0"/>
                  </a:cubicBezTo>
                  <a:close/>
                </a:path>
              </a:pathLst>
            </a:custGeom>
            <a:solidFill>
              <a:srgbClr val="F4E3BD"/>
            </a:solidFill>
          </p:spPr>
        </p:sp>
        <p:sp>
          <p:nvSpPr>
            <p:cNvPr id="19" name="TextBox 19"/>
            <p:cNvSpPr txBox="1"/>
            <p:nvPr/>
          </p:nvSpPr>
          <p:spPr>
            <a:xfrm>
              <a:off x="0" y="-57150"/>
              <a:ext cx="2279354" cy="2040879"/>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911361" y="2615617"/>
            <a:ext cx="7620459" cy="741095"/>
            <a:chOff x="0" y="0"/>
            <a:chExt cx="2007035" cy="195185"/>
          </a:xfrm>
        </p:grpSpPr>
        <p:sp>
          <p:nvSpPr>
            <p:cNvPr id="21" name="Freeform 21"/>
            <p:cNvSpPr/>
            <p:nvPr/>
          </p:nvSpPr>
          <p:spPr>
            <a:xfrm>
              <a:off x="0" y="0"/>
              <a:ext cx="2007035" cy="195185"/>
            </a:xfrm>
            <a:custGeom>
              <a:avLst/>
              <a:gdLst/>
              <a:ahLst/>
              <a:cxnLst/>
              <a:rect l="l" t="t" r="r" b="b"/>
              <a:pathLst>
                <a:path w="2007035" h="195185">
                  <a:moveTo>
                    <a:pt x="51813" y="0"/>
                  </a:moveTo>
                  <a:lnTo>
                    <a:pt x="1955222" y="0"/>
                  </a:lnTo>
                  <a:cubicBezTo>
                    <a:pt x="1968963" y="0"/>
                    <a:pt x="1982142" y="5459"/>
                    <a:pt x="1991859" y="15176"/>
                  </a:cubicBezTo>
                  <a:cubicBezTo>
                    <a:pt x="2001576" y="24892"/>
                    <a:pt x="2007035" y="38071"/>
                    <a:pt x="2007035" y="51813"/>
                  </a:cubicBezTo>
                  <a:lnTo>
                    <a:pt x="2007035" y="143373"/>
                  </a:lnTo>
                  <a:cubicBezTo>
                    <a:pt x="2007035" y="157114"/>
                    <a:pt x="2001576" y="170293"/>
                    <a:pt x="1991859" y="180010"/>
                  </a:cubicBezTo>
                  <a:cubicBezTo>
                    <a:pt x="1982142" y="189727"/>
                    <a:pt x="1968963" y="195185"/>
                    <a:pt x="1955222" y="195185"/>
                  </a:cubicBezTo>
                  <a:lnTo>
                    <a:pt x="51813" y="195185"/>
                  </a:lnTo>
                  <a:cubicBezTo>
                    <a:pt x="38071" y="195185"/>
                    <a:pt x="24892" y="189727"/>
                    <a:pt x="15176" y="180010"/>
                  </a:cubicBezTo>
                  <a:cubicBezTo>
                    <a:pt x="5459" y="170293"/>
                    <a:pt x="0" y="157114"/>
                    <a:pt x="0" y="143373"/>
                  </a:cubicBezTo>
                  <a:lnTo>
                    <a:pt x="0" y="51813"/>
                  </a:lnTo>
                  <a:cubicBezTo>
                    <a:pt x="0" y="38071"/>
                    <a:pt x="5459" y="24892"/>
                    <a:pt x="15176" y="15176"/>
                  </a:cubicBezTo>
                  <a:cubicBezTo>
                    <a:pt x="24892" y="5459"/>
                    <a:pt x="38071" y="0"/>
                    <a:pt x="51813" y="0"/>
                  </a:cubicBezTo>
                  <a:close/>
                </a:path>
              </a:pathLst>
            </a:custGeom>
            <a:solidFill>
              <a:srgbClr val="EDAC4C"/>
            </a:solidFill>
          </p:spPr>
        </p:sp>
        <p:sp>
          <p:nvSpPr>
            <p:cNvPr id="22" name="TextBox 22"/>
            <p:cNvSpPr txBox="1"/>
            <p:nvPr/>
          </p:nvSpPr>
          <p:spPr>
            <a:xfrm>
              <a:off x="0" y="-57150"/>
              <a:ext cx="2007035" cy="252335"/>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9854773" y="2615617"/>
            <a:ext cx="7486955" cy="741095"/>
            <a:chOff x="0" y="0"/>
            <a:chExt cx="1971873" cy="195185"/>
          </a:xfrm>
        </p:grpSpPr>
        <p:sp>
          <p:nvSpPr>
            <p:cNvPr id="24" name="Freeform 24"/>
            <p:cNvSpPr/>
            <p:nvPr/>
          </p:nvSpPr>
          <p:spPr>
            <a:xfrm>
              <a:off x="0" y="0"/>
              <a:ext cx="1971873" cy="195185"/>
            </a:xfrm>
            <a:custGeom>
              <a:avLst/>
              <a:gdLst/>
              <a:ahLst/>
              <a:cxnLst/>
              <a:rect l="l" t="t" r="r" b="b"/>
              <a:pathLst>
                <a:path w="1971873" h="195185">
                  <a:moveTo>
                    <a:pt x="52737" y="0"/>
                  </a:moveTo>
                  <a:lnTo>
                    <a:pt x="1919136" y="0"/>
                  </a:lnTo>
                  <a:cubicBezTo>
                    <a:pt x="1933123" y="0"/>
                    <a:pt x="1946537" y="5556"/>
                    <a:pt x="1956427" y="15446"/>
                  </a:cubicBezTo>
                  <a:cubicBezTo>
                    <a:pt x="1966317" y="25336"/>
                    <a:pt x="1971873" y="38750"/>
                    <a:pt x="1971873" y="52737"/>
                  </a:cubicBezTo>
                  <a:lnTo>
                    <a:pt x="1971873" y="142449"/>
                  </a:lnTo>
                  <a:cubicBezTo>
                    <a:pt x="1971873" y="156435"/>
                    <a:pt x="1966317" y="169849"/>
                    <a:pt x="1956427" y="179739"/>
                  </a:cubicBezTo>
                  <a:cubicBezTo>
                    <a:pt x="1946537" y="189629"/>
                    <a:pt x="1933123" y="195185"/>
                    <a:pt x="1919136" y="195185"/>
                  </a:cubicBezTo>
                  <a:lnTo>
                    <a:pt x="52737" y="195185"/>
                  </a:lnTo>
                  <a:cubicBezTo>
                    <a:pt x="38750" y="195185"/>
                    <a:pt x="25336" y="189629"/>
                    <a:pt x="15446" y="179739"/>
                  </a:cubicBezTo>
                  <a:cubicBezTo>
                    <a:pt x="5556" y="169849"/>
                    <a:pt x="0" y="156435"/>
                    <a:pt x="0" y="142449"/>
                  </a:cubicBezTo>
                  <a:lnTo>
                    <a:pt x="0" y="52737"/>
                  </a:lnTo>
                  <a:cubicBezTo>
                    <a:pt x="0" y="38750"/>
                    <a:pt x="5556" y="25336"/>
                    <a:pt x="15446" y="15446"/>
                  </a:cubicBezTo>
                  <a:cubicBezTo>
                    <a:pt x="25336" y="5556"/>
                    <a:pt x="38750" y="0"/>
                    <a:pt x="52737" y="0"/>
                  </a:cubicBezTo>
                  <a:close/>
                </a:path>
              </a:pathLst>
            </a:custGeom>
            <a:solidFill>
              <a:srgbClr val="EDAC4C"/>
            </a:solidFill>
          </p:spPr>
        </p:sp>
        <p:sp>
          <p:nvSpPr>
            <p:cNvPr id="25" name="TextBox 25"/>
            <p:cNvSpPr txBox="1"/>
            <p:nvPr/>
          </p:nvSpPr>
          <p:spPr>
            <a:xfrm>
              <a:off x="0" y="-57150"/>
              <a:ext cx="1971873" cy="252335"/>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755888" y="7317987"/>
            <a:ext cx="3409555" cy="724866"/>
          </a:xfrm>
          <a:custGeom>
            <a:avLst/>
            <a:gdLst/>
            <a:ahLst/>
            <a:cxnLst/>
            <a:rect l="l" t="t" r="r" b="b"/>
            <a:pathLst>
              <a:path w="3409555" h="724866">
                <a:moveTo>
                  <a:pt x="0" y="0"/>
                </a:moveTo>
                <a:lnTo>
                  <a:pt x="3409555" y="0"/>
                </a:lnTo>
                <a:lnTo>
                  <a:pt x="3409555" y="724866"/>
                </a:lnTo>
                <a:lnTo>
                  <a:pt x="0" y="724866"/>
                </a:lnTo>
                <a:lnTo>
                  <a:pt x="0" y="0"/>
                </a:lnTo>
                <a:close/>
              </a:path>
            </a:pathLst>
          </a:custGeom>
          <a:blipFill>
            <a:blip r:embed="rId6"/>
            <a:stretch>
              <a:fillRect/>
            </a:stretch>
          </a:blipFill>
        </p:spPr>
      </p:sp>
      <p:sp>
        <p:nvSpPr>
          <p:cNvPr id="27" name="Freeform 27"/>
          <p:cNvSpPr/>
          <p:nvPr/>
        </p:nvSpPr>
        <p:spPr>
          <a:xfrm>
            <a:off x="11335121" y="7177829"/>
            <a:ext cx="4272181" cy="784033"/>
          </a:xfrm>
          <a:custGeom>
            <a:avLst/>
            <a:gdLst/>
            <a:ahLst/>
            <a:cxnLst/>
            <a:rect l="l" t="t" r="r" b="b"/>
            <a:pathLst>
              <a:path w="4272181" h="784033">
                <a:moveTo>
                  <a:pt x="0" y="0"/>
                </a:moveTo>
                <a:lnTo>
                  <a:pt x="4272182" y="0"/>
                </a:lnTo>
                <a:lnTo>
                  <a:pt x="4272182" y="784034"/>
                </a:lnTo>
                <a:lnTo>
                  <a:pt x="0" y="784034"/>
                </a:lnTo>
                <a:lnTo>
                  <a:pt x="0" y="0"/>
                </a:lnTo>
                <a:close/>
              </a:path>
            </a:pathLst>
          </a:custGeom>
          <a:blipFill>
            <a:blip r:embed="rId7"/>
            <a:stretch>
              <a:fillRect/>
            </a:stretch>
          </a:blipFill>
        </p:spPr>
      </p:sp>
      <p:sp>
        <p:nvSpPr>
          <p:cNvPr id="28" name="TextBox 28"/>
          <p:cNvSpPr txBox="1"/>
          <p:nvPr/>
        </p:nvSpPr>
        <p:spPr>
          <a:xfrm>
            <a:off x="8630033" y="380900"/>
            <a:ext cx="8629267"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MODEL SELECTION</a:t>
            </a:r>
          </a:p>
        </p:txBody>
      </p:sp>
      <p:sp>
        <p:nvSpPr>
          <p:cNvPr id="29" name="TextBox 29"/>
          <p:cNvSpPr txBox="1"/>
          <p:nvPr/>
        </p:nvSpPr>
        <p:spPr>
          <a:xfrm>
            <a:off x="9951473" y="1502884"/>
            <a:ext cx="7307827" cy="691516"/>
          </a:xfrm>
          <a:prstGeom prst="rect">
            <a:avLst/>
          </a:prstGeom>
        </p:spPr>
        <p:txBody>
          <a:bodyPr lIns="0" tIns="0" rIns="0" bIns="0" rtlCol="0" anchor="t">
            <a:spAutoFit/>
          </a:bodyPr>
          <a:lstStyle/>
          <a:p>
            <a:pPr algn="ctr">
              <a:lnSpc>
                <a:spcPts val="5459"/>
              </a:lnSpc>
              <a:spcBef>
                <a:spcPct val="0"/>
              </a:spcBef>
            </a:pPr>
            <a:r>
              <a:rPr lang="en-US" sz="3899" b="1">
                <a:solidFill>
                  <a:srgbClr val="000000"/>
                </a:solidFill>
                <a:latin typeface="Times New Roman Bold"/>
                <a:ea typeface="Times New Roman Bold"/>
                <a:cs typeface="Times New Roman Bold"/>
                <a:sym typeface="Times New Roman Bold"/>
              </a:rPr>
              <a:t>Tree Based Models</a:t>
            </a:r>
          </a:p>
        </p:txBody>
      </p:sp>
      <p:sp>
        <p:nvSpPr>
          <p:cNvPr id="30" name="TextBox 30"/>
          <p:cNvSpPr txBox="1"/>
          <p:nvPr/>
        </p:nvSpPr>
        <p:spPr>
          <a:xfrm>
            <a:off x="837894" y="2572779"/>
            <a:ext cx="7620459" cy="731522"/>
          </a:xfrm>
          <a:prstGeom prst="rect">
            <a:avLst/>
          </a:prstGeom>
        </p:spPr>
        <p:txBody>
          <a:bodyPr lIns="0" tIns="0" rIns="0" bIns="0" rtlCol="0" anchor="t">
            <a:spAutoFit/>
          </a:bodyPr>
          <a:lstStyle/>
          <a:p>
            <a:pPr algn="ctr">
              <a:lnSpc>
                <a:spcPts val="5879"/>
              </a:lnSpc>
              <a:spcBef>
                <a:spcPct val="0"/>
              </a:spcBef>
            </a:pPr>
            <a:r>
              <a:rPr lang="en-US" sz="4199" b="1">
                <a:solidFill>
                  <a:srgbClr val="000000"/>
                </a:solidFill>
                <a:latin typeface="Times New Roman Bold"/>
                <a:ea typeface="Times New Roman Bold"/>
                <a:cs typeface="Times New Roman Bold"/>
                <a:sym typeface="Times New Roman Bold"/>
              </a:rPr>
              <a:t>Random Forest</a:t>
            </a:r>
          </a:p>
        </p:txBody>
      </p:sp>
      <p:sp>
        <p:nvSpPr>
          <p:cNvPr id="31" name="TextBox 31"/>
          <p:cNvSpPr txBox="1"/>
          <p:nvPr/>
        </p:nvSpPr>
        <p:spPr>
          <a:xfrm>
            <a:off x="9604436" y="2572779"/>
            <a:ext cx="7987630" cy="731522"/>
          </a:xfrm>
          <a:prstGeom prst="rect">
            <a:avLst/>
          </a:prstGeom>
        </p:spPr>
        <p:txBody>
          <a:bodyPr lIns="0" tIns="0" rIns="0" bIns="0" rtlCol="0" anchor="t">
            <a:spAutoFit/>
          </a:bodyPr>
          <a:lstStyle/>
          <a:p>
            <a:pPr algn="ctr">
              <a:lnSpc>
                <a:spcPts val="5879"/>
              </a:lnSpc>
              <a:spcBef>
                <a:spcPct val="0"/>
              </a:spcBef>
            </a:pPr>
            <a:r>
              <a:rPr lang="en-US" sz="4199" b="1">
                <a:solidFill>
                  <a:srgbClr val="000000"/>
                </a:solidFill>
                <a:latin typeface="Times New Roman Bold"/>
                <a:ea typeface="Times New Roman Bold"/>
                <a:cs typeface="Times New Roman Bold"/>
                <a:sym typeface="Times New Roman Bold"/>
              </a:rPr>
              <a:t>Block Forest</a:t>
            </a:r>
          </a:p>
        </p:txBody>
      </p:sp>
      <p:sp>
        <p:nvSpPr>
          <p:cNvPr id="32" name="TextBox 32"/>
          <p:cNvSpPr txBox="1"/>
          <p:nvPr/>
        </p:nvSpPr>
        <p:spPr>
          <a:xfrm>
            <a:off x="459895" y="3396075"/>
            <a:ext cx="8376457" cy="4284346"/>
          </a:xfrm>
          <a:prstGeom prst="rect">
            <a:avLst/>
          </a:prstGeom>
        </p:spPr>
        <p:txBody>
          <a:bodyPr lIns="0" tIns="0" rIns="0" bIns="0" rtlCol="0" anchor="t">
            <a:spAutoFit/>
          </a:bodyPr>
          <a:lstStyle/>
          <a:p>
            <a:pPr marL="582925" lvl="1" indent="-291463" algn="just">
              <a:lnSpc>
                <a:spcPts val="3779"/>
              </a:lnSpc>
              <a:buFont typeface="Arial"/>
              <a:buChar char="•"/>
            </a:pPr>
            <a:r>
              <a:rPr lang="en-US" sz="2699">
                <a:solidFill>
                  <a:srgbClr val="000000"/>
                </a:solidFill>
                <a:latin typeface="Times New Roman"/>
                <a:ea typeface="Times New Roman"/>
                <a:cs typeface="Times New Roman"/>
                <a:sym typeface="Times New Roman"/>
              </a:rPr>
              <a:t>An ensemble learning method based on multiple decision trees</a:t>
            </a:r>
          </a:p>
          <a:p>
            <a:pPr marL="582925" lvl="1" indent="-291463" algn="just">
              <a:lnSpc>
                <a:spcPts val="3779"/>
              </a:lnSpc>
              <a:buFont typeface="Arial"/>
              <a:buChar char="•"/>
            </a:pPr>
            <a:r>
              <a:rPr lang="en-US" sz="2699">
                <a:solidFill>
                  <a:srgbClr val="000000"/>
                </a:solidFill>
                <a:latin typeface="Times New Roman"/>
                <a:ea typeface="Times New Roman"/>
                <a:cs typeface="Times New Roman"/>
                <a:sym typeface="Times New Roman"/>
              </a:rPr>
              <a:t>Uses bootstrap sampling (bagging) to create different datasets</a:t>
            </a:r>
          </a:p>
          <a:p>
            <a:pPr marL="582925" lvl="1" indent="-291463" algn="just">
              <a:lnSpc>
                <a:spcPts val="3779"/>
              </a:lnSpc>
              <a:buFont typeface="Arial"/>
              <a:buChar char="•"/>
            </a:pPr>
            <a:r>
              <a:rPr lang="en-US" sz="2699">
                <a:solidFill>
                  <a:srgbClr val="000000"/>
                </a:solidFill>
                <a:latin typeface="Times New Roman"/>
                <a:ea typeface="Times New Roman"/>
                <a:cs typeface="Times New Roman"/>
                <a:sym typeface="Times New Roman"/>
              </a:rPr>
              <a:t>Each tree is built using a random subset of features</a:t>
            </a:r>
          </a:p>
          <a:p>
            <a:pPr marL="582925" lvl="1" indent="-291463" algn="just">
              <a:lnSpc>
                <a:spcPts val="3779"/>
              </a:lnSpc>
              <a:buFont typeface="Arial"/>
              <a:buChar char="•"/>
            </a:pPr>
            <a:r>
              <a:rPr lang="en-US" sz="2699">
                <a:solidFill>
                  <a:srgbClr val="000000"/>
                </a:solidFill>
                <a:latin typeface="Times New Roman"/>
                <a:ea typeface="Times New Roman"/>
                <a:cs typeface="Times New Roman"/>
                <a:sym typeface="Times New Roman"/>
              </a:rPr>
              <a:t>Captures non-linear relationships in data</a:t>
            </a:r>
          </a:p>
          <a:p>
            <a:pPr marL="582925" lvl="1" indent="-291463" algn="just">
              <a:lnSpc>
                <a:spcPts val="3779"/>
              </a:lnSpc>
              <a:buFont typeface="Arial"/>
              <a:buChar char="•"/>
            </a:pPr>
            <a:r>
              <a:rPr lang="en-US" sz="2699">
                <a:solidFill>
                  <a:srgbClr val="000000"/>
                </a:solidFill>
                <a:latin typeface="Times New Roman"/>
                <a:ea typeface="Times New Roman"/>
                <a:cs typeface="Times New Roman"/>
                <a:sym typeface="Times New Roman"/>
              </a:rPr>
              <a:t>Reduces overfitting by averaging multiple trees</a:t>
            </a:r>
          </a:p>
          <a:p>
            <a:pPr marL="582925" lvl="1" indent="-291463" algn="just">
              <a:lnSpc>
                <a:spcPts val="3779"/>
              </a:lnSpc>
              <a:spcBef>
                <a:spcPct val="0"/>
              </a:spcBef>
              <a:buFont typeface="Arial"/>
              <a:buChar char="•"/>
            </a:pPr>
            <a:r>
              <a:rPr lang="en-US" sz="2699">
                <a:solidFill>
                  <a:srgbClr val="000000"/>
                </a:solidFill>
                <a:latin typeface="Times New Roman"/>
                <a:ea typeface="Times New Roman"/>
                <a:cs typeface="Times New Roman"/>
                <a:sym typeface="Times New Roman"/>
              </a:rPr>
              <a:t>Works well with high-dimensional and complex data</a:t>
            </a:r>
          </a:p>
          <a:p>
            <a:pPr algn="just">
              <a:lnSpc>
                <a:spcPts val="3779"/>
              </a:lnSpc>
              <a:spcBef>
                <a:spcPct val="0"/>
              </a:spcBef>
            </a:pPr>
            <a:endParaRPr lang="en-US" sz="2699">
              <a:solidFill>
                <a:srgbClr val="000000"/>
              </a:solidFill>
              <a:latin typeface="Times New Roman"/>
              <a:ea typeface="Times New Roman"/>
              <a:cs typeface="Times New Roman"/>
              <a:sym typeface="Times New Roman"/>
            </a:endParaRPr>
          </a:p>
        </p:txBody>
      </p:sp>
      <p:sp>
        <p:nvSpPr>
          <p:cNvPr id="33" name="TextBox 33"/>
          <p:cNvSpPr txBox="1"/>
          <p:nvPr/>
        </p:nvSpPr>
        <p:spPr>
          <a:xfrm>
            <a:off x="459895" y="7930206"/>
            <a:ext cx="8894203" cy="1959398"/>
          </a:xfrm>
          <a:prstGeom prst="rect">
            <a:avLst/>
          </a:prstGeom>
        </p:spPr>
        <p:txBody>
          <a:bodyPr lIns="0" tIns="0" rIns="0" bIns="0" rtlCol="0" anchor="t">
            <a:spAutoFit/>
          </a:bodyPr>
          <a:lstStyle/>
          <a:p>
            <a:pPr algn="l">
              <a:lnSpc>
                <a:spcPts val="3876"/>
              </a:lnSpc>
            </a:pPr>
            <a:r>
              <a:rPr lang="en-US" sz="2768">
                <a:solidFill>
                  <a:srgbClr val="000000"/>
                </a:solidFill>
                <a:latin typeface="Times New Roman"/>
                <a:ea typeface="Times New Roman"/>
                <a:cs typeface="Times New Roman"/>
                <a:sym typeface="Times New Roman"/>
              </a:rPr>
              <a:t>• B: number of trees</a:t>
            </a:r>
          </a:p>
          <a:p>
            <a:pPr algn="l">
              <a:lnSpc>
                <a:spcPts val="3876"/>
              </a:lnSpc>
            </a:pPr>
            <a:r>
              <a:rPr lang="en-US" sz="2768">
                <a:solidFill>
                  <a:srgbClr val="000000"/>
                </a:solidFill>
                <a:latin typeface="Times New Roman"/>
                <a:ea typeface="Times New Roman"/>
                <a:cs typeface="Times New Roman"/>
                <a:sym typeface="Times New Roman"/>
              </a:rPr>
              <a:t>• Tb(x): prediction from the bth tree</a:t>
            </a:r>
          </a:p>
          <a:p>
            <a:pPr algn="l">
              <a:lnSpc>
                <a:spcPts val="3876"/>
              </a:lnSpc>
              <a:spcBef>
                <a:spcPct val="0"/>
              </a:spcBef>
            </a:pPr>
            <a:r>
              <a:rPr lang="en-US" sz="2768">
                <a:solidFill>
                  <a:srgbClr val="000000"/>
                </a:solidFill>
                <a:latin typeface="Times New Roman"/>
                <a:ea typeface="Times New Roman"/>
                <a:cs typeface="Times New Roman"/>
                <a:sym typeface="Times New Roman"/>
              </a:rPr>
              <a:t>Final prediction is obtained by averaging predictions from all trees</a:t>
            </a:r>
          </a:p>
        </p:txBody>
      </p:sp>
      <p:sp>
        <p:nvSpPr>
          <p:cNvPr id="34" name="TextBox 34"/>
          <p:cNvSpPr txBox="1"/>
          <p:nvPr/>
        </p:nvSpPr>
        <p:spPr>
          <a:xfrm>
            <a:off x="9805987" y="3299562"/>
            <a:ext cx="7982263" cy="3760266"/>
          </a:xfrm>
          <a:prstGeom prst="rect">
            <a:avLst/>
          </a:prstGeom>
        </p:spPr>
        <p:txBody>
          <a:bodyPr lIns="0" tIns="0" rIns="0" bIns="0" rtlCol="0" anchor="t">
            <a:spAutoFit/>
          </a:bodyPr>
          <a:lstStyle/>
          <a:p>
            <a:pPr algn="just">
              <a:lnSpc>
                <a:spcPts val="3357"/>
              </a:lnSpc>
            </a:pPr>
            <a:r>
              <a:rPr lang="en-US" sz="2397" dirty="0">
                <a:solidFill>
                  <a:srgbClr val="000000"/>
                </a:solidFill>
                <a:latin typeface="Times New Roman"/>
                <a:ea typeface="Times New Roman"/>
                <a:cs typeface="Times New Roman"/>
                <a:sym typeface="Times New Roman"/>
              </a:rPr>
              <a:t>• Extension of Random Forest designed for grouped data.</a:t>
            </a:r>
          </a:p>
          <a:p>
            <a:pPr algn="just">
              <a:lnSpc>
                <a:spcPts val="3357"/>
              </a:lnSpc>
            </a:pPr>
            <a:r>
              <a:rPr lang="en-US" sz="2397" dirty="0">
                <a:solidFill>
                  <a:srgbClr val="000000"/>
                </a:solidFill>
                <a:latin typeface="Times New Roman"/>
                <a:ea typeface="Times New Roman"/>
                <a:cs typeface="Times New Roman"/>
                <a:sym typeface="Times New Roman"/>
              </a:rPr>
              <a:t>• Uses block (group) structure of variables during tree construction</a:t>
            </a:r>
          </a:p>
          <a:p>
            <a:pPr algn="just">
              <a:lnSpc>
                <a:spcPts val="3357"/>
              </a:lnSpc>
            </a:pPr>
            <a:r>
              <a:rPr lang="en-US" sz="2397" dirty="0">
                <a:solidFill>
                  <a:srgbClr val="000000"/>
                </a:solidFill>
                <a:latin typeface="Times New Roman"/>
                <a:ea typeface="Times New Roman"/>
                <a:cs typeface="Times New Roman"/>
                <a:sym typeface="Times New Roman"/>
              </a:rPr>
              <a:t>• Splitting is done by selecting variables from specific groups</a:t>
            </a:r>
          </a:p>
          <a:p>
            <a:pPr algn="just">
              <a:lnSpc>
                <a:spcPts val="3357"/>
              </a:lnSpc>
            </a:pPr>
            <a:r>
              <a:rPr lang="en-US" sz="2397" dirty="0">
                <a:solidFill>
                  <a:srgbClr val="000000"/>
                </a:solidFill>
                <a:latin typeface="Times New Roman"/>
                <a:ea typeface="Times New Roman"/>
                <a:cs typeface="Times New Roman"/>
                <a:sym typeface="Times New Roman"/>
              </a:rPr>
              <a:t>• Ensures that important groups (like clinical data) are not ignored</a:t>
            </a:r>
          </a:p>
          <a:p>
            <a:pPr algn="just">
              <a:lnSpc>
                <a:spcPts val="3357"/>
              </a:lnSpc>
            </a:pPr>
            <a:r>
              <a:rPr lang="en-US" sz="2397" dirty="0">
                <a:solidFill>
                  <a:srgbClr val="000000"/>
                </a:solidFill>
                <a:latin typeface="Times New Roman"/>
                <a:ea typeface="Times New Roman"/>
                <a:cs typeface="Times New Roman"/>
                <a:sym typeface="Times New Roman"/>
              </a:rPr>
              <a:t>• Improves prediction performance when data has natural grouping</a:t>
            </a:r>
          </a:p>
          <a:p>
            <a:pPr algn="just">
              <a:lnSpc>
                <a:spcPts val="3357"/>
              </a:lnSpc>
              <a:spcBef>
                <a:spcPct val="0"/>
              </a:spcBef>
            </a:pPr>
            <a:r>
              <a:rPr lang="en-US" sz="2397" dirty="0">
                <a:solidFill>
                  <a:srgbClr val="000000"/>
                </a:solidFill>
                <a:latin typeface="Times New Roman"/>
                <a:ea typeface="Times New Roman"/>
                <a:cs typeface="Times New Roman"/>
                <a:sym typeface="Times New Roman"/>
              </a:rPr>
              <a:t>• Suitable for multi-omics datasets</a:t>
            </a:r>
          </a:p>
        </p:txBody>
      </p:sp>
      <p:sp>
        <p:nvSpPr>
          <p:cNvPr id="35" name="TextBox 35"/>
          <p:cNvSpPr txBox="1"/>
          <p:nvPr/>
        </p:nvSpPr>
        <p:spPr>
          <a:xfrm>
            <a:off x="9805987" y="7469403"/>
            <a:ext cx="7982263" cy="2315295"/>
          </a:xfrm>
          <a:prstGeom prst="rect">
            <a:avLst/>
          </a:prstGeom>
        </p:spPr>
        <p:txBody>
          <a:bodyPr lIns="0" tIns="0" rIns="0" bIns="0" rtlCol="0" anchor="t">
            <a:spAutoFit/>
          </a:bodyPr>
          <a:lstStyle/>
          <a:p>
            <a:pPr algn="just">
              <a:lnSpc>
                <a:spcPts val="3664"/>
              </a:lnSpc>
            </a:pPr>
            <a:endParaRPr dirty="0"/>
          </a:p>
          <a:p>
            <a:pPr algn="just">
              <a:lnSpc>
                <a:spcPts val="3664"/>
              </a:lnSpc>
            </a:pPr>
            <a:r>
              <a:rPr lang="en-US" sz="2617" dirty="0">
                <a:solidFill>
                  <a:srgbClr val="000000"/>
                </a:solidFill>
                <a:latin typeface="Times New Roman"/>
                <a:ea typeface="Times New Roman"/>
                <a:cs typeface="Times New Roman"/>
                <a:sym typeface="Times New Roman"/>
              </a:rPr>
              <a:t>• Trees are built considering grouped variables</a:t>
            </a:r>
          </a:p>
          <a:p>
            <a:pPr algn="just">
              <a:lnSpc>
                <a:spcPts val="3664"/>
              </a:lnSpc>
            </a:pPr>
            <a:r>
              <a:rPr lang="en-US" sz="2617" dirty="0">
                <a:solidFill>
                  <a:srgbClr val="000000"/>
                </a:solidFill>
                <a:latin typeface="Times New Roman"/>
                <a:ea typeface="Times New Roman"/>
                <a:cs typeface="Times New Roman"/>
                <a:sym typeface="Times New Roman"/>
              </a:rPr>
              <a:t>• B: number of trees</a:t>
            </a:r>
          </a:p>
          <a:p>
            <a:pPr algn="just">
              <a:lnSpc>
                <a:spcPts val="3664"/>
              </a:lnSpc>
              <a:spcBef>
                <a:spcPct val="0"/>
              </a:spcBef>
            </a:pPr>
            <a:r>
              <a:rPr lang="en-US" sz="2617" dirty="0">
                <a:solidFill>
                  <a:srgbClr val="000000"/>
                </a:solidFill>
                <a:latin typeface="Times New Roman"/>
                <a:ea typeface="Times New Roman"/>
                <a:cs typeface="Times New Roman"/>
                <a:sym typeface="Times New Roman"/>
              </a:rPr>
              <a:t>Incorporates group structure into Random Forest for better prediction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D49C"/>
        </a:solidFill>
        <a:effectLst/>
      </p:bgPr>
    </p:bg>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9525" y="660654"/>
            <a:ext cx="7378398" cy="1271459"/>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159311" y="2425015"/>
            <a:ext cx="17713792" cy="5215153"/>
          </a:xfrm>
          <a:prstGeom prst="rect">
            <a:avLst/>
          </a:prstGeom>
        </p:spPr>
        <p:txBody>
          <a:bodyPr lIns="0" tIns="0" rIns="0" bIns="0" rtlCol="0" anchor="t">
            <a:spAutoFit/>
          </a:bodyPr>
          <a:lstStyle/>
          <a:p>
            <a:pPr marL="795739" lvl="1" indent="-397870" algn="l">
              <a:lnSpc>
                <a:spcPts val="5159"/>
              </a:lnSpc>
              <a:spcBef>
                <a:spcPct val="0"/>
              </a:spcBef>
              <a:buFont typeface="Arial"/>
              <a:buChar char="•"/>
            </a:pPr>
            <a:r>
              <a:rPr lang="en-US" sz="3685">
                <a:solidFill>
                  <a:srgbClr val="000000"/>
                </a:solidFill>
                <a:latin typeface="Times New Roman"/>
                <a:ea typeface="Times New Roman"/>
                <a:cs typeface="Times New Roman"/>
                <a:sym typeface="Times New Roman"/>
              </a:rPr>
              <a:t>Model training involves learning patterns from the available dataset</a:t>
            </a:r>
          </a:p>
          <a:p>
            <a:pPr marL="795739" lvl="1" indent="-397870" algn="l">
              <a:lnSpc>
                <a:spcPts val="5159"/>
              </a:lnSpc>
              <a:spcBef>
                <a:spcPct val="0"/>
              </a:spcBef>
              <a:buFont typeface="Arial"/>
              <a:buChar char="•"/>
            </a:pPr>
            <a:r>
              <a:rPr lang="en-US" sz="3685">
                <a:solidFill>
                  <a:srgbClr val="000000"/>
                </a:solidFill>
                <a:latin typeface="Times New Roman"/>
                <a:ea typeface="Times New Roman"/>
                <a:cs typeface="Times New Roman"/>
                <a:sym typeface="Times New Roman"/>
              </a:rPr>
              <a:t>The dataset is divided into training and testing sets</a:t>
            </a:r>
          </a:p>
          <a:p>
            <a:pPr marL="795739" lvl="1" indent="-397870" algn="l">
              <a:lnSpc>
                <a:spcPts val="5159"/>
              </a:lnSpc>
              <a:spcBef>
                <a:spcPct val="0"/>
              </a:spcBef>
              <a:buFont typeface="Arial"/>
              <a:buChar char="•"/>
            </a:pPr>
            <a:r>
              <a:rPr lang="en-US" sz="3685">
                <a:solidFill>
                  <a:srgbClr val="000000"/>
                </a:solidFill>
                <a:latin typeface="Times New Roman"/>
                <a:ea typeface="Times New Roman"/>
                <a:cs typeface="Times New Roman"/>
                <a:sym typeface="Times New Roman"/>
              </a:rPr>
              <a:t>Models are trained using the training data</a:t>
            </a:r>
          </a:p>
          <a:p>
            <a:pPr marL="795739" lvl="1" indent="-397870" algn="l">
              <a:lnSpc>
                <a:spcPts val="5159"/>
              </a:lnSpc>
              <a:spcBef>
                <a:spcPct val="0"/>
              </a:spcBef>
              <a:buFont typeface="Arial"/>
              <a:buChar char="•"/>
            </a:pPr>
            <a:r>
              <a:rPr lang="en-US" sz="3685">
                <a:solidFill>
                  <a:srgbClr val="000000"/>
                </a:solidFill>
                <a:latin typeface="Times New Roman"/>
                <a:ea typeface="Times New Roman"/>
                <a:cs typeface="Times New Roman"/>
                <a:sym typeface="Times New Roman"/>
              </a:rPr>
              <a:t>Cross-validation is applied to improve model stability and reliability</a:t>
            </a:r>
          </a:p>
          <a:p>
            <a:pPr marL="795739" lvl="1" indent="-397870" algn="l">
              <a:lnSpc>
                <a:spcPts val="5159"/>
              </a:lnSpc>
              <a:spcBef>
                <a:spcPct val="0"/>
              </a:spcBef>
              <a:buFont typeface="Arial"/>
              <a:buChar char="•"/>
            </a:pPr>
            <a:r>
              <a:rPr lang="en-US" sz="3685">
                <a:solidFill>
                  <a:srgbClr val="000000"/>
                </a:solidFill>
                <a:latin typeface="Times New Roman"/>
                <a:ea typeface="Times New Roman"/>
                <a:cs typeface="Times New Roman"/>
                <a:sym typeface="Times New Roman"/>
              </a:rPr>
              <a:t>Helps in reducing overfitting and improving generalization</a:t>
            </a:r>
          </a:p>
          <a:p>
            <a:pPr marL="795739" lvl="1" indent="-397870" algn="l">
              <a:lnSpc>
                <a:spcPts val="5159"/>
              </a:lnSpc>
              <a:spcBef>
                <a:spcPct val="0"/>
              </a:spcBef>
              <a:buFont typeface="Arial"/>
              <a:buChar char="•"/>
            </a:pPr>
            <a:r>
              <a:rPr lang="en-US" sz="3685">
                <a:solidFill>
                  <a:srgbClr val="000000"/>
                </a:solidFill>
                <a:latin typeface="Times New Roman"/>
                <a:ea typeface="Times New Roman"/>
                <a:cs typeface="Times New Roman"/>
                <a:sym typeface="Times New Roman"/>
              </a:rPr>
              <a:t>Different models are trained under the same conditions for fair comparison</a:t>
            </a:r>
          </a:p>
          <a:p>
            <a:pPr marL="795739" lvl="1" indent="-397870" algn="l">
              <a:lnSpc>
                <a:spcPts val="5159"/>
              </a:lnSpc>
              <a:spcBef>
                <a:spcPct val="0"/>
              </a:spcBef>
              <a:buFont typeface="Arial"/>
              <a:buChar char="•"/>
            </a:pPr>
            <a:r>
              <a:rPr lang="en-US" sz="3685">
                <a:solidFill>
                  <a:srgbClr val="000000"/>
                </a:solidFill>
                <a:latin typeface="Times New Roman"/>
                <a:ea typeface="Times New Roman"/>
                <a:cs typeface="Times New Roman"/>
                <a:sym typeface="Times New Roman"/>
              </a:rPr>
              <a:t>The trained models are then used to make predictions on unseen data</a:t>
            </a:r>
          </a:p>
          <a:p>
            <a:pPr algn="l">
              <a:lnSpc>
                <a:spcPts val="5159"/>
              </a:lnSpc>
              <a:spcBef>
                <a:spcPct val="0"/>
              </a:spcBef>
            </a:pPr>
            <a:endParaRPr lang="en-US" sz="3685">
              <a:solidFill>
                <a:srgbClr val="000000"/>
              </a:solidFill>
              <a:latin typeface="Times New Roman"/>
              <a:ea typeface="Times New Roman"/>
              <a:cs typeface="Times New Roman"/>
              <a:sym typeface="Times New Roman"/>
            </a:endParaRPr>
          </a:p>
        </p:txBody>
      </p:sp>
      <p:grpSp>
        <p:nvGrpSpPr>
          <p:cNvPr id="12" name="Group 12"/>
          <p:cNvGrpSpPr/>
          <p:nvPr/>
        </p:nvGrpSpPr>
        <p:grpSpPr>
          <a:xfrm rot="-10800000">
            <a:off x="377117" y="7756810"/>
            <a:ext cx="2698251" cy="1780845"/>
            <a:chOff x="0" y="0"/>
            <a:chExt cx="635000" cy="419100"/>
          </a:xfrm>
        </p:grpSpPr>
        <p:sp>
          <p:nvSpPr>
            <p:cNvPr id="13" name="Freeform 13"/>
            <p:cNvSpPr/>
            <p:nvPr/>
          </p:nvSpPr>
          <p:spPr>
            <a:xfrm>
              <a:off x="11074" y="0"/>
              <a:ext cx="623926" cy="419100"/>
            </a:xfrm>
            <a:custGeom>
              <a:avLst/>
              <a:gdLst/>
              <a:ahLst/>
              <a:cxnLst/>
              <a:rect l="l" t="t" r="r" b="b"/>
              <a:pathLst>
                <a:path w="623926" h="419100">
                  <a:moveTo>
                    <a:pt x="580152" y="0"/>
                  </a:moveTo>
                  <a:lnTo>
                    <a:pt x="189230" y="0"/>
                  </a:lnTo>
                  <a:cubicBezTo>
                    <a:pt x="169385" y="0"/>
                    <a:pt x="150607" y="8982"/>
                    <a:pt x="138152" y="24432"/>
                  </a:cubicBezTo>
                  <a:lnTo>
                    <a:pt x="8621" y="185118"/>
                  </a:lnTo>
                  <a:cubicBezTo>
                    <a:pt x="-2874" y="199378"/>
                    <a:pt x="-2874" y="219722"/>
                    <a:pt x="8621" y="233982"/>
                  </a:cubicBezTo>
                  <a:lnTo>
                    <a:pt x="138152" y="394668"/>
                  </a:lnTo>
                  <a:cubicBezTo>
                    <a:pt x="150607" y="410118"/>
                    <a:pt x="169385" y="419100"/>
                    <a:pt x="189230" y="419100"/>
                  </a:cubicBezTo>
                  <a:lnTo>
                    <a:pt x="580152" y="419100"/>
                  </a:lnTo>
                  <a:cubicBezTo>
                    <a:pt x="580152" y="419100"/>
                    <a:pt x="623926" y="357188"/>
                    <a:pt x="623926" y="209550"/>
                  </a:cubicBezTo>
                  <a:cubicBezTo>
                    <a:pt x="623926" y="61912"/>
                    <a:pt x="580152" y="0"/>
                    <a:pt x="580152" y="0"/>
                  </a:cubicBezTo>
                  <a:close/>
                </a:path>
              </a:pathLst>
            </a:custGeom>
            <a:solidFill>
              <a:srgbClr val="EDAC4C"/>
            </a:solidFill>
          </p:spPr>
        </p:sp>
        <p:sp>
          <p:nvSpPr>
            <p:cNvPr id="14" name="TextBox 14"/>
            <p:cNvSpPr txBox="1"/>
            <p:nvPr/>
          </p:nvSpPr>
          <p:spPr>
            <a:xfrm>
              <a:off x="184150" y="-57150"/>
              <a:ext cx="406400" cy="476250"/>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9638405" y="337439"/>
            <a:ext cx="8122335"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MODEL TRAINING</a:t>
            </a:r>
          </a:p>
        </p:txBody>
      </p:sp>
      <p:grpSp>
        <p:nvGrpSpPr>
          <p:cNvPr id="16" name="Group 16"/>
          <p:cNvGrpSpPr/>
          <p:nvPr/>
        </p:nvGrpSpPr>
        <p:grpSpPr>
          <a:xfrm rot="-10800000">
            <a:off x="9187642" y="7756810"/>
            <a:ext cx="2698950" cy="1781307"/>
            <a:chOff x="0" y="0"/>
            <a:chExt cx="635000" cy="419100"/>
          </a:xfrm>
        </p:grpSpPr>
        <p:sp>
          <p:nvSpPr>
            <p:cNvPr id="17" name="Freeform 17"/>
            <p:cNvSpPr/>
            <p:nvPr/>
          </p:nvSpPr>
          <p:spPr>
            <a:xfrm>
              <a:off x="11071" y="0"/>
              <a:ext cx="623929" cy="419100"/>
            </a:xfrm>
            <a:custGeom>
              <a:avLst/>
              <a:gdLst/>
              <a:ahLst/>
              <a:cxnLst/>
              <a:rect l="l" t="t" r="r" b="b"/>
              <a:pathLst>
                <a:path w="623929" h="419100">
                  <a:moveTo>
                    <a:pt x="580155" y="0"/>
                  </a:moveTo>
                  <a:lnTo>
                    <a:pt x="189225" y="0"/>
                  </a:lnTo>
                  <a:cubicBezTo>
                    <a:pt x="169385" y="0"/>
                    <a:pt x="150611" y="8980"/>
                    <a:pt x="138160" y="24426"/>
                  </a:cubicBezTo>
                  <a:lnTo>
                    <a:pt x="8619" y="185124"/>
                  </a:lnTo>
                  <a:cubicBezTo>
                    <a:pt x="-2873" y="199380"/>
                    <a:pt x="-2873" y="219720"/>
                    <a:pt x="8619" y="233976"/>
                  </a:cubicBezTo>
                  <a:lnTo>
                    <a:pt x="138160" y="394674"/>
                  </a:lnTo>
                  <a:cubicBezTo>
                    <a:pt x="150611" y="410120"/>
                    <a:pt x="169385" y="419100"/>
                    <a:pt x="189225" y="419100"/>
                  </a:cubicBezTo>
                  <a:lnTo>
                    <a:pt x="580155" y="419100"/>
                  </a:lnTo>
                  <a:cubicBezTo>
                    <a:pt x="580155" y="419100"/>
                    <a:pt x="623929" y="357188"/>
                    <a:pt x="623929" y="209550"/>
                  </a:cubicBezTo>
                  <a:cubicBezTo>
                    <a:pt x="623929" y="61912"/>
                    <a:pt x="580155" y="0"/>
                    <a:pt x="580155" y="0"/>
                  </a:cubicBezTo>
                  <a:close/>
                </a:path>
              </a:pathLst>
            </a:custGeom>
            <a:solidFill>
              <a:srgbClr val="EDAC4C"/>
            </a:solidFill>
          </p:spPr>
        </p:sp>
        <p:sp>
          <p:nvSpPr>
            <p:cNvPr id="18" name="TextBox 18"/>
            <p:cNvSpPr txBox="1"/>
            <p:nvPr/>
          </p:nvSpPr>
          <p:spPr>
            <a:xfrm>
              <a:off x="184150" y="-57150"/>
              <a:ext cx="406400" cy="4762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10800000">
            <a:off x="6250567" y="7756810"/>
            <a:ext cx="2698950" cy="1781307"/>
            <a:chOff x="0" y="0"/>
            <a:chExt cx="635000" cy="419100"/>
          </a:xfrm>
        </p:grpSpPr>
        <p:sp>
          <p:nvSpPr>
            <p:cNvPr id="20" name="Freeform 20"/>
            <p:cNvSpPr/>
            <p:nvPr/>
          </p:nvSpPr>
          <p:spPr>
            <a:xfrm>
              <a:off x="11071" y="0"/>
              <a:ext cx="623929" cy="419100"/>
            </a:xfrm>
            <a:custGeom>
              <a:avLst/>
              <a:gdLst/>
              <a:ahLst/>
              <a:cxnLst/>
              <a:rect l="l" t="t" r="r" b="b"/>
              <a:pathLst>
                <a:path w="623929" h="419100">
                  <a:moveTo>
                    <a:pt x="580155" y="0"/>
                  </a:moveTo>
                  <a:lnTo>
                    <a:pt x="189225" y="0"/>
                  </a:lnTo>
                  <a:cubicBezTo>
                    <a:pt x="169385" y="0"/>
                    <a:pt x="150611" y="8980"/>
                    <a:pt x="138160" y="24426"/>
                  </a:cubicBezTo>
                  <a:lnTo>
                    <a:pt x="8619" y="185124"/>
                  </a:lnTo>
                  <a:cubicBezTo>
                    <a:pt x="-2873" y="199380"/>
                    <a:pt x="-2873" y="219720"/>
                    <a:pt x="8619" y="233976"/>
                  </a:cubicBezTo>
                  <a:lnTo>
                    <a:pt x="138160" y="394674"/>
                  </a:lnTo>
                  <a:cubicBezTo>
                    <a:pt x="150611" y="410120"/>
                    <a:pt x="169385" y="419100"/>
                    <a:pt x="189225" y="419100"/>
                  </a:cubicBezTo>
                  <a:lnTo>
                    <a:pt x="580155" y="419100"/>
                  </a:lnTo>
                  <a:cubicBezTo>
                    <a:pt x="580155" y="419100"/>
                    <a:pt x="623929" y="357188"/>
                    <a:pt x="623929" y="209550"/>
                  </a:cubicBezTo>
                  <a:cubicBezTo>
                    <a:pt x="623929" y="61912"/>
                    <a:pt x="580155" y="0"/>
                    <a:pt x="580155" y="0"/>
                  </a:cubicBezTo>
                  <a:close/>
                </a:path>
              </a:pathLst>
            </a:custGeom>
            <a:solidFill>
              <a:srgbClr val="EDAC4C"/>
            </a:solidFill>
          </p:spPr>
        </p:sp>
        <p:sp>
          <p:nvSpPr>
            <p:cNvPr id="21" name="TextBox 21"/>
            <p:cNvSpPr txBox="1"/>
            <p:nvPr/>
          </p:nvSpPr>
          <p:spPr>
            <a:xfrm>
              <a:off x="184150" y="-57150"/>
              <a:ext cx="406400" cy="4762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10800000">
            <a:off x="3313493" y="7756810"/>
            <a:ext cx="2698950" cy="1781307"/>
            <a:chOff x="0" y="0"/>
            <a:chExt cx="635000" cy="419100"/>
          </a:xfrm>
        </p:grpSpPr>
        <p:sp>
          <p:nvSpPr>
            <p:cNvPr id="23" name="Freeform 23"/>
            <p:cNvSpPr/>
            <p:nvPr/>
          </p:nvSpPr>
          <p:spPr>
            <a:xfrm>
              <a:off x="11071" y="0"/>
              <a:ext cx="623929" cy="419100"/>
            </a:xfrm>
            <a:custGeom>
              <a:avLst/>
              <a:gdLst/>
              <a:ahLst/>
              <a:cxnLst/>
              <a:rect l="l" t="t" r="r" b="b"/>
              <a:pathLst>
                <a:path w="623929" h="419100">
                  <a:moveTo>
                    <a:pt x="580155" y="0"/>
                  </a:moveTo>
                  <a:lnTo>
                    <a:pt x="189225" y="0"/>
                  </a:lnTo>
                  <a:cubicBezTo>
                    <a:pt x="169385" y="0"/>
                    <a:pt x="150611" y="8980"/>
                    <a:pt x="138160" y="24426"/>
                  </a:cubicBezTo>
                  <a:lnTo>
                    <a:pt x="8619" y="185124"/>
                  </a:lnTo>
                  <a:cubicBezTo>
                    <a:pt x="-2873" y="199380"/>
                    <a:pt x="-2873" y="219720"/>
                    <a:pt x="8619" y="233976"/>
                  </a:cubicBezTo>
                  <a:lnTo>
                    <a:pt x="138160" y="394674"/>
                  </a:lnTo>
                  <a:cubicBezTo>
                    <a:pt x="150611" y="410120"/>
                    <a:pt x="169385" y="419100"/>
                    <a:pt x="189225" y="419100"/>
                  </a:cubicBezTo>
                  <a:lnTo>
                    <a:pt x="580155" y="419100"/>
                  </a:lnTo>
                  <a:cubicBezTo>
                    <a:pt x="580155" y="419100"/>
                    <a:pt x="623929" y="357188"/>
                    <a:pt x="623929" y="209550"/>
                  </a:cubicBezTo>
                  <a:cubicBezTo>
                    <a:pt x="623929" y="61912"/>
                    <a:pt x="580155" y="0"/>
                    <a:pt x="580155" y="0"/>
                  </a:cubicBezTo>
                  <a:close/>
                </a:path>
              </a:pathLst>
            </a:custGeom>
            <a:solidFill>
              <a:srgbClr val="EDAC4C"/>
            </a:solidFill>
          </p:spPr>
        </p:sp>
        <p:sp>
          <p:nvSpPr>
            <p:cNvPr id="24" name="TextBox 24"/>
            <p:cNvSpPr txBox="1"/>
            <p:nvPr/>
          </p:nvSpPr>
          <p:spPr>
            <a:xfrm>
              <a:off x="184150" y="-57150"/>
              <a:ext cx="406400" cy="4762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10800000">
            <a:off x="12124716" y="7756810"/>
            <a:ext cx="2698950" cy="1781307"/>
            <a:chOff x="0" y="0"/>
            <a:chExt cx="635000" cy="419100"/>
          </a:xfrm>
        </p:grpSpPr>
        <p:sp>
          <p:nvSpPr>
            <p:cNvPr id="26" name="Freeform 26"/>
            <p:cNvSpPr/>
            <p:nvPr/>
          </p:nvSpPr>
          <p:spPr>
            <a:xfrm>
              <a:off x="11071" y="0"/>
              <a:ext cx="623929" cy="419100"/>
            </a:xfrm>
            <a:custGeom>
              <a:avLst/>
              <a:gdLst/>
              <a:ahLst/>
              <a:cxnLst/>
              <a:rect l="l" t="t" r="r" b="b"/>
              <a:pathLst>
                <a:path w="623929" h="419100">
                  <a:moveTo>
                    <a:pt x="580155" y="0"/>
                  </a:moveTo>
                  <a:lnTo>
                    <a:pt x="189225" y="0"/>
                  </a:lnTo>
                  <a:cubicBezTo>
                    <a:pt x="169385" y="0"/>
                    <a:pt x="150611" y="8980"/>
                    <a:pt x="138160" y="24426"/>
                  </a:cubicBezTo>
                  <a:lnTo>
                    <a:pt x="8619" y="185124"/>
                  </a:lnTo>
                  <a:cubicBezTo>
                    <a:pt x="-2873" y="199380"/>
                    <a:pt x="-2873" y="219720"/>
                    <a:pt x="8619" y="233976"/>
                  </a:cubicBezTo>
                  <a:lnTo>
                    <a:pt x="138160" y="394674"/>
                  </a:lnTo>
                  <a:cubicBezTo>
                    <a:pt x="150611" y="410120"/>
                    <a:pt x="169385" y="419100"/>
                    <a:pt x="189225" y="419100"/>
                  </a:cubicBezTo>
                  <a:lnTo>
                    <a:pt x="580155" y="419100"/>
                  </a:lnTo>
                  <a:cubicBezTo>
                    <a:pt x="580155" y="419100"/>
                    <a:pt x="623929" y="357188"/>
                    <a:pt x="623929" y="209550"/>
                  </a:cubicBezTo>
                  <a:cubicBezTo>
                    <a:pt x="623929" y="61912"/>
                    <a:pt x="580155" y="0"/>
                    <a:pt x="580155" y="0"/>
                  </a:cubicBezTo>
                  <a:close/>
                </a:path>
              </a:pathLst>
            </a:custGeom>
            <a:solidFill>
              <a:srgbClr val="EDAC4C"/>
            </a:solidFill>
          </p:spPr>
        </p:sp>
        <p:sp>
          <p:nvSpPr>
            <p:cNvPr id="27" name="TextBox 27"/>
            <p:cNvSpPr txBox="1"/>
            <p:nvPr/>
          </p:nvSpPr>
          <p:spPr>
            <a:xfrm>
              <a:off x="184150" y="-57150"/>
              <a:ext cx="406400" cy="476250"/>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800000">
            <a:off x="15061791" y="7756810"/>
            <a:ext cx="2698950" cy="1781307"/>
            <a:chOff x="0" y="0"/>
            <a:chExt cx="635000" cy="419100"/>
          </a:xfrm>
        </p:grpSpPr>
        <p:sp>
          <p:nvSpPr>
            <p:cNvPr id="29" name="Freeform 29"/>
            <p:cNvSpPr/>
            <p:nvPr/>
          </p:nvSpPr>
          <p:spPr>
            <a:xfrm>
              <a:off x="11071" y="0"/>
              <a:ext cx="623929" cy="419100"/>
            </a:xfrm>
            <a:custGeom>
              <a:avLst/>
              <a:gdLst/>
              <a:ahLst/>
              <a:cxnLst/>
              <a:rect l="l" t="t" r="r" b="b"/>
              <a:pathLst>
                <a:path w="623929" h="419100">
                  <a:moveTo>
                    <a:pt x="580155" y="0"/>
                  </a:moveTo>
                  <a:lnTo>
                    <a:pt x="189225" y="0"/>
                  </a:lnTo>
                  <a:cubicBezTo>
                    <a:pt x="169385" y="0"/>
                    <a:pt x="150611" y="8980"/>
                    <a:pt x="138160" y="24426"/>
                  </a:cubicBezTo>
                  <a:lnTo>
                    <a:pt x="8619" y="185124"/>
                  </a:lnTo>
                  <a:cubicBezTo>
                    <a:pt x="-2873" y="199380"/>
                    <a:pt x="-2873" y="219720"/>
                    <a:pt x="8619" y="233976"/>
                  </a:cubicBezTo>
                  <a:lnTo>
                    <a:pt x="138160" y="394674"/>
                  </a:lnTo>
                  <a:cubicBezTo>
                    <a:pt x="150611" y="410120"/>
                    <a:pt x="169385" y="419100"/>
                    <a:pt x="189225" y="419100"/>
                  </a:cubicBezTo>
                  <a:lnTo>
                    <a:pt x="580155" y="419100"/>
                  </a:lnTo>
                  <a:cubicBezTo>
                    <a:pt x="580155" y="419100"/>
                    <a:pt x="623929" y="357188"/>
                    <a:pt x="623929" y="209550"/>
                  </a:cubicBezTo>
                  <a:cubicBezTo>
                    <a:pt x="623929" y="61912"/>
                    <a:pt x="580155" y="0"/>
                    <a:pt x="580155" y="0"/>
                  </a:cubicBezTo>
                  <a:close/>
                </a:path>
              </a:pathLst>
            </a:custGeom>
            <a:solidFill>
              <a:srgbClr val="EDAC4C"/>
            </a:solidFill>
          </p:spPr>
        </p:sp>
        <p:sp>
          <p:nvSpPr>
            <p:cNvPr id="30" name="TextBox 30"/>
            <p:cNvSpPr txBox="1"/>
            <p:nvPr/>
          </p:nvSpPr>
          <p:spPr>
            <a:xfrm>
              <a:off x="184150" y="-57150"/>
              <a:ext cx="406400" cy="4762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526821" y="8268819"/>
            <a:ext cx="2239958" cy="576504"/>
          </a:xfrm>
          <a:prstGeom prst="rect">
            <a:avLst/>
          </a:prstGeom>
        </p:spPr>
        <p:txBody>
          <a:bodyPr wrap="square" lIns="0" tIns="0" rIns="0" bIns="0" rtlCol="0" anchor="t">
            <a:spAutoFit/>
          </a:bodyPr>
          <a:lstStyle/>
          <a:p>
            <a:pPr algn="ctr">
              <a:lnSpc>
                <a:spcPts val="4899"/>
              </a:lnSpc>
              <a:spcBef>
                <a:spcPct val="0"/>
              </a:spcBef>
            </a:pPr>
            <a:r>
              <a:rPr lang="en-US" sz="3499" b="1" dirty="0">
                <a:solidFill>
                  <a:srgbClr val="000000"/>
                </a:solidFill>
                <a:latin typeface="Times New Roman Bold"/>
                <a:ea typeface="Times New Roman Bold"/>
                <a:cs typeface="Times New Roman Bold"/>
                <a:sym typeface="Times New Roman Bold"/>
              </a:rPr>
              <a:t>DATASET</a:t>
            </a:r>
          </a:p>
        </p:txBody>
      </p:sp>
      <p:sp>
        <p:nvSpPr>
          <p:cNvPr id="32" name="TextBox 32"/>
          <p:cNvSpPr txBox="1"/>
          <p:nvPr/>
        </p:nvSpPr>
        <p:spPr>
          <a:xfrm>
            <a:off x="3313493" y="8138597"/>
            <a:ext cx="2429848" cy="967568"/>
          </a:xfrm>
          <a:prstGeom prst="rect">
            <a:avLst/>
          </a:prstGeom>
        </p:spPr>
        <p:txBody>
          <a:bodyPr lIns="0" tIns="0" rIns="0" bIns="0" rtlCol="0" anchor="t">
            <a:spAutoFit/>
          </a:bodyPr>
          <a:lstStyle/>
          <a:p>
            <a:pPr algn="ctr">
              <a:lnSpc>
                <a:spcPts val="3894"/>
              </a:lnSpc>
            </a:pPr>
            <a:r>
              <a:rPr lang="en-US" sz="2781" b="1">
                <a:solidFill>
                  <a:srgbClr val="000000"/>
                </a:solidFill>
                <a:latin typeface="Times New Roman Bold"/>
                <a:ea typeface="Times New Roman Bold"/>
                <a:cs typeface="Times New Roman Bold"/>
                <a:sym typeface="Times New Roman Bold"/>
              </a:rPr>
              <a:t>TRAIN-TEST </a:t>
            </a:r>
          </a:p>
          <a:p>
            <a:pPr algn="ctr">
              <a:lnSpc>
                <a:spcPts val="3894"/>
              </a:lnSpc>
              <a:spcBef>
                <a:spcPct val="0"/>
              </a:spcBef>
            </a:pPr>
            <a:r>
              <a:rPr lang="en-US" sz="2781" b="1">
                <a:solidFill>
                  <a:srgbClr val="000000"/>
                </a:solidFill>
                <a:latin typeface="Times New Roman Bold"/>
                <a:ea typeface="Times New Roman Bold"/>
                <a:cs typeface="Times New Roman Bold"/>
                <a:sym typeface="Times New Roman Bold"/>
              </a:rPr>
              <a:t>SPLIT</a:t>
            </a:r>
          </a:p>
        </p:txBody>
      </p:sp>
      <p:sp>
        <p:nvSpPr>
          <p:cNvPr id="33" name="TextBox 33"/>
          <p:cNvSpPr txBox="1"/>
          <p:nvPr/>
        </p:nvSpPr>
        <p:spPr>
          <a:xfrm>
            <a:off x="6116016" y="8049744"/>
            <a:ext cx="2698950" cy="1047751"/>
          </a:xfrm>
          <a:prstGeom prst="rect">
            <a:avLst/>
          </a:prstGeom>
        </p:spPr>
        <p:txBody>
          <a:bodyPr lIns="0" tIns="0" rIns="0" bIns="0" rtlCol="0" anchor="t">
            <a:spAutoFit/>
          </a:bodyPr>
          <a:lstStyle/>
          <a:p>
            <a:pPr algn="ctr">
              <a:lnSpc>
                <a:spcPts val="4199"/>
              </a:lnSpc>
            </a:pPr>
            <a:r>
              <a:rPr lang="en-US" sz="2999" b="1">
                <a:solidFill>
                  <a:srgbClr val="000000"/>
                </a:solidFill>
                <a:latin typeface="Times New Roman Bold"/>
                <a:ea typeface="Times New Roman Bold"/>
                <a:cs typeface="Times New Roman Bold"/>
                <a:sym typeface="Times New Roman Bold"/>
              </a:rPr>
              <a:t>TRAINING</a:t>
            </a:r>
          </a:p>
          <a:p>
            <a:pPr algn="ctr">
              <a:lnSpc>
                <a:spcPts val="4199"/>
              </a:lnSpc>
              <a:spcBef>
                <a:spcPct val="0"/>
              </a:spcBef>
            </a:pPr>
            <a:r>
              <a:rPr lang="en-US" sz="2999" b="1">
                <a:solidFill>
                  <a:srgbClr val="000000"/>
                </a:solidFill>
                <a:latin typeface="Times New Roman Bold"/>
                <a:ea typeface="Times New Roman Bold"/>
                <a:cs typeface="Times New Roman Bold"/>
                <a:sym typeface="Times New Roman Bold"/>
              </a:rPr>
              <a:t> DATA</a:t>
            </a:r>
          </a:p>
        </p:txBody>
      </p:sp>
      <p:sp>
        <p:nvSpPr>
          <p:cNvPr id="34" name="TextBox 34"/>
          <p:cNvSpPr txBox="1"/>
          <p:nvPr/>
        </p:nvSpPr>
        <p:spPr>
          <a:xfrm>
            <a:off x="9318968" y="8049744"/>
            <a:ext cx="2328148" cy="995681"/>
          </a:xfrm>
          <a:prstGeom prst="rect">
            <a:avLst/>
          </a:prstGeom>
        </p:spPr>
        <p:txBody>
          <a:bodyPr lIns="0" tIns="0" rIns="0" bIns="0" rtlCol="0" anchor="t">
            <a:spAutoFit/>
          </a:bodyPr>
          <a:lstStyle/>
          <a:p>
            <a:pPr algn="ctr">
              <a:lnSpc>
                <a:spcPts val="3919"/>
              </a:lnSpc>
            </a:pPr>
            <a:r>
              <a:rPr lang="en-US" sz="2799" b="1">
                <a:solidFill>
                  <a:srgbClr val="000000"/>
                </a:solidFill>
                <a:latin typeface="Times New Roman Bold"/>
                <a:ea typeface="Times New Roman Bold"/>
                <a:cs typeface="Times New Roman Bold"/>
                <a:sym typeface="Times New Roman Bold"/>
              </a:rPr>
              <a:t>CROSS </a:t>
            </a:r>
          </a:p>
          <a:p>
            <a:pPr algn="ctr">
              <a:lnSpc>
                <a:spcPts val="3919"/>
              </a:lnSpc>
              <a:spcBef>
                <a:spcPct val="0"/>
              </a:spcBef>
            </a:pPr>
            <a:r>
              <a:rPr lang="en-US" sz="2799" b="1">
                <a:solidFill>
                  <a:srgbClr val="000000"/>
                </a:solidFill>
                <a:latin typeface="Times New Roman Bold"/>
                <a:ea typeface="Times New Roman Bold"/>
                <a:cs typeface="Times New Roman Bold"/>
                <a:sym typeface="Times New Roman Bold"/>
              </a:rPr>
              <a:t>VALIDATION </a:t>
            </a:r>
          </a:p>
        </p:txBody>
      </p:sp>
      <p:sp>
        <p:nvSpPr>
          <p:cNvPr id="35" name="TextBox 35"/>
          <p:cNvSpPr txBox="1"/>
          <p:nvPr/>
        </p:nvSpPr>
        <p:spPr>
          <a:xfrm>
            <a:off x="11991366" y="8066438"/>
            <a:ext cx="2698950" cy="1092836"/>
          </a:xfrm>
          <a:prstGeom prst="rect">
            <a:avLst/>
          </a:prstGeom>
        </p:spPr>
        <p:txBody>
          <a:bodyPr lIns="0" tIns="0" rIns="0" bIns="0" rtlCol="0" anchor="t">
            <a:spAutoFit/>
          </a:bodyPr>
          <a:lstStyle/>
          <a:p>
            <a:pPr algn="ctr">
              <a:lnSpc>
                <a:spcPts val="4339"/>
              </a:lnSpc>
            </a:pPr>
            <a:r>
              <a:rPr lang="en-US" sz="3099" b="1">
                <a:solidFill>
                  <a:srgbClr val="000000"/>
                </a:solidFill>
                <a:latin typeface="Times New Roman Bold"/>
                <a:ea typeface="Times New Roman Bold"/>
                <a:cs typeface="Times New Roman Bold"/>
                <a:sym typeface="Times New Roman Bold"/>
              </a:rPr>
              <a:t>MODEL </a:t>
            </a:r>
          </a:p>
          <a:p>
            <a:pPr algn="ctr">
              <a:lnSpc>
                <a:spcPts val="4339"/>
              </a:lnSpc>
              <a:spcBef>
                <a:spcPct val="0"/>
              </a:spcBef>
            </a:pPr>
            <a:r>
              <a:rPr lang="en-US" sz="3099" b="1">
                <a:solidFill>
                  <a:srgbClr val="000000"/>
                </a:solidFill>
                <a:latin typeface="Times New Roman Bold"/>
                <a:ea typeface="Times New Roman Bold"/>
                <a:cs typeface="Times New Roman Bold"/>
                <a:sym typeface="Times New Roman Bold"/>
              </a:rPr>
              <a:t>TRAINING</a:t>
            </a:r>
          </a:p>
        </p:txBody>
      </p:sp>
      <p:sp>
        <p:nvSpPr>
          <p:cNvPr id="36" name="TextBox 36"/>
          <p:cNvSpPr txBox="1"/>
          <p:nvPr/>
        </p:nvSpPr>
        <p:spPr>
          <a:xfrm>
            <a:off x="15283458" y="8066438"/>
            <a:ext cx="1975842" cy="1128396"/>
          </a:xfrm>
          <a:prstGeom prst="rect">
            <a:avLst/>
          </a:prstGeom>
        </p:spPr>
        <p:txBody>
          <a:bodyPr lIns="0" tIns="0" rIns="0" bIns="0" rtlCol="0" anchor="t">
            <a:spAutoFit/>
          </a:bodyPr>
          <a:lstStyle/>
          <a:p>
            <a:pPr algn="ctr">
              <a:lnSpc>
                <a:spcPts val="4479"/>
              </a:lnSpc>
            </a:pPr>
            <a:r>
              <a:rPr lang="en-US" sz="3199" b="1">
                <a:solidFill>
                  <a:srgbClr val="000000"/>
                </a:solidFill>
                <a:latin typeface="Times New Roman Bold"/>
                <a:ea typeface="Times New Roman Bold"/>
                <a:cs typeface="Times New Roman Bold"/>
                <a:sym typeface="Times New Roman Bold"/>
              </a:rPr>
              <a:t>TRAINED </a:t>
            </a:r>
          </a:p>
          <a:p>
            <a:pPr algn="ctr">
              <a:lnSpc>
                <a:spcPts val="4479"/>
              </a:lnSpc>
              <a:spcBef>
                <a:spcPct val="0"/>
              </a:spcBef>
            </a:pPr>
            <a:r>
              <a:rPr lang="en-US" sz="3199" b="1">
                <a:solidFill>
                  <a:srgbClr val="000000"/>
                </a:solidFill>
                <a:latin typeface="Times New Roman Bold"/>
                <a:ea typeface="Times New Roman Bold"/>
                <a:cs typeface="Times New Roman Bold"/>
                <a:sym typeface="Times New Roman Bold"/>
              </a:rPr>
              <a:t>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632805"/>
            <a:ext cx="7378398" cy="1203321"/>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536460" y="2366884"/>
            <a:ext cx="17751540" cy="2924408"/>
          </a:xfrm>
          <a:prstGeom prst="rect">
            <a:avLst/>
          </a:prstGeom>
        </p:spPr>
        <p:txBody>
          <a:bodyPr lIns="0" tIns="0" rIns="0" bIns="0" rtlCol="0" anchor="t">
            <a:spAutoFit/>
          </a:bodyPr>
          <a:lstStyle/>
          <a:p>
            <a:pPr marL="907125" lvl="1" indent="-453562" algn="l">
              <a:lnSpc>
                <a:spcPts val="5882"/>
              </a:lnSpc>
              <a:spcBef>
                <a:spcPct val="0"/>
              </a:spcBef>
              <a:buFont typeface="Arial"/>
              <a:buChar char="•"/>
            </a:pPr>
            <a:r>
              <a:rPr lang="en-US" sz="4201">
                <a:solidFill>
                  <a:srgbClr val="000000"/>
                </a:solidFill>
                <a:latin typeface="Times New Roman"/>
                <a:ea typeface="Times New Roman"/>
                <a:cs typeface="Times New Roman"/>
                <a:sym typeface="Times New Roman"/>
              </a:rPr>
              <a:t>Model evaluation is used to check how well the trained models perform</a:t>
            </a:r>
          </a:p>
          <a:p>
            <a:pPr marL="907125" lvl="1" indent="-453562" algn="l">
              <a:lnSpc>
                <a:spcPts val="5882"/>
              </a:lnSpc>
              <a:spcBef>
                <a:spcPct val="0"/>
              </a:spcBef>
              <a:buFont typeface="Arial"/>
              <a:buChar char="•"/>
            </a:pPr>
            <a:r>
              <a:rPr lang="en-US" sz="4201">
                <a:solidFill>
                  <a:srgbClr val="000000"/>
                </a:solidFill>
                <a:latin typeface="Times New Roman"/>
                <a:ea typeface="Times New Roman"/>
                <a:cs typeface="Times New Roman"/>
                <a:sym typeface="Times New Roman"/>
              </a:rPr>
              <a:t>It is done on unseen (test) data to see how the model works in real situations</a:t>
            </a:r>
          </a:p>
          <a:p>
            <a:pPr marL="907125" lvl="1" indent="-453562" algn="l">
              <a:lnSpc>
                <a:spcPts val="5882"/>
              </a:lnSpc>
              <a:spcBef>
                <a:spcPct val="0"/>
              </a:spcBef>
              <a:buFont typeface="Arial"/>
              <a:buChar char="•"/>
            </a:pPr>
            <a:r>
              <a:rPr lang="en-US" sz="4201">
                <a:solidFill>
                  <a:srgbClr val="000000"/>
                </a:solidFill>
                <a:latin typeface="Times New Roman"/>
                <a:ea typeface="Times New Roman"/>
                <a:cs typeface="Times New Roman"/>
                <a:sym typeface="Times New Roman"/>
              </a:rPr>
              <a:t>Helps us understand whether the model can generalize well to new data</a:t>
            </a:r>
          </a:p>
          <a:p>
            <a:pPr marL="907125" lvl="1" indent="-453562" algn="l">
              <a:lnSpc>
                <a:spcPts val="5882"/>
              </a:lnSpc>
              <a:spcBef>
                <a:spcPct val="0"/>
              </a:spcBef>
              <a:buFont typeface="Arial"/>
              <a:buChar char="•"/>
            </a:pPr>
            <a:r>
              <a:rPr lang="en-US" sz="4201">
                <a:solidFill>
                  <a:srgbClr val="000000"/>
                </a:solidFill>
                <a:latin typeface="Times New Roman"/>
                <a:ea typeface="Times New Roman"/>
                <a:cs typeface="Times New Roman"/>
                <a:sym typeface="Times New Roman"/>
              </a:rPr>
              <a:t>Cross-validation is used to make the results more reliable and stable</a:t>
            </a:r>
          </a:p>
        </p:txBody>
      </p:sp>
      <p:grpSp>
        <p:nvGrpSpPr>
          <p:cNvPr id="12" name="Group 12"/>
          <p:cNvGrpSpPr/>
          <p:nvPr/>
        </p:nvGrpSpPr>
        <p:grpSpPr>
          <a:xfrm>
            <a:off x="1577341" y="5643606"/>
            <a:ext cx="13602715" cy="4323731"/>
            <a:chOff x="0" y="0"/>
            <a:chExt cx="1864028" cy="592496"/>
          </a:xfrm>
        </p:grpSpPr>
        <p:sp>
          <p:nvSpPr>
            <p:cNvPr id="13" name="Freeform 13"/>
            <p:cNvSpPr/>
            <p:nvPr/>
          </p:nvSpPr>
          <p:spPr>
            <a:xfrm>
              <a:off x="0" y="0"/>
              <a:ext cx="1864028" cy="592496"/>
            </a:xfrm>
            <a:custGeom>
              <a:avLst/>
              <a:gdLst/>
              <a:ahLst/>
              <a:cxnLst/>
              <a:rect l="l" t="t" r="r" b="b"/>
              <a:pathLst>
                <a:path w="1864028" h="592496">
                  <a:moveTo>
                    <a:pt x="1660828" y="0"/>
                  </a:moveTo>
                  <a:cubicBezTo>
                    <a:pt x="1773052" y="0"/>
                    <a:pt x="1864028" y="132635"/>
                    <a:pt x="1864028" y="296248"/>
                  </a:cubicBezTo>
                  <a:cubicBezTo>
                    <a:pt x="1864028" y="459861"/>
                    <a:pt x="1773052" y="592496"/>
                    <a:pt x="1660828" y="592496"/>
                  </a:cubicBezTo>
                  <a:lnTo>
                    <a:pt x="203200" y="592496"/>
                  </a:lnTo>
                  <a:cubicBezTo>
                    <a:pt x="90976" y="592496"/>
                    <a:pt x="0" y="459861"/>
                    <a:pt x="0" y="296248"/>
                  </a:cubicBezTo>
                  <a:cubicBezTo>
                    <a:pt x="0" y="132635"/>
                    <a:pt x="90976" y="0"/>
                    <a:pt x="203200" y="0"/>
                  </a:cubicBezTo>
                  <a:close/>
                </a:path>
              </a:pathLst>
            </a:custGeom>
            <a:solidFill>
              <a:srgbClr val="FF914D"/>
            </a:solidFill>
          </p:spPr>
        </p:sp>
        <p:sp>
          <p:nvSpPr>
            <p:cNvPr id="14" name="TextBox 14"/>
            <p:cNvSpPr txBox="1"/>
            <p:nvPr/>
          </p:nvSpPr>
          <p:spPr>
            <a:xfrm>
              <a:off x="0" y="-57150"/>
              <a:ext cx="1864028" cy="649646"/>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5022121" y="5872327"/>
            <a:ext cx="6310582" cy="918520"/>
            <a:chOff x="0" y="0"/>
            <a:chExt cx="1085354" cy="157976"/>
          </a:xfrm>
        </p:grpSpPr>
        <p:sp>
          <p:nvSpPr>
            <p:cNvPr id="16" name="Freeform 16"/>
            <p:cNvSpPr/>
            <p:nvPr/>
          </p:nvSpPr>
          <p:spPr>
            <a:xfrm>
              <a:off x="0" y="0"/>
              <a:ext cx="1085354" cy="157976"/>
            </a:xfrm>
            <a:custGeom>
              <a:avLst/>
              <a:gdLst/>
              <a:ahLst/>
              <a:cxnLst/>
              <a:rect l="l" t="t" r="r" b="b"/>
              <a:pathLst>
                <a:path w="1085354" h="157976">
                  <a:moveTo>
                    <a:pt x="23961" y="0"/>
                  </a:moveTo>
                  <a:lnTo>
                    <a:pt x="1061392" y="0"/>
                  </a:lnTo>
                  <a:cubicBezTo>
                    <a:pt x="1074626" y="0"/>
                    <a:pt x="1085354" y="10728"/>
                    <a:pt x="1085354" y="23961"/>
                  </a:cubicBezTo>
                  <a:lnTo>
                    <a:pt x="1085354" y="134015"/>
                  </a:lnTo>
                  <a:cubicBezTo>
                    <a:pt x="1085354" y="147248"/>
                    <a:pt x="1074626" y="157976"/>
                    <a:pt x="1061392" y="157976"/>
                  </a:cubicBezTo>
                  <a:lnTo>
                    <a:pt x="23961" y="157976"/>
                  </a:lnTo>
                  <a:cubicBezTo>
                    <a:pt x="10728" y="157976"/>
                    <a:pt x="0" y="147248"/>
                    <a:pt x="0" y="134015"/>
                  </a:cubicBezTo>
                  <a:lnTo>
                    <a:pt x="0" y="23961"/>
                  </a:lnTo>
                  <a:cubicBezTo>
                    <a:pt x="0" y="10728"/>
                    <a:pt x="10728" y="0"/>
                    <a:pt x="23961" y="0"/>
                  </a:cubicBezTo>
                  <a:close/>
                </a:path>
              </a:pathLst>
            </a:custGeom>
            <a:solidFill>
              <a:srgbClr val="FBD49C"/>
            </a:solidFill>
          </p:spPr>
        </p:sp>
        <p:sp>
          <p:nvSpPr>
            <p:cNvPr id="17" name="TextBox 17"/>
            <p:cNvSpPr txBox="1"/>
            <p:nvPr/>
          </p:nvSpPr>
          <p:spPr>
            <a:xfrm>
              <a:off x="0" y="-85725"/>
              <a:ext cx="1085354" cy="243701"/>
            </a:xfrm>
            <a:prstGeom prst="rect">
              <a:avLst/>
            </a:prstGeom>
          </p:spPr>
          <p:txBody>
            <a:bodyPr lIns="50800" tIns="50800" rIns="50800" bIns="50800" rtlCol="0" anchor="ctr"/>
            <a:lstStyle/>
            <a:p>
              <a:pPr algn="ctr">
                <a:lnSpc>
                  <a:spcPts val="4899"/>
                </a:lnSpc>
              </a:pPr>
              <a:r>
                <a:rPr lang="en-US" sz="3499" b="1">
                  <a:solidFill>
                    <a:srgbClr val="000000"/>
                  </a:solidFill>
                  <a:latin typeface="Times New Roman Bold"/>
                  <a:ea typeface="Times New Roman Bold"/>
                  <a:cs typeface="Times New Roman Bold"/>
                  <a:sym typeface="Times New Roman Bold"/>
                </a:rPr>
                <a:t>C-index (Concordance Index)</a:t>
              </a:r>
            </a:p>
          </p:txBody>
        </p:sp>
      </p:grpSp>
      <p:sp>
        <p:nvSpPr>
          <p:cNvPr id="18" name="TextBox 18"/>
          <p:cNvSpPr txBox="1"/>
          <p:nvPr/>
        </p:nvSpPr>
        <p:spPr>
          <a:xfrm>
            <a:off x="8612040" y="337439"/>
            <a:ext cx="8978195"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MODEL EVALUATION </a:t>
            </a:r>
          </a:p>
        </p:txBody>
      </p:sp>
      <p:sp>
        <p:nvSpPr>
          <p:cNvPr id="19" name="TextBox 19"/>
          <p:cNvSpPr txBox="1"/>
          <p:nvPr/>
        </p:nvSpPr>
        <p:spPr>
          <a:xfrm>
            <a:off x="2089666" y="6705122"/>
            <a:ext cx="12871763" cy="2968863"/>
          </a:xfrm>
          <a:prstGeom prst="rect">
            <a:avLst/>
          </a:prstGeom>
        </p:spPr>
        <p:txBody>
          <a:bodyPr lIns="0" tIns="0" rIns="0" bIns="0" rtlCol="0" anchor="t">
            <a:spAutoFit/>
          </a:bodyPr>
          <a:lstStyle/>
          <a:p>
            <a:pPr marL="734278" lvl="1" indent="-367139" algn="just">
              <a:lnSpc>
                <a:spcPts val="4761"/>
              </a:lnSpc>
              <a:spcBef>
                <a:spcPct val="0"/>
              </a:spcBef>
              <a:buFont typeface="Arial"/>
              <a:buChar char="•"/>
            </a:pPr>
            <a:r>
              <a:rPr lang="en-US" sz="3401">
                <a:solidFill>
                  <a:srgbClr val="000000"/>
                </a:solidFill>
                <a:latin typeface="Times New Roman"/>
                <a:ea typeface="Times New Roman"/>
                <a:cs typeface="Times New Roman"/>
                <a:sym typeface="Times New Roman"/>
              </a:rPr>
              <a:t>Shows how well the model can rank patients based on risk</a:t>
            </a:r>
          </a:p>
          <a:p>
            <a:pPr marL="734278" lvl="1" indent="-367139" algn="just">
              <a:lnSpc>
                <a:spcPts val="4761"/>
              </a:lnSpc>
              <a:spcBef>
                <a:spcPct val="0"/>
              </a:spcBef>
              <a:buFont typeface="Arial"/>
              <a:buChar char="•"/>
            </a:pPr>
            <a:r>
              <a:rPr lang="en-US" sz="3401">
                <a:solidFill>
                  <a:srgbClr val="000000"/>
                </a:solidFill>
                <a:latin typeface="Times New Roman"/>
                <a:ea typeface="Times New Roman"/>
                <a:cs typeface="Times New Roman"/>
                <a:sym typeface="Times New Roman"/>
              </a:rPr>
              <a:t>It checks if patients with higher predicted risk actually experience the event earlier</a:t>
            </a:r>
          </a:p>
          <a:p>
            <a:pPr marL="734278" lvl="1" indent="-367139" algn="just">
              <a:lnSpc>
                <a:spcPts val="4761"/>
              </a:lnSpc>
              <a:spcBef>
                <a:spcPct val="0"/>
              </a:spcBef>
              <a:buFont typeface="Arial"/>
              <a:buChar char="•"/>
            </a:pPr>
            <a:r>
              <a:rPr lang="en-US" sz="3401">
                <a:solidFill>
                  <a:srgbClr val="000000"/>
                </a:solidFill>
                <a:latin typeface="Times New Roman"/>
                <a:ea typeface="Times New Roman"/>
                <a:cs typeface="Times New Roman"/>
                <a:sym typeface="Times New Roman"/>
              </a:rPr>
              <a:t>Values range from 0.5 (random) to 1 (perfect prediction)</a:t>
            </a:r>
          </a:p>
          <a:p>
            <a:pPr marL="734278" lvl="1" indent="-367139" algn="just">
              <a:lnSpc>
                <a:spcPts val="4761"/>
              </a:lnSpc>
              <a:spcBef>
                <a:spcPct val="0"/>
              </a:spcBef>
              <a:buFont typeface="Arial"/>
              <a:buChar char="•"/>
            </a:pPr>
            <a:r>
              <a:rPr lang="en-US" sz="3401">
                <a:solidFill>
                  <a:srgbClr val="000000"/>
                </a:solidFill>
                <a:latin typeface="Times New Roman"/>
                <a:ea typeface="Times New Roman"/>
                <a:cs typeface="Times New Roman"/>
                <a:sym typeface="Times New Roman"/>
              </a:rPr>
              <a:t>Higher value means better performance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660654"/>
            <a:ext cx="7378398" cy="1246036"/>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8509774" y="433164"/>
            <a:ext cx="9219064"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MODEL COMPARISON</a:t>
            </a:r>
          </a:p>
        </p:txBody>
      </p:sp>
      <p:sp>
        <p:nvSpPr>
          <p:cNvPr id="12" name="TextBox 12"/>
          <p:cNvSpPr txBox="1"/>
          <p:nvPr/>
        </p:nvSpPr>
        <p:spPr>
          <a:xfrm>
            <a:off x="1028700" y="2481245"/>
            <a:ext cx="16957689" cy="7210494"/>
          </a:xfrm>
          <a:prstGeom prst="rect">
            <a:avLst/>
          </a:prstGeom>
        </p:spPr>
        <p:txBody>
          <a:bodyPr lIns="0" tIns="0" rIns="0" bIns="0" rtlCol="0" anchor="t">
            <a:spAutoFit/>
          </a:bodyPr>
          <a:lstStyle/>
          <a:p>
            <a:pPr marL="877133" lvl="1" indent="-438566" algn="l">
              <a:lnSpc>
                <a:spcPts val="5687"/>
              </a:lnSpc>
              <a:spcBef>
                <a:spcPct val="0"/>
              </a:spcBef>
              <a:buFont typeface="Arial"/>
              <a:buChar char="•"/>
            </a:pPr>
            <a:r>
              <a:rPr lang="en-US" sz="4062" dirty="0">
                <a:solidFill>
                  <a:srgbClr val="000000"/>
                </a:solidFill>
                <a:latin typeface="Times New Roman"/>
                <a:ea typeface="Times New Roman"/>
                <a:cs typeface="Times New Roman"/>
                <a:sym typeface="Times New Roman"/>
              </a:rPr>
              <a:t>Model comparison is used to see how different models perform and compare them with each other</a:t>
            </a:r>
          </a:p>
          <a:p>
            <a:pPr marL="877133" lvl="1" indent="-438566" algn="l">
              <a:lnSpc>
                <a:spcPts val="5687"/>
              </a:lnSpc>
              <a:spcBef>
                <a:spcPct val="0"/>
              </a:spcBef>
              <a:buFont typeface="Arial"/>
              <a:buChar char="•"/>
            </a:pPr>
            <a:r>
              <a:rPr lang="en-US" sz="4062" dirty="0">
                <a:solidFill>
                  <a:srgbClr val="000000"/>
                </a:solidFill>
                <a:latin typeface="Times New Roman"/>
                <a:ea typeface="Times New Roman"/>
                <a:cs typeface="Times New Roman"/>
                <a:sym typeface="Times New Roman"/>
              </a:rPr>
              <a:t>All models are evaluated using the same metrics to ensure a fair comparison</a:t>
            </a:r>
          </a:p>
          <a:p>
            <a:pPr marL="877133" lvl="1" indent="-438566" algn="l">
              <a:lnSpc>
                <a:spcPts val="5687"/>
              </a:lnSpc>
              <a:spcBef>
                <a:spcPct val="0"/>
              </a:spcBef>
              <a:buFont typeface="Arial"/>
              <a:buChar char="•"/>
            </a:pPr>
            <a:r>
              <a:rPr lang="en-US" sz="4062" dirty="0">
                <a:solidFill>
                  <a:srgbClr val="000000"/>
                </a:solidFill>
                <a:latin typeface="Times New Roman"/>
                <a:ea typeface="Times New Roman"/>
                <a:cs typeface="Times New Roman"/>
                <a:sym typeface="Times New Roman"/>
              </a:rPr>
              <a:t>This helps us clearly identify which model performs better</a:t>
            </a:r>
          </a:p>
          <a:p>
            <a:pPr marL="877133" lvl="1" indent="-438566" algn="l">
              <a:lnSpc>
                <a:spcPts val="5687"/>
              </a:lnSpc>
              <a:spcBef>
                <a:spcPct val="0"/>
              </a:spcBef>
              <a:buFont typeface="Arial"/>
              <a:buChar char="•"/>
            </a:pPr>
            <a:r>
              <a:rPr lang="en-US" sz="4062" dirty="0">
                <a:solidFill>
                  <a:srgbClr val="000000"/>
                </a:solidFill>
                <a:latin typeface="Times New Roman"/>
                <a:ea typeface="Times New Roman"/>
                <a:cs typeface="Times New Roman"/>
                <a:sym typeface="Times New Roman"/>
              </a:rPr>
              <a:t>Models are compared using:</a:t>
            </a:r>
          </a:p>
          <a:p>
            <a:pPr algn="l">
              <a:lnSpc>
                <a:spcPts val="5687"/>
              </a:lnSpc>
            </a:pPr>
            <a:r>
              <a:rPr lang="en-US" sz="4062" dirty="0">
                <a:solidFill>
                  <a:srgbClr val="000000"/>
                </a:solidFill>
                <a:latin typeface="Times New Roman"/>
                <a:ea typeface="Times New Roman"/>
                <a:cs typeface="Times New Roman"/>
                <a:sym typeface="Times New Roman"/>
              </a:rPr>
              <a:t>       C-index → higher value means better ranking ability</a:t>
            </a:r>
          </a:p>
          <a:p>
            <a:pPr marL="877133" lvl="1" indent="-438566" algn="l">
              <a:lnSpc>
                <a:spcPts val="5687"/>
              </a:lnSpc>
              <a:spcBef>
                <a:spcPct val="0"/>
              </a:spcBef>
              <a:buFont typeface="Arial"/>
              <a:buChar char="•"/>
            </a:pPr>
            <a:r>
              <a:rPr lang="en-US" sz="4062" dirty="0">
                <a:solidFill>
                  <a:srgbClr val="000000"/>
                </a:solidFill>
                <a:latin typeface="Times New Roman"/>
                <a:ea typeface="Times New Roman"/>
                <a:cs typeface="Times New Roman"/>
                <a:sym typeface="Times New Roman"/>
              </a:rPr>
              <a:t>This comparison helps in understanding the strengths and limitations of each model</a:t>
            </a:r>
          </a:p>
          <a:p>
            <a:pPr marL="877133" lvl="1" indent="-438566" algn="l">
              <a:lnSpc>
                <a:spcPts val="5687"/>
              </a:lnSpc>
              <a:spcBef>
                <a:spcPct val="0"/>
              </a:spcBef>
              <a:buFont typeface="Arial"/>
              <a:buChar char="•"/>
            </a:pPr>
            <a:r>
              <a:rPr lang="en-US" sz="4062" dirty="0">
                <a:solidFill>
                  <a:srgbClr val="000000"/>
                </a:solidFill>
                <a:latin typeface="Times New Roman"/>
                <a:ea typeface="Times New Roman"/>
                <a:cs typeface="Times New Roman"/>
                <a:sym typeface="Times New Roman"/>
              </a:rPr>
              <a:t>Based on the results, the best-performing model is selected</a:t>
            </a:r>
          </a:p>
          <a:p>
            <a:pPr algn="l">
              <a:lnSpc>
                <a:spcPts val="5687"/>
              </a:lnSpc>
              <a:spcBef>
                <a:spcPct val="0"/>
              </a:spcBef>
            </a:pPr>
            <a:endParaRPr lang="en-US" sz="4062"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38714" y="690372"/>
            <a:ext cx="7378398" cy="1282446"/>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229034" y="2315614"/>
            <a:ext cx="10118816" cy="7784760"/>
          </a:xfrm>
          <a:prstGeom prst="rect">
            <a:avLst/>
          </a:prstGeom>
        </p:spPr>
        <p:txBody>
          <a:bodyPr wrap="square" lIns="0" tIns="0" rIns="0" bIns="0" rtlCol="0" anchor="t">
            <a:spAutoFit/>
          </a:bodyPr>
          <a:lstStyle/>
          <a:p>
            <a:pPr marL="718086" lvl="1" indent="-359043" algn="just">
              <a:lnSpc>
                <a:spcPts val="4656"/>
              </a:lnSpc>
              <a:buFont typeface="Arial"/>
              <a:buChar char="•"/>
            </a:pPr>
            <a:r>
              <a:rPr lang="en-US" sz="3326" dirty="0">
                <a:solidFill>
                  <a:srgbClr val="000000"/>
                </a:solidFill>
                <a:latin typeface="Times New Roman"/>
                <a:ea typeface="Times New Roman"/>
                <a:cs typeface="Times New Roman"/>
                <a:sym typeface="Times New Roman"/>
              </a:rPr>
              <a:t>Multiple datasets (clinical, mRNA, CNV, mutation, miRNA) were integrated</a:t>
            </a:r>
          </a:p>
          <a:p>
            <a:pPr marL="718086" lvl="1" indent="-359043"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Data was merged using inner join to retain common patients</a:t>
            </a:r>
          </a:p>
          <a:p>
            <a:pPr marL="718086" lvl="1" indent="-359043"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Ensured consistency and removed missing patient records</a:t>
            </a:r>
          </a:p>
          <a:p>
            <a:pPr marL="718086" lvl="1" indent="-359043"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Dataset Summary:</a:t>
            </a:r>
          </a:p>
          <a:p>
            <a:pPr marL="1436171" lvl="2" indent="-478724"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161 patients, 49 events (30.4%)(Deaths)</a:t>
            </a:r>
          </a:p>
          <a:p>
            <a:pPr marL="1436171" lvl="2" indent="-478724"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87,914 variables (high-dimensional data)</a:t>
            </a:r>
          </a:p>
          <a:p>
            <a:pPr marL="1436171" lvl="2" indent="-478724"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Survival defined using:</a:t>
            </a:r>
          </a:p>
          <a:p>
            <a:pPr marL="1436171" lvl="2" indent="-478724" algn="just">
              <a:lnSpc>
                <a:spcPts val="4656"/>
              </a:lnSpc>
              <a:spcBef>
                <a:spcPct val="0"/>
              </a:spcBef>
              <a:buFont typeface="Arial"/>
              <a:buChar char="⚬"/>
            </a:pPr>
            <a:r>
              <a:rPr lang="en-US" sz="3326" dirty="0" err="1">
                <a:solidFill>
                  <a:srgbClr val="000000"/>
                </a:solidFill>
                <a:latin typeface="Times New Roman"/>
                <a:ea typeface="Times New Roman"/>
                <a:cs typeface="Times New Roman"/>
                <a:sym typeface="Times New Roman"/>
              </a:rPr>
              <a:t>OS.time</a:t>
            </a:r>
            <a:r>
              <a:rPr lang="en-US" sz="3326" dirty="0">
                <a:solidFill>
                  <a:srgbClr val="000000"/>
                </a:solidFill>
                <a:latin typeface="Times New Roman"/>
                <a:ea typeface="Times New Roman"/>
                <a:cs typeface="Times New Roman"/>
                <a:sym typeface="Times New Roman"/>
              </a:rPr>
              <a:t> (time-to-event)</a:t>
            </a:r>
          </a:p>
          <a:p>
            <a:pPr marL="1436171" lvl="2" indent="-478724"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OS (event indicator)</a:t>
            </a:r>
          </a:p>
          <a:p>
            <a:pPr marL="718086" lvl="1" indent="-359043" algn="just">
              <a:lnSpc>
                <a:spcPts val="4656"/>
              </a:lnSpc>
              <a:spcBef>
                <a:spcPct val="0"/>
              </a:spcBef>
              <a:buFont typeface="Arial"/>
              <a:buChar char="•"/>
            </a:pPr>
            <a:r>
              <a:rPr lang="en-US" sz="3326" dirty="0">
                <a:solidFill>
                  <a:srgbClr val="000000"/>
                </a:solidFill>
                <a:latin typeface="Times New Roman"/>
                <a:ea typeface="Times New Roman"/>
                <a:cs typeface="Times New Roman"/>
                <a:sym typeface="Times New Roman"/>
              </a:rPr>
              <a:t>Reduced features from ~87,000 to 1,707 for modeling</a:t>
            </a:r>
          </a:p>
        </p:txBody>
      </p:sp>
      <p:grpSp>
        <p:nvGrpSpPr>
          <p:cNvPr id="12" name="Group 12"/>
          <p:cNvGrpSpPr/>
          <p:nvPr/>
        </p:nvGrpSpPr>
        <p:grpSpPr>
          <a:xfrm rot="5400000">
            <a:off x="13579137" y="-1529204"/>
            <a:ext cx="1031550" cy="7154987"/>
            <a:chOff x="0" y="0"/>
            <a:chExt cx="271684" cy="1884441"/>
          </a:xfrm>
        </p:grpSpPr>
        <p:sp>
          <p:nvSpPr>
            <p:cNvPr id="13" name="Freeform 13"/>
            <p:cNvSpPr/>
            <p:nvPr/>
          </p:nvSpPr>
          <p:spPr>
            <a:xfrm>
              <a:off x="0" y="0"/>
              <a:ext cx="271684" cy="1884441"/>
            </a:xfrm>
            <a:custGeom>
              <a:avLst/>
              <a:gdLst/>
              <a:ahLst/>
              <a:cxnLst/>
              <a:rect l="l" t="t" r="r" b="b"/>
              <a:pathLst>
                <a:path w="271684" h="1884441">
                  <a:moveTo>
                    <a:pt x="271684" y="0"/>
                  </a:moveTo>
                  <a:lnTo>
                    <a:pt x="271684" y="1884441"/>
                  </a:lnTo>
                  <a:lnTo>
                    <a:pt x="135842" y="1757441"/>
                  </a:lnTo>
                  <a:lnTo>
                    <a:pt x="0" y="1884441"/>
                  </a:lnTo>
                  <a:lnTo>
                    <a:pt x="0" y="0"/>
                  </a:lnTo>
                  <a:lnTo>
                    <a:pt x="271684" y="0"/>
                  </a:lnTo>
                  <a:close/>
                </a:path>
              </a:pathLst>
            </a:custGeom>
            <a:solidFill>
              <a:srgbClr val="FF914D"/>
            </a:solidFill>
          </p:spPr>
        </p:sp>
        <p:sp>
          <p:nvSpPr>
            <p:cNvPr id="14" name="TextBox 14"/>
            <p:cNvSpPr txBox="1"/>
            <p:nvPr/>
          </p:nvSpPr>
          <p:spPr>
            <a:xfrm>
              <a:off x="0" y="-57150"/>
              <a:ext cx="271684" cy="181459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0640498" y="3228452"/>
            <a:ext cx="7628452" cy="6334648"/>
            <a:chOff x="-13807" y="-57150"/>
            <a:chExt cx="1573554" cy="1230542"/>
          </a:xfrm>
        </p:grpSpPr>
        <p:sp>
          <p:nvSpPr>
            <p:cNvPr id="16" name="Freeform 16"/>
            <p:cNvSpPr/>
            <p:nvPr/>
          </p:nvSpPr>
          <p:spPr>
            <a:xfrm>
              <a:off x="-13807" y="-41504"/>
              <a:ext cx="1559747" cy="1173392"/>
            </a:xfrm>
            <a:custGeom>
              <a:avLst/>
              <a:gdLst/>
              <a:ahLst/>
              <a:cxnLst/>
              <a:rect l="l" t="t" r="r" b="b"/>
              <a:pathLst>
                <a:path w="1559747" h="1173392">
                  <a:moveTo>
                    <a:pt x="20860" y="0"/>
                  </a:moveTo>
                  <a:lnTo>
                    <a:pt x="1538887" y="0"/>
                  </a:lnTo>
                  <a:cubicBezTo>
                    <a:pt x="1544419" y="0"/>
                    <a:pt x="1549725" y="2198"/>
                    <a:pt x="1553637" y="6110"/>
                  </a:cubicBezTo>
                  <a:cubicBezTo>
                    <a:pt x="1557549" y="10022"/>
                    <a:pt x="1559747" y="15327"/>
                    <a:pt x="1559747" y="20860"/>
                  </a:cubicBezTo>
                  <a:lnTo>
                    <a:pt x="1559747" y="1152532"/>
                  </a:lnTo>
                  <a:cubicBezTo>
                    <a:pt x="1559747" y="1158064"/>
                    <a:pt x="1557549" y="1163370"/>
                    <a:pt x="1553637" y="1167282"/>
                  </a:cubicBezTo>
                  <a:cubicBezTo>
                    <a:pt x="1549725" y="1171194"/>
                    <a:pt x="1544419" y="1173392"/>
                    <a:pt x="1538887" y="1173392"/>
                  </a:cubicBezTo>
                  <a:lnTo>
                    <a:pt x="20860" y="1173392"/>
                  </a:lnTo>
                  <a:cubicBezTo>
                    <a:pt x="9339" y="1173392"/>
                    <a:pt x="0" y="1164052"/>
                    <a:pt x="0" y="1152532"/>
                  </a:cubicBezTo>
                  <a:lnTo>
                    <a:pt x="0" y="20860"/>
                  </a:lnTo>
                  <a:cubicBezTo>
                    <a:pt x="0" y="15327"/>
                    <a:pt x="2198" y="10022"/>
                    <a:pt x="6110" y="6110"/>
                  </a:cubicBezTo>
                  <a:cubicBezTo>
                    <a:pt x="10022" y="2198"/>
                    <a:pt x="15327" y="0"/>
                    <a:pt x="20860" y="0"/>
                  </a:cubicBezTo>
                  <a:close/>
                </a:path>
              </a:pathLst>
            </a:custGeom>
            <a:solidFill>
              <a:srgbClr val="EDAC4C"/>
            </a:solidFill>
          </p:spPr>
        </p:sp>
        <p:sp>
          <p:nvSpPr>
            <p:cNvPr id="17" name="TextBox 17"/>
            <p:cNvSpPr txBox="1"/>
            <p:nvPr/>
          </p:nvSpPr>
          <p:spPr>
            <a:xfrm>
              <a:off x="0" y="-57150"/>
              <a:ext cx="1559747" cy="1230542"/>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0373196" y="337439"/>
            <a:ext cx="6886104"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ANALYSIS</a:t>
            </a:r>
          </a:p>
        </p:txBody>
      </p:sp>
      <p:sp>
        <p:nvSpPr>
          <p:cNvPr id="19" name="TextBox 19"/>
          <p:cNvSpPr txBox="1"/>
          <p:nvPr/>
        </p:nvSpPr>
        <p:spPr>
          <a:xfrm>
            <a:off x="11117772" y="1644538"/>
            <a:ext cx="6411508" cy="702727"/>
          </a:xfrm>
          <a:prstGeom prst="rect">
            <a:avLst/>
          </a:prstGeom>
        </p:spPr>
        <p:txBody>
          <a:bodyPr lIns="0" tIns="0" rIns="0" bIns="0" rtlCol="0" anchor="t">
            <a:spAutoFit/>
          </a:bodyPr>
          <a:lstStyle/>
          <a:p>
            <a:pPr algn="ctr">
              <a:lnSpc>
                <a:spcPts val="5508"/>
              </a:lnSpc>
              <a:spcBef>
                <a:spcPct val="0"/>
              </a:spcBef>
            </a:pPr>
            <a:r>
              <a:rPr lang="en-US" sz="3934" b="1">
                <a:solidFill>
                  <a:srgbClr val="000000"/>
                </a:solidFill>
                <a:latin typeface="Times New Roman Bold"/>
                <a:ea typeface="Times New Roman Bold"/>
                <a:cs typeface="Times New Roman Bold"/>
                <a:sym typeface="Times New Roman Bold"/>
              </a:rPr>
              <a:t>Integrated dataset description</a:t>
            </a:r>
          </a:p>
        </p:txBody>
      </p:sp>
      <p:sp>
        <p:nvSpPr>
          <p:cNvPr id="20" name="TextBox 20"/>
          <p:cNvSpPr txBox="1"/>
          <p:nvPr/>
        </p:nvSpPr>
        <p:spPr>
          <a:xfrm>
            <a:off x="10704666" y="3648724"/>
            <a:ext cx="7248899" cy="5033645"/>
          </a:xfrm>
          <a:prstGeom prst="rect">
            <a:avLst/>
          </a:prstGeom>
        </p:spPr>
        <p:txBody>
          <a:bodyPr lIns="0" tIns="0" rIns="0" bIns="0" rtlCol="0" anchor="t">
            <a:spAutoFit/>
          </a:bodyPr>
          <a:lstStyle/>
          <a:p>
            <a:pPr marL="690881" lvl="1" indent="-345440" algn="l">
              <a:lnSpc>
                <a:spcPts val="4480"/>
              </a:lnSpc>
              <a:buFont typeface="Arial"/>
              <a:buChar char="•"/>
            </a:pPr>
            <a:r>
              <a:rPr lang="en-US" sz="3200" dirty="0">
                <a:solidFill>
                  <a:srgbClr val="000000"/>
                </a:solidFill>
                <a:latin typeface="Canva Sans"/>
                <a:ea typeface="Canva Sans"/>
                <a:cs typeface="Canva Sans"/>
                <a:sym typeface="Canva Sans"/>
              </a:rPr>
              <a:t>Clinical (17) – basic patient information</a:t>
            </a:r>
          </a:p>
          <a:p>
            <a:pPr marL="690881" lvl="1" indent="-345440" algn="l">
              <a:lnSpc>
                <a:spcPts val="4480"/>
              </a:lnSpc>
              <a:buFont typeface="Arial"/>
              <a:buChar char="•"/>
            </a:pPr>
            <a:r>
              <a:rPr lang="en-US" sz="3200" dirty="0">
                <a:solidFill>
                  <a:srgbClr val="000000"/>
                </a:solidFill>
                <a:latin typeface="Canva Sans"/>
                <a:ea typeface="Canva Sans"/>
                <a:cs typeface="Canva Sans"/>
                <a:sym typeface="Canva Sans"/>
              </a:rPr>
              <a:t>mRNA (20,530) – gene expression</a:t>
            </a:r>
          </a:p>
          <a:p>
            <a:pPr marL="690881" lvl="1" indent="-345440" algn="l">
              <a:lnSpc>
                <a:spcPts val="4480"/>
              </a:lnSpc>
              <a:buFont typeface="Arial"/>
              <a:buChar char="•"/>
            </a:pPr>
            <a:r>
              <a:rPr lang="en-US" sz="3200" dirty="0">
                <a:solidFill>
                  <a:srgbClr val="000000"/>
                </a:solidFill>
                <a:latin typeface="Canva Sans"/>
                <a:ea typeface="Canva Sans"/>
                <a:cs typeface="Canva Sans"/>
                <a:sym typeface="Canva Sans"/>
              </a:rPr>
              <a:t>CNV (24,776) – copy number variation</a:t>
            </a:r>
          </a:p>
          <a:p>
            <a:pPr marL="690881" lvl="1" indent="-345440" algn="l">
              <a:lnSpc>
                <a:spcPts val="4480"/>
              </a:lnSpc>
              <a:buFont typeface="Arial"/>
              <a:buChar char="•"/>
            </a:pPr>
            <a:r>
              <a:rPr lang="en-US" sz="3200" dirty="0">
                <a:solidFill>
                  <a:srgbClr val="000000"/>
                </a:solidFill>
                <a:latin typeface="Canva Sans"/>
                <a:ea typeface="Canva Sans"/>
                <a:cs typeface="Canva Sans"/>
                <a:sym typeface="Canva Sans"/>
              </a:rPr>
              <a:t>Mutation (40,543) – mutation features</a:t>
            </a:r>
          </a:p>
          <a:p>
            <a:pPr marL="690881" lvl="1" indent="-345440" algn="l">
              <a:lnSpc>
                <a:spcPts val="4480"/>
              </a:lnSpc>
              <a:buFont typeface="Arial"/>
              <a:buChar char="•"/>
            </a:pPr>
            <a:r>
              <a:rPr lang="en-US" sz="3200" dirty="0">
                <a:solidFill>
                  <a:srgbClr val="000000"/>
                </a:solidFill>
                <a:latin typeface="Canva Sans"/>
                <a:ea typeface="Canva Sans"/>
                <a:cs typeface="Canva Sans"/>
                <a:sym typeface="Canva Sans"/>
              </a:rPr>
              <a:t>miRNA (2,048) – expression features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35155" y="660654"/>
            <a:ext cx="7378398" cy="1282446"/>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grpSp>
        <p:nvGrpSpPr>
          <p:cNvPr id="11" name="Group 11"/>
          <p:cNvGrpSpPr/>
          <p:nvPr/>
        </p:nvGrpSpPr>
        <p:grpSpPr>
          <a:xfrm rot="5400000">
            <a:off x="13471129" y="-1683711"/>
            <a:ext cx="1044612" cy="7202380"/>
            <a:chOff x="0" y="0"/>
            <a:chExt cx="275124" cy="1896923"/>
          </a:xfrm>
        </p:grpSpPr>
        <p:sp>
          <p:nvSpPr>
            <p:cNvPr id="12" name="Freeform 12"/>
            <p:cNvSpPr/>
            <p:nvPr/>
          </p:nvSpPr>
          <p:spPr>
            <a:xfrm>
              <a:off x="0" y="0"/>
              <a:ext cx="275124" cy="1896923"/>
            </a:xfrm>
            <a:custGeom>
              <a:avLst/>
              <a:gdLst/>
              <a:ahLst/>
              <a:cxnLst/>
              <a:rect l="l" t="t" r="r" b="b"/>
              <a:pathLst>
                <a:path w="275124" h="1896923">
                  <a:moveTo>
                    <a:pt x="275124" y="0"/>
                  </a:moveTo>
                  <a:lnTo>
                    <a:pt x="275124" y="1896923"/>
                  </a:lnTo>
                  <a:lnTo>
                    <a:pt x="137562" y="1769923"/>
                  </a:lnTo>
                  <a:lnTo>
                    <a:pt x="0" y="1896923"/>
                  </a:lnTo>
                  <a:lnTo>
                    <a:pt x="0" y="0"/>
                  </a:lnTo>
                  <a:lnTo>
                    <a:pt x="275124" y="0"/>
                  </a:lnTo>
                  <a:close/>
                </a:path>
              </a:pathLst>
            </a:custGeom>
            <a:solidFill>
              <a:srgbClr val="FF914D"/>
            </a:solidFill>
          </p:spPr>
        </p:sp>
        <p:sp>
          <p:nvSpPr>
            <p:cNvPr id="13" name="TextBox 13"/>
            <p:cNvSpPr txBox="1"/>
            <p:nvPr/>
          </p:nvSpPr>
          <p:spPr>
            <a:xfrm>
              <a:off x="0" y="-57150"/>
              <a:ext cx="275124" cy="1827073"/>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9031739" y="3316859"/>
            <a:ext cx="9168666" cy="6890458"/>
          </a:xfrm>
          <a:custGeom>
            <a:avLst/>
            <a:gdLst/>
            <a:ahLst/>
            <a:cxnLst/>
            <a:rect l="l" t="t" r="r" b="b"/>
            <a:pathLst>
              <a:path w="9168666" h="6890458">
                <a:moveTo>
                  <a:pt x="0" y="0"/>
                </a:moveTo>
                <a:lnTo>
                  <a:pt x="9168666" y="0"/>
                </a:lnTo>
                <a:lnTo>
                  <a:pt x="9168666" y="6890458"/>
                </a:lnTo>
                <a:lnTo>
                  <a:pt x="0" y="6890458"/>
                </a:lnTo>
                <a:lnTo>
                  <a:pt x="0" y="0"/>
                </a:lnTo>
                <a:close/>
              </a:path>
            </a:pathLst>
          </a:custGeom>
          <a:blipFill>
            <a:blip r:embed="rId6"/>
            <a:stretch>
              <a:fillRect b="-1627"/>
            </a:stretch>
          </a:blipFill>
        </p:spPr>
      </p:sp>
      <p:sp>
        <p:nvSpPr>
          <p:cNvPr id="15" name="TextBox 15"/>
          <p:cNvSpPr txBox="1"/>
          <p:nvPr/>
        </p:nvSpPr>
        <p:spPr>
          <a:xfrm>
            <a:off x="-88749" y="2656321"/>
            <a:ext cx="9232749" cy="7294961"/>
          </a:xfrm>
          <a:prstGeom prst="rect">
            <a:avLst/>
          </a:prstGeom>
        </p:spPr>
        <p:txBody>
          <a:bodyPr lIns="0" tIns="0" rIns="0" bIns="0" rtlCol="0" anchor="t">
            <a:spAutoFit/>
          </a:bodyPr>
          <a:lstStyle/>
          <a:p>
            <a:pPr marL="894225" lvl="1" indent="-447113" algn="l">
              <a:lnSpc>
                <a:spcPts val="5798"/>
              </a:lnSpc>
              <a:buFont typeface="Arial"/>
              <a:buChar char="•"/>
            </a:pPr>
            <a:r>
              <a:rPr lang="en-US" sz="4141" dirty="0">
                <a:solidFill>
                  <a:srgbClr val="000000"/>
                </a:solidFill>
                <a:latin typeface="Times New Roman"/>
                <a:ea typeface="Times New Roman"/>
                <a:cs typeface="Times New Roman"/>
                <a:sym typeface="Times New Roman"/>
              </a:rPr>
              <a:t>Combination of statistical and machine learning models for survival analysis</a:t>
            </a:r>
          </a:p>
          <a:p>
            <a:pPr marL="894225" lvl="1" indent="-447113" algn="l">
              <a:lnSpc>
                <a:spcPts val="5798"/>
              </a:lnSpc>
              <a:buFont typeface="Arial"/>
              <a:buChar char="•"/>
            </a:pPr>
            <a:r>
              <a:rPr lang="en-US" sz="4141" dirty="0">
                <a:solidFill>
                  <a:srgbClr val="000000"/>
                </a:solidFill>
                <a:latin typeface="Times New Roman"/>
                <a:ea typeface="Times New Roman"/>
                <a:cs typeface="Times New Roman"/>
                <a:sym typeface="Times New Roman"/>
              </a:rPr>
              <a:t>Kaplan–Meier and Cox model applied on clinical data for baseline understanding</a:t>
            </a:r>
          </a:p>
          <a:p>
            <a:pPr marL="894225" lvl="1" indent="-447113" algn="l">
              <a:lnSpc>
                <a:spcPts val="5798"/>
              </a:lnSpc>
              <a:buFont typeface="Arial"/>
              <a:buChar char="•"/>
            </a:pPr>
            <a:r>
              <a:rPr lang="en-US" sz="4141" dirty="0">
                <a:solidFill>
                  <a:srgbClr val="000000"/>
                </a:solidFill>
                <a:latin typeface="Times New Roman"/>
                <a:ea typeface="Times New Roman"/>
                <a:cs typeface="Times New Roman"/>
                <a:sym typeface="Times New Roman"/>
              </a:rPr>
              <a:t>Advanced models (Lasso Cox, </a:t>
            </a:r>
            <a:r>
              <a:rPr lang="en-US" sz="4141" dirty="0" err="1">
                <a:solidFill>
                  <a:srgbClr val="000000"/>
                </a:solidFill>
                <a:latin typeface="Times New Roman"/>
                <a:ea typeface="Times New Roman"/>
                <a:cs typeface="Times New Roman"/>
                <a:sym typeface="Times New Roman"/>
              </a:rPr>
              <a:t>CoxBoost</a:t>
            </a:r>
            <a:r>
              <a:rPr lang="en-US" sz="4141" dirty="0">
                <a:solidFill>
                  <a:srgbClr val="000000"/>
                </a:solidFill>
                <a:latin typeface="Times New Roman"/>
                <a:ea typeface="Times New Roman"/>
                <a:cs typeface="Times New Roman"/>
                <a:sym typeface="Times New Roman"/>
              </a:rPr>
              <a:t>, Random Forest, Block Forest) applied on multi-omics data</a:t>
            </a:r>
          </a:p>
          <a:p>
            <a:pPr marL="894225" lvl="1" indent="-447113" algn="l">
              <a:lnSpc>
                <a:spcPts val="5798"/>
              </a:lnSpc>
              <a:buFont typeface="Arial"/>
              <a:buChar char="•"/>
            </a:pPr>
            <a:r>
              <a:rPr lang="en-US" sz="4141" dirty="0">
                <a:solidFill>
                  <a:srgbClr val="000000"/>
                </a:solidFill>
                <a:latin typeface="Times New Roman"/>
                <a:ea typeface="Times New Roman"/>
                <a:cs typeface="Times New Roman"/>
                <a:sym typeface="Times New Roman"/>
              </a:rPr>
              <a:t>Models are chosen for their ability to handle high-dimensional data</a:t>
            </a:r>
          </a:p>
        </p:txBody>
      </p:sp>
      <p:sp>
        <p:nvSpPr>
          <p:cNvPr id="16" name="TextBox 16"/>
          <p:cNvSpPr txBox="1"/>
          <p:nvPr/>
        </p:nvSpPr>
        <p:spPr>
          <a:xfrm>
            <a:off x="10373196" y="337439"/>
            <a:ext cx="6886104"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ANALYSIS</a:t>
            </a:r>
          </a:p>
        </p:txBody>
      </p:sp>
      <p:sp>
        <p:nvSpPr>
          <p:cNvPr id="17" name="TextBox 17"/>
          <p:cNvSpPr txBox="1"/>
          <p:nvPr/>
        </p:nvSpPr>
        <p:spPr>
          <a:xfrm>
            <a:off x="11245317" y="1485900"/>
            <a:ext cx="5496235" cy="847989"/>
          </a:xfrm>
          <a:prstGeom prst="rect">
            <a:avLst/>
          </a:prstGeom>
        </p:spPr>
        <p:txBody>
          <a:bodyPr wrap="square" lIns="0" tIns="0" rIns="0" bIns="0" rtlCol="0" anchor="t">
            <a:spAutoFit/>
          </a:bodyPr>
          <a:lstStyle/>
          <a:p>
            <a:pPr algn="ctr">
              <a:lnSpc>
                <a:spcPts val="7242"/>
              </a:lnSpc>
              <a:spcBef>
                <a:spcPct val="0"/>
              </a:spcBef>
            </a:pPr>
            <a:r>
              <a:rPr lang="en-US" sz="5173" b="1" dirty="0">
                <a:solidFill>
                  <a:srgbClr val="000000"/>
                </a:solidFill>
                <a:latin typeface="Times New Roman Bold"/>
                <a:ea typeface="Times New Roman Bold"/>
                <a:cs typeface="Times New Roman Bold"/>
                <a:sym typeface="Times New Roman Bold"/>
              </a:rPr>
              <a:t>Model Approach</a:t>
            </a:r>
          </a:p>
        </p:txBody>
      </p:sp>
      <p:sp>
        <p:nvSpPr>
          <p:cNvPr id="18" name="TextBox 18"/>
          <p:cNvSpPr txBox="1"/>
          <p:nvPr/>
        </p:nvSpPr>
        <p:spPr>
          <a:xfrm>
            <a:off x="12074982" y="2639810"/>
            <a:ext cx="3769026" cy="566421"/>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Times New Roman"/>
                <a:ea typeface="Times New Roman"/>
                <a:cs typeface="Times New Roman"/>
                <a:sym typeface="Times New Roman"/>
              </a:rPr>
              <a:t>Kaplan-Meier Graph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17206" y="657677"/>
            <a:ext cx="7378398" cy="1308973"/>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grpSp>
        <p:nvGrpSpPr>
          <p:cNvPr id="11" name="Group 11"/>
          <p:cNvGrpSpPr/>
          <p:nvPr/>
        </p:nvGrpSpPr>
        <p:grpSpPr>
          <a:xfrm rot="5400000">
            <a:off x="13734439" y="-1552901"/>
            <a:ext cx="1044612" cy="7202380"/>
            <a:chOff x="0" y="0"/>
            <a:chExt cx="275124" cy="1896923"/>
          </a:xfrm>
        </p:grpSpPr>
        <p:sp>
          <p:nvSpPr>
            <p:cNvPr id="12" name="Freeform 12"/>
            <p:cNvSpPr/>
            <p:nvPr/>
          </p:nvSpPr>
          <p:spPr>
            <a:xfrm>
              <a:off x="0" y="0"/>
              <a:ext cx="275124" cy="1896923"/>
            </a:xfrm>
            <a:custGeom>
              <a:avLst/>
              <a:gdLst/>
              <a:ahLst/>
              <a:cxnLst/>
              <a:rect l="l" t="t" r="r" b="b"/>
              <a:pathLst>
                <a:path w="275124" h="1896923">
                  <a:moveTo>
                    <a:pt x="275124" y="0"/>
                  </a:moveTo>
                  <a:lnTo>
                    <a:pt x="275124" y="1896923"/>
                  </a:lnTo>
                  <a:lnTo>
                    <a:pt x="137562" y="1769923"/>
                  </a:lnTo>
                  <a:lnTo>
                    <a:pt x="0" y="1896923"/>
                  </a:lnTo>
                  <a:lnTo>
                    <a:pt x="0" y="0"/>
                  </a:lnTo>
                  <a:lnTo>
                    <a:pt x="275124" y="0"/>
                  </a:lnTo>
                  <a:close/>
                </a:path>
              </a:pathLst>
            </a:custGeom>
            <a:solidFill>
              <a:srgbClr val="FF914D"/>
            </a:solidFill>
          </p:spPr>
        </p:sp>
        <p:sp>
          <p:nvSpPr>
            <p:cNvPr id="13" name="TextBox 13"/>
            <p:cNvSpPr txBox="1"/>
            <p:nvPr/>
          </p:nvSpPr>
          <p:spPr>
            <a:xfrm>
              <a:off x="0" y="-57150"/>
              <a:ext cx="275124" cy="1827073"/>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0444198" y="3037940"/>
            <a:ext cx="3498465" cy="7114450"/>
          </a:xfrm>
          <a:custGeom>
            <a:avLst/>
            <a:gdLst/>
            <a:ahLst/>
            <a:cxnLst/>
            <a:rect l="l" t="t" r="r" b="b"/>
            <a:pathLst>
              <a:path w="3498465" h="7114450">
                <a:moveTo>
                  <a:pt x="0" y="0"/>
                </a:moveTo>
                <a:lnTo>
                  <a:pt x="3498465" y="0"/>
                </a:lnTo>
                <a:lnTo>
                  <a:pt x="3498465" y="7114450"/>
                </a:lnTo>
                <a:lnTo>
                  <a:pt x="0" y="7114450"/>
                </a:lnTo>
                <a:lnTo>
                  <a:pt x="0" y="0"/>
                </a:lnTo>
                <a:close/>
              </a:path>
            </a:pathLst>
          </a:custGeom>
          <a:blipFill>
            <a:blip r:embed="rId6"/>
            <a:stretch>
              <a:fillRect/>
            </a:stretch>
          </a:blipFill>
        </p:spPr>
      </p:sp>
      <p:sp>
        <p:nvSpPr>
          <p:cNvPr id="15" name="Freeform 15"/>
          <p:cNvSpPr/>
          <p:nvPr/>
        </p:nvSpPr>
        <p:spPr>
          <a:xfrm>
            <a:off x="14713508" y="3103996"/>
            <a:ext cx="3028003" cy="7048394"/>
          </a:xfrm>
          <a:custGeom>
            <a:avLst/>
            <a:gdLst/>
            <a:ahLst/>
            <a:cxnLst/>
            <a:rect l="l" t="t" r="r" b="b"/>
            <a:pathLst>
              <a:path w="3028003" h="7048394">
                <a:moveTo>
                  <a:pt x="0" y="0"/>
                </a:moveTo>
                <a:lnTo>
                  <a:pt x="3028004" y="0"/>
                </a:lnTo>
                <a:lnTo>
                  <a:pt x="3028004" y="7048394"/>
                </a:lnTo>
                <a:lnTo>
                  <a:pt x="0" y="7048394"/>
                </a:lnTo>
                <a:lnTo>
                  <a:pt x="0" y="0"/>
                </a:lnTo>
                <a:close/>
              </a:path>
            </a:pathLst>
          </a:custGeom>
          <a:blipFill>
            <a:blip r:embed="rId7"/>
            <a:stretch>
              <a:fillRect l="-984" r="-984"/>
            </a:stretch>
          </a:blipFill>
        </p:spPr>
      </p:sp>
      <p:sp>
        <p:nvSpPr>
          <p:cNvPr id="16" name="TextBox 16"/>
          <p:cNvSpPr txBox="1"/>
          <p:nvPr/>
        </p:nvSpPr>
        <p:spPr>
          <a:xfrm>
            <a:off x="10373196" y="337439"/>
            <a:ext cx="6886104"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ANALYSIS</a:t>
            </a:r>
          </a:p>
        </p:txBody>
      </p:sp>
      <p:sp>
        <p:nvSpPr>
          <p:cNvPr id="17" name="TextBox 17"/>
          <p:cNvSpPr txBox="1"/>
          <p:nvPr/>
        </p:nvSpPr>
        <p:spPr>
          <a:xfrm>
            <a:off x="0" y="2828724"/>
            <a:ext cx="10040128" cy="7239391"/>
          </a:xfrm>
          <a:prstGeom prst="rect">
            <a:avLst/>
          </a:prstGeom>
        </p:spPr>
        <p:txBody>
          <a:bodyPr lIns="0" tIns="0" rIns="0" bIns="0" rtlCol="0" anchor="t">
            <a:spAutoFit/>
          </a:bodyPr>
          <a:lstStyle/>
          <a:p>
            <a:pPr marL="887265" lvl="1" indent="-443632" algn="just">
              <a:lnSpc>
                <a:spcPts val="5753"/>
              </a:lnSpc>
              <a:buFont typeface="Arial"/>
              <a:buChar char="•"/>
            </a:pPr>
            <a:r>
              <a:rPr lang="en-US" sz="4109">
                <a:solidFill>
                  <a:srgbClr val="000000"/>
                </a:solidFill>
                <a:latin typeface="Times New Roman"/>
                <a:ea typeface="Times New Roman"/>
                <a:cs typeface="Times New Roman"/>
                <a:sym typeface="Times New Roman"/>
              </a:rPr>
              <a:t>A 5-fold cross-validation approach was used to evaluate model performance</a:t>
            </a:r>
          </a:p>
          <a:p>
            <a:pPr marL="887265" lvl="1" indent="-443632" algn="just">
              <a:lnSpc>
                <a:spcPts val="5753"/>
              </a:lnSpc>
              <a:buFont typeface="Arial"/>
              <a:buChar char="•"/>
            </a:pPr>
            <a:r>
              <a:rPr lang="en-US" sz="4109">
                <a:solidFill>
                  <a:srgbClr val="000000"/>
                </a:solidFill>
                <a:latin typeface="Times New Roman"/>
                <a:ea typeface="Times New Roman"/>
                <a:cs typeface="Times New Roman"/>
                <a:sym typeface="Times New Roman"/>
              </a:rPr>
              <a:t>The dataset was randomly divided into 5 equal subsets (folds)</a:t>
            </a:r>
          </a:p>
          <a:p>
            <a:pPr marL="887265" lvl="1" indent="-443632" algn="just">
              <a:lnSpc>
                <a:spcPts val="5753"/>
              </a:lnSpc>
              <a:buFont typeface="Arial"/>
              <a:buChar char="•"/>
            </a:pPr>
            <a:r>
              <a:rPr lang="en-US" sz="4109">
                <a:solidFill>
                  <a:srgbClr val="000000"/>
                </a:solidFill>
                <a:latin typeface="Times New Roman"/>
                <a:ea typeface="Times New Roman"/>
                <a:cs typeface="Times New Roman"/>
                <a:sym typeface="Times New Roman"/>
              </a:rPr>
              <a:t>In each iteration:</a:t>
            </a:r>
          </a:p>
          <a:p>
            <a:pPr marL="887265" lvl="1" indent="-443632" algn="just">
              <a:lnSpc>
                <a:spcPts val="5753"/>
              </a:lnSpc>
              <a:buFont typeface="Arial"/>
              <a:buChar char="•"/>
            </a:pPr>
            <a:r>
              <a:rPr lang="en-US" sz="4109">
                <a:solidFill>
                  <a:srgbClr val="000000"/>
                </a:solidFill>
                <a:latin typeface="Times New Roman"/>
                <a:ea typeface="Times New Roman"/>
                <a:cs typeface="Times New Roman"/>
                <a:sym typeface="Times New Roman"/>
              </a:rPr>
              <a:t>4 folds were used for training</a:t>
            </a:r>
          </a:p>
          <a:p>
            <a:pPr marL="887265" lvl="1" indent="-443632" algn="just">
              <a:lnSpc>
                <a:spcPts val="5753"/>
              </a:lnSpc>
              <a:buFont typeface="Arial"/>
              <a:buChar char="•"/>
            </a:pPr>
            <a:r>
              <a:rPr lang="en-US" sz="4109">
                <a:solidFill>
                  <a:srgbClr val="000000"/>
                </a:solidFill>
                <a:latin typeface="Times New Roman"/>
                <a:ea typeface="Times New Roman"/>
                <a:cs typeface="Times New Roman"/>
                <a:sym typeface="Times New Roman"/>
              </a:rPr>
              <a:t>1 fold was used for testing</a:t>
            </a:r>
          </a:p>
          <a:p>
            <a:pPr marL="887265" lvl="1" indent="-443632" algn="just">
              <a:lnSpc>
                <a:spcPts val="5753"/>
              </a:lnSpc>
              <a:buFont typeface="Arial"/>
              <a:buChar char="•"/>
            </a:pPr>
            <a:r>
              <a:rPr lang="en-US" sz="4109">
                <a:solidFill>
                  <a:srgbClr val="000000"/>
                </a:solidFill>
                <a:latin typeface="Times New Roman"/>
                <a:ea typeface="Times New Roman"/>
                <a:cs typeface="Times New Roman"/>
                <a:sym typeface="Times New Roman"/>
              </a:rPr>
              <a:t>This process was repeated 5 times, ensuring each fold was used once as test data</a:t>
            </a:r>
          </a:p>
        </p:txBody>
      </p:sp>
      <p:sp>
        <p:nvSpPr>
          <p:cNvPr id="18" name="TextBox 18"/>
          <p:cNvSpPr txBox="1"/>
          <p:nvPr/>
        </p:nvSpPr>
        <p:spPr>
          <a:xfrm>
            <a:off x="11207520" y="1510477"/>
            <a:ext cx="6051780" cy="942275"/>
          </a:xfrm>
          <a:prstGeom prst="rect">
            <a:avLst/>
          </a:prstGeom>
        </p:spPr>
        <p:txBody>
          <a:bodyPr lIns="0" tIns="0" rIns="0" bIns="0" rtlCol="0" anchor="t">
            <a:spAutoFit/>
          </a:bodyPr>
          <a:lstStyle/>
          <a:p>
            <a:pPr algn="ctr">
              <a:lnSpc>
                <a:spcPts val="7451"/>
              </a:lnSpc>
              <a:spcBef>
                <a:spcPct val="0"/>
              </a:spcBef>
            </a:pPr>
            <a:r>
              <a:rPr lang="en-US" sz="5322" b="1">
                <a:solidFill>
                  <a:srgbClr val="000000"/>
                </a:solidFill>
                <a:latin typeface="Times New Roman Bold"/>
                <a:ea typeface="Times New Roman Bold"/>
                <a:cs typeface="Times New Roman Bold"/>
                <a:sym typeface="Times New Roman Bold"/>
              </a:rPr>
              <a:t>5 Cross-Validation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27039" y="734323"/>
            <a:ext cx="7378398" cy="1155682"/>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0" y="2484871"/>
            <a:ext cx="11101654" cy="7740888"/>
          </a:xfrm>
          <a:prstGeom prst="rect">
            <a:avLst/>
          </a:prstGeom>
        </p:spPr>
        <p:txBody>
          <a:bodyPr lIns="0" tIns="0" rIns="0" bIns="0" rtlCol="0" anchor="t">
            <a:spAutoFit/>
          </a:bodyPr>
          <a:lstStyle/>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Performance measured using C-index (mean ± SD)</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Evaluated with 5-fold cross-validation</a:t>
            </a:r>
          </a:p>
          <a:p>
            <a:pPr algn="l">
              <a:lnSpc>
                <a:spcPts val="4361"/>
              </a:lnSpc>
            </a:pPr>
            <a:r>
              <a:rPr lang="en-US" sz="3115" dirty="0">
                <a:solidFill>
                  <a:srgbClr val="000000"/>
                </a:solidFill>
                <a:latin typeface="Times New Roman"/>
                <a:ea typeface="Times New Roman"/>
                <a:cs typeface="Times New Roman"/>
                <a:sym typeface="Times New Roman"/>
              </a:rPr>
              <a:t> Results:</a:t>
            </a:r>
          </a:p>
          <a:p>
            <a:pPr marL="672664" lvl="1" indent="-336332" algn="l">
              <a:lnSpc>
                <a:spcPts val="4361"/>
              </a:lnSpc>
              <a:buFont typeface="Arial"/>
              <a:buChar char="•"/>
            </a:pPr>
            <a:r>
              <a:rPr lang="en-US" sz="3115" dirty="0" err="1">
                <a:solidFill>
                  <a:srgbClr val="000000"/>
                </a:solidFill>
                <a:latin typeface="Times New Roman"/>
                <a:ea typeface="Times New Roman"/>
                <a:cs typeface="Times New Roman"/>
                <a:sym typeface="Times New Roman"/>
              </a:rPr>
              <a:t>BlockForest</a:t>
            </a:r>
            <a:r>
              <a:rPr lang="en-US" sz="3115" dirty="0">
                <a:solidFill>
                  <a:srgbClr val="000000"/>
                </a:solidFill>
                <a:latin typeface="Times New Roman"/>
                <a:ea typeface="Times New Roman"/>
                <a:cs typeface="Times New Roman"/>
                <a:sym typeface="Times New Roman"/>
              </a:rPr>
              <a:t>: 0.825 ± 0.078 → Highest accuracy, slightly variable</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Clinical Cox: 0.809 ± 0.067 → Slightly lower accuracy, more stable</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Lasso Cox: 0.78 ± 0.070 → Balanced performance</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Random Forest: 0.696 ± 0.077 → Lower accuracy, less stable</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Kaplan-Meier &amp; </a:t>
            </a:r>
            <a:r>
              <a:rPr lang="en-US" sz="3115" dirty="0" err="1">
                <a:solidFill>
                  <a:srgbClr val="000000"/>
                </a:solidFill>
                <a:latin typeface="Times New Roman"/>
                <a:ea typeface="Times New Roman"/>
                <a:cs typeface="Times New Roman"/>
                <a:sym typeface="Times New Roman"/>
              </a:rPr>
              <a:t>CoxBoost</a:t>
            </a:r>
            <a:r>
              <a:rPr lang="en-US" sz="3115" dirty="0">
                <a:solidFill>
                  <a:srgbClr val="000000"/>
                </a:solidFill>
                <a:latin typeface="Times New Roman"/>
                <a:ea typeface="Times New Roman"/>
                <a:cs typeface="Times New Roman"/>
                <a:sym typeface="Times New Roman"/>
              </a:rPr>
              <a:t>: 0.50 ± 0.00 → Baseline</a:t>
            </a:r>
          </a:p>
          <a:p>
            <a:pPr algn="l">
              <a:lnSpc>
                <a:spcPts val="4361"/>
              </a:lnSpc>
            </a:pPr>
            <a:r>
              <a:rPr lang="en-US" sz="3115" dirty="0">
                <a:solidFill>
                  <a:srgbClr val="000000"/>
                </a:solidFill>
                <a:latin typeface="Times New Roman"/>
                <a:ea typeface="Times New Roman"/>
                <a:cs typeface="Times New Roman"/>
                <a:sym typeface="Times New Roman"/>
              </a:rPr>
              <a:t> Conclusion:</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Best model = high mean + low SD</a:t>
            </a:r>
          </a:p>
          <a:p>
            <a:pPr marL="672664" lvl="1" indent="-336332" algn="l">
              <a:lnSpc>
                <a:spcPts val="4361"/>
              </a:lnSpc>
              <a:buFont typeface="Arial"/>
              <a:buChar char="•"/>
            </a:pPr>
            <a:r>
              <a:rPr lang="en-US" sz="3115" dirty="0" err="1">
                <a:solidFill>
                  <a:srgbClr val="000000"/>
                </a:solidFill>
                <a:latin typeface="Times New Roman"/>
                <a:ea typeface="Times New Roman"/>
                <a:cs typeface="Times New Roman"/>
                <a:sym typeface="Times New Roman"/>
              </a:rPr>
              <a:t>BlockForest</a:t>
            </a:r>
            <a:r>
              <a:rPr lang="en-US" sz="3115" dirty="0">
                <a:solidFill>
                  <a:srgbClr val="000000"/>
                </a:solidFill>
                <a:latin typeface="Times New Roman"/>
                <a:ea typeface="Times New Roman"/>
                <a:cs typeface="Times New Roman"/>
                <a:sym typeface="Times New Roman"/>
              </a:rPr>
              <a:t> → best accuracy</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Clinical Cox → best stability</a:t>
            </a:r>
          </a:p>
          <a:p>
            <a:pPr marL="672664" lvl="1" indent="-336332" algn="l">
              <a:lnSpc>
                <a:spcPts val="4361"/>
              </a:lnSpc>
              <a:buFont typeface="Arial"/>
              <a:buChar char="•"/>
            </a:pPr>
            <a:r>
              <a:rPr lang="en-US" sz="3115" dirty="0">
                <a:solidFill>
                  <a:srgbClr val="000000"/>
                </a:solidFill>
                <a:latin typeface="Times New Roman"/>
                <a:ea typeface="Times New Roman"/>
                <a:cs typeface="Times New Roman"/>
                <a:sym typeface="Times New Roman"/>
              </a:rPr>
              <a:t>Trade-off between performance and consistency</a:t>
            </a:r>
          </a:p>
        </p:txBody>
      </p:sp>
      <p:grpSp>
        <p:nvGrpSpPr>
          <p:cNvPr id="12" name="Group 12"/>
          <p:cNvGrpSpPr/>
          <p:nvPr/>
        </p:nvGrpSpPr>
        <p:grpSpPr>
          <a:xfrm rot="5400000">
            <a:off x="13734439" y="-1552901"/>
            <a:ext cx="1044612" cy="7202380"/>
            <a:chOff x="0" y="0"/>
            <a:chExt cx="275124" cy="1896923"/>
          </a:xfrm>
        </p:grpSpPr>
        <p:sp>
          <p:nvSpPr>
            <p:cNvPr id="13" name="Freeform 13"/>
            <p:cNvSpPr/>
            <p:nvPr/>
          </p:nvSpPr>
          <p:spPr>
            <a:xfrm>
              <a:off x="0" y="0"/>
              <a:ext cx="275124" cy="1896923"/>
            </a:xfrm>
            <a:custGeom>
              <a:avLst/>
              <a:gdLst/>
              <a:ahLst/>
              <a:cxnLst/>
              <a:rect l="l" t="t" r="r" b="b"/>
              <a:pathLst>
                <a:path w="275124" h="1896923">
                  <a:moveTo>
                    <a:pt x="275124" y="0"/>
                  </a:moveTo>
                  <a:lnTo>
                    <a:pt x="275124" y="1896923"/>
                  </a:lnTo>
                  <a:lnTo>
                    <a:pt x="137562" y="1769923"/>
                  </a:lnTo>
                  <a:lnTo>
                    <a:pt x="0" y="1896923"/>
                  </a:lnTo>
                  <a:lnTo>
                    <a:pt x="0" y="0"/>
                  </a:lnTo>
                  <a:lnTo>
                    <a:pt x="275124" y="0"/>
                  </a:lnTo>
                  <a:close/>
                </a:path>
              </a:pathLst>
            </a:custGeom>
            <a:solidFill>
              <a:srgbClr val="FF914D"/>
            </a:solidFill>
          </p:spPr>
        </p:sp>
        <p:sp>
          <p:nvSpPr>
            <p:cNvPr id="14" name="TextBox 14"/>
            <p:cNvSpPr txBox="1"/>
            <p:nvPr/>
          </p:nvSpPr>
          <p:spPr>
            <a:xfrm>
              <a:off x="0" y="-57150"/>
              <a:ext cx="275124" cy="1827073"/>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0373196" y="337439"/>
            <a:ext cx="6886104"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ANALYSIS</a:t>
            </a:r>
          </a:p>
        </p:txBody>
      </p:sp>
      <p:sp>
        <p:nvSpPr>
          <p:cNvPr id="17" name="TextBox 17"/>
          <p:cNvSpPr txBox="1"/>
          <p:nvPr/>
        </p:nvSpPr>
        <p:spPr>
          <a:xfrm>
            <a:off x="11613829" y="1581126"/>
            <a:ext cx="6244106" cy="820026"/>
          </a:xfrm>
          <a:prstGeom prst="rect">
            <a:avLst/>
          </a:prstGeom>
        </p:spPr>
        <p:txBody>
          <a:bodyPr lIns="0" tIns="0" rIns="0" bIns="0" rtlCol="0" anchor="t">
            <a:spAutoFit/>
          </a:bodyPr>
          <a:lstStyle/>
          <a:p>
            <a:pPr algn="ctr">
              <a:lnSpc>
                <a:spcPts val="6501"/>
              </a:lnSpc>
              <a:spcBef>
                <a:spcPct val="0"/>
              </a:spcBef>
            </a:pPr>
            <a:r>
              <a:rPr lang="en-US" sz="4643" b="1">
                <a:solidFill>
                  <a:srgbClr val="000000"/>
                </a:solidFill>
                <a:latin typeface="Times New Roman Bold"/>
                <a:ea typeface="Times New Roman Bold"/>
                <a:cs typeface="Times New Roman Bold"/>
                <a:sym typeface="Times New Roman Bold"/>
              </a:rPr>
              <a:t>Model Evaluation</a:t>
            </a:r>
          </a:p>
        </p:txBody>
      </p:sp>
      <p:pic>
        <p:nvPicPr>
          <p:cNvPr id="21" name="Picture 20">
            <a:extLst>
              <a:ext uri="{FF2B5EF4-FFF2-40B4-BE49-F238E27FC236}">
                <a16:creationId xmlns:a16="http://schemas.microsoft.com/office/drawing/2014/main" id="{D228DC74-0A2A-ADF1-B7BA-96D7D46D2C64}"/>
              </a:ext>
            </a:extLst>
          </p:cNvPr>
          <p:cNvPicPr>
            <a:picLocks noChangeAspect="1"/>
          </p:cNvPicPr>
          <p:nvPr/>
        </p:nvPicPr>
        <p:blipFill>
          <a:blip r:embed="rId6"/>
          <a:stretch>
            <a:fillRect/>
          </a:stretch>
        </p:blipFill>
        <p:spPr>
          <a:xfrm>
            <a:off x="11101654" y="2837704"/>
            <a:ext cx="6763326" cy="721762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7374" y="660654"/>
            <a:ext cx="7378398" cy="1199514"/>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88749" y="2704684"/>
            <a:ext cx="18288000" cy="119951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000000"/>
                </a:solidFill>
                <a:latin typeface="Times New Roman"/>
                <a:ea typeface="Times New Roman"/>
                <a:cs typeface="Times New Roman"/>
                <a:sym typeface="Times New Roman"/>
              </a:rPr>
              <a:t>Model performance was compared using the mean C-index computed across 5 cross-validation folds</a:t>
            </a:r>
          </a:p>
          <a:p>
            <a:pPr algn="l">
              <a:lnSpc>
                <a:spcPts val="4759"/>
              </a:lnSpc>
            </a:pPr>
            <a:endParaRPr lang="en-US" sz="3399">
              <a:solidFill>
                <a:srgbClr val="000000"/>
              </a:solidFill>
              <a:latin typeface="Times New Roman"/>
              <a:ea typeface="Times New Roman"/>
              <a:cs typeface="Times New Roman"/>
              <a:sym typeface="Times New Roman"/>
            </a:endParaRPr>
          </a:p>
        </p:txBody>
      </p:sp>
      <p:grpSp>
        <p:nvGrpSpPr>
          <p:cNvPr id="12" name="Group 12"/>
          <p:cNvGrpSpPr/>
          <p:nvPr/>
        </p:nvGrpSpPr>
        <p:grpSpPr>
          <a:xfrm rot="5400000">
            <a:off x="13149996" y="-2318838"/>
            <a:ext cx="973830" cy="8616013"/>
            <a:chOff x="0" y="0"/>
            <a:chExt cx="275124" cy="2434176"/>
          </a:xfrm>
        </p:grpSpPr>
        <p:sp>
          <p:nvSpPr>
            <p:cNvPr id="13" name="Freeform 13"/>
            <p:cNvSpPr/>
            <p:nvPr/>
          </p:nvSpPr>
          <p:spPr>
            <a:xfrm>
              <a:off x="0" y="0"/>
              <a:ext cx="275124" cy="2434176"/>
            </a:xfrm>
            <a:custGeom>
              <a:avLst/>
              <a:gdLst/>
              <a:ahLst/>
              <a:cxnLst/>
              <a:rect l="l" t="t" r="r" b="b"/>
              <a:pathLst>
                <a:path w="275124" h="2434176">
                  <a:moveTo>
                    <a:pt x="275124" y="0"/>
                  </a:moveTo>
                  <a:lnTo>
                    <a:pt x="275124" y="2434176"/>
                  </a:lnTo>
                  <a:lnTo>
                    <a:pt x="137562" y="2307176"/>
                  </a:lnTo>
                  <a:lnTo>
                    <a:pt x="0" y="2434176"/>
                  </a:lnTo>
                  <a:lnTo>
                    <a:pt x="0" y="0"/>
                  </a:lnTo>
                  <a:lnTo>
                    <a:pt x="275124" y="0"/>
                  </a:lnTo>
                  <a:close/>
                </a:path>
              </a:pathLst>
            </a:custGeom>
            <a:solidFill>
              <a:srgbClr val="FF914D"/>
            </a:solidFill>
          </p:spPr>
        </p:sp>
        <p:sp>
          <p:nvSpPr>
            <p:cNvPr id="14" name="TextBox 14"/>
            <p:cNvSpPr txBox="1"/>
            <p:nvPr/>
          </p:nvSpPr>
          <p:spPr>
            <a:xfrm>
              <a:off x="0" y="-57150"/>
              <a:ext cx="275124" cy="2364326"/>
            </a:xfrm>
            <a:prstGeom prst="rect">
              <a:avLst/>
            </a:prstGeom>
          </p:spPr>
          <p:txBody>
            <a:bodyPr lIns="50800" tIns="50800" rIns="50800" bIns="50800" rtlCol="0" anchor="ctr"/>
            <a:lstStyle/>
            <a:p>
              <a:pPr algn="ctr">
                <a:lnSpc>
                  <a:spcPts val="2659"/>
                </a:lnSpc>
              </a:pPr>
              <a:endParaRPr/>
            </a:p>
          </p:txBody>
        </p:sp>
      </p:grpSp>
      <p:graphicFrame>
        <p:nvGraphicFramePr>
          <p:cNvPr id="15" name="Table 15"/>
          <p:cNvGraphicFramePr>
            <a:graphicFrameLocks noGrp="1"/>
          </p:cNvGraphicFramePr>
          <p:nvPr/>
        </p:nvGraphicFramePr>
        <p:xfrm>
          <a:off x="178728" y="3669297"/>
          <a:ext cx="10391315" cy="6271099"/>
        </p:xfrm>
        <a:graphic>
          <a:graphicData uri="http://schemas.openxmlformats.org/drawingml/2006/table">
            <a:tbl>
              <a:tblPr/>
              <a:tblGrid>
                <a:gridCol w="5685503">
                  <a:extLst>
                    <a:ext uri="{9D8B030D-6E8A-4147-A177-3AD203B41FA5}">
                      <a16:colId xmlns:a16="http://schemas.microsoft.com/office/drawing/2014/main" val="20000"/>
                    </a:ext>
                  </a:extLst>
                </a:gridCol>
                <a:gridCol w="4705812">
                  <a:extLst>
                    <a:ext uri="{9D8B030D-6E8A-4147-A177-3AD203B41FA5}">
                      <a16:colId xmlns:a16="http://schemas.microsoft.com/office/drawing/2014/main" val="20001"/>
                    </a:ext>
                  </a:extLst>
                </a:gridCol>
              </a:tblGrid>
              <a:tr h="1080139">
                <a:tc>
                  <a:txBody>
                    <a:bodyPr/>
                    <a:lstStyle/>
                    <a:p>
                      <a:pPr algn="ctr">
                        <a:lnSpc>
                          <a:spcPts val="3919"/>
                        </a:lnSpc>
                        <a:defRPr/>
                      </a:pPr>
                      <a:r>
                        <a:rPr lang="en-US" sz="2799" b="1">
                          <a:solidFill>
                            <a:srgbClr val="000000"/>
                          </a:solidFill>
                          <a:latin typeface="Times New Roman Bold"/>
                          <a:ea typeface="Times New Roman Bold"/>
                          <a:cs typeface="Times New Roman Bold"/>
                          <a:sym typeface="Times New Roman Bold"/>
                        </a:rPr>
                        <a:t>Model</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FFEBCD"/>
                    </a:solidFill>
                  </a:tcPr>
                </a:tc>
                <a:tc>
                  <a:txBody>
                    <a:bodyPr/>
                    <a:lstStyle/>
                    <a:p>
                      <a:pPr algn="ctr">
                        <a:lnSpc>
                          <a:spcPts val="3919"/>
                        </a:lnSpc>
                        <a:defRPr/>
                      </a:pPr>
                      <a:r>
                        <a:rPr lang="en-US" sz="2799" b="1">
                          <a:solidFill>
                            <a:srgbClr val="000000"/>
                          </a:solidFill>
                          <a:latin typeface="Times New Roman Bold"/>
                          <a:ea typeface="Times New Roman Bold"/>
                          <a:cs typeface="Times New Roman Bold"/>
                          <a:sym typeface="Times New Roman Bold"/>
                        </a:rPr>
                        <a:t>Mean C-index</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FFEBCD"/>
                    </a:solidFill>
                  </a:tcPr>
                </a:tc>
                <a:extLst>
                  <a:ext uri="{0D108BD9-81ED-4DB2-BD59-A6C34878D82A}">
                    <a16:rowId xmlns:a16="http://schemas.microsoft.com/office/drawing/2014/main" val="10000"/>
                  </a:ext>
                </a:extLst>
              </a:tr>
              <a:tr h="1038192">
                <a:tc>
                  <a:txBody>
                    <a:bodyPr/>
                    <a:lstStyle/>
                    <a:p>
                      <a:pPr algn="ctr">
                        <a:lnSpc>
                          <a:spcPts val="3639"/>
                        </a:lnSpc>
                        <a:defRPr/>
                      </a:pPr>
                      <a:r>
                        <a:rPr lang="en-US" sz="2599">
                          <a:solidFill>
                            <a:srgbClr val="000000"/>
                          </a:solidFill>
                          <a:latin typeface="Times New Roman"/>
                          <a:ea typeface="Times New Roman"/>
                          <a:cs typeface="Times New Roman"/>
                          <a:sym typeface="Times New Roman"/>
                        </a:rPr>
                        <a:t>Block Forest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639"/>
                        </a:lnSpc>
                        <a:defRPr/>
                      </a:pPr>
                      <a:r>
                        <a:rPr lang="en-US" sz="2599">
                          <a:solidFill>
                            <a:srgbClr val="000000"/>
                          </a:solidFill>
                          <a:latin typeface="Times New Roman"/>
                          <a:ea typeface="Times New Roman"/>
                          <a:cs typeface="Times New Roman"/>
                          <a:sym typeface="Times New Roman"/>
                        </a:rPr>
                        <a:t>0.825</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1"/>
                  </a:ext>
                </a:extLst>
              </a:tr>
              <a:tr h="1038192">
                <a:tc>
                  <a:txBody>
                    <a:bodyPr/>
                    <a:lstStyle/>
                    <a:p>
                      <a:pPr algn="ctr">
                        <a:lnSpc>
                          <a:spcPts val="3639"/>
                        </a:lnSpc>
                        <a:defRPr/>
                      </a:pPr>
                      <a:r>
                        <a:rPr lang="en-US" sz="2599">
                          <a:solidFill>
                            <a:srgbClr val="000000"/>
                          </a:solidFill>
                          <a:latin typeface="Times New Roman"/>
                          <a:ea typeface="Times New Roman"/>
                          <a:cs typeface="Times New Roman"/>
                          <a:sym typeface="Times New Roman"/>
                        </a:rPr>
                        <a:t>Clinical Cox</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639"/>
                        </a:lnSpc>
                        <a:defRPr/>
                      </a:pPr>
                      <a:r>
                        <a:rPr lang="en-US" sz="2599">
                          <a:solidFill>
                            <a:srgbClr val="000000"/>
                          </a:solidFill>
                          <a:latin typeface="Times New Roman"/>
                          <a:ea typeface="Times New Roman"/>
                          <a:cs typeface="Times New Roman"/>
                          <a:sym typeface="Times New Roman"/>
                        </a:rPr>
                        <a:t>0.809</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2"/>
                  </a:ext>
                </a:extLst>
              </a:tr>
              <a:tr h="1038192">
                <a:tc>
                  <a:txBody>
                    <a:bodyPr/>
                    <a:lstStyle/>
                    <a:p>
                      <a:pPr algn="ctr">
                        <a:lnSpc>
                          <a:spcPts val="3639"/>
                        </a:lnSpc>
                        <a:defRPr/>
                      </a:pPr>
                      <a:r>
                        <a:rPr lang="en-US" sz="2599">
                          <a:solidFill>
                            <a:srgbClr val="000000"/>
                          </a:solidFill>
                          <a:latin typeface="Times New Roman"/>
                          <a:ea typeface="Times New Roman"/>
                          <a:cs typeface="Times New Roman"/>
                          <a:sym typeface="Times New Roman"/>
                        </a:rPr>
                        <a:t>Lasso Cox</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639"/>
                        </a:lnSpc>
                        <a:defRPr/>
                      </a:pPr>
                      <a:r>
                        <a:rPr lang="en-US" sz="2599">
                          <a:solidFill>
                            <a:srgbClr val="000000"/>
                          </a:solidFill>
                          <a:latin typeface="Times New Roman"/>
                          <a:ea typeface="Times New Roman"/>
                          <a:cs typeface="Times New Roman"/>
                          <a:sym typeface="Times New Roman"/>
                        </a:rPr>
                        <a:t>0.780</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3"/>
                  </a:ext>
                </a:extLst>
              </a:tr>
              <a:tr h="1038192">
                <a:tc>
                  <a:txBody>
                    <a:bodyPr/>
                    <a:lstStyle/>
                    <a:p>
                      <a:pPr algn="ctr">
                        <a:lnSpc>
                          <a:spcPts val="3639"/>
                        </a:lnSpc>
                        <a:defRPr/>
                      </a:pPr>
                      <a:r>
                        <a:rPr lang="en-US" sz="2599">
                          <a:solidFill>
                            <a:srgbClr val="000000"/>
                          </a:solidFill>
                          <a:latin typeface="Times New Roman"/>
                          <a:ea typeface="Times New Roman"/>
                          <a:cs typeface="Times New Roman"/>
                          <a:sym typeface="Times New Roman"/>
                        </a:rPr>
                        <a:t>Random Forest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639"/>
                        </a:lnSpc>
                        <a:defRPr/>
                      </a:pPr>
                      <a:r>
                        <a:rPr lang="en-US" sz="2599">
                          <a:solidFill>
                            <a:srgbClr val="000000"/>
                          </a:solidFill>
                          <a:latin typeface="Times New Roman"/>
                          <a:ea typeface="Times New Roman"/>
                          <a:cs typeface="Times New Roman"/>
                          <a:sym typeface="Times New Roman"/>
                        </a:rPr>
                        <a:t>0.696</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4"/>
                  </a:ext>
                </a:extLst>
              </a:tr>
              <a:tr h="1038192">
                <a:tc>
                  <a:txBody>
                    <a:bodyPr/>
                    <a:lstStyle/>
                    <a:p>
                      <a:pPr algn="ctr">
                        <a:lnSpc>
                          <a:spcPts val="3639"/>
                        </a:lnSpc>
                        <a:defRPr/>
                      </a:pPr>
                      <a:r>
                        <a:rPr lang="en-US" sz="2599">
                          <a:solidFill>
                            <a:srgbClr val="000000"/>
                          </a:solidFill>
                          <a:latin typeface="Times New Roman"/>
                          <a:ea typeface="Times New Roman"/>
                          <a:cs typeface="Times New Roman"/>
                          <a:sym typeface="Times New Roman"/>
                        </a:rPr>
                        <a:t>Kaplan-Meier/CoxBoost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639"/>
                        </a:lnSpc>
                        <a:defRPr/>
                      </a:pPr>
                      <a:r>
                        <a:rPr lang="en-US" sz="2599">
                          <a:solidFill>
                            <a:srgbClr val="000000"/>
                          </a:solidFill>
                          <a:latin typeface="Times New Roman"/>
                          <a:ea typeface="Times New Roman"/>
                          <a:cs typeface="Times New Roman"/>
                          <a:sym typeface="Times New Roman"/>
                        </a:rPr>
                        <a:t>0.500</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Box 16"/>
          <p:cNvSpPr txBox="1"/>
          <p:nvPr/>
        </p:nvSpPr>
        <p:spPr>
          <a:xfrm>
            <a:off x="10097528" y="308454"/>
            <a:ext cx="7078767"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ANALYSIS</a:t>
            </a:r>
          </a:p>
        </p:txBody>
      </p:sp>
      <p:sp>
        <p:nvSpPr>
          <p:cNvPr id="17" name="TextBox 17"/>
          <p:cNvSpPr txBox="1"/>
          <p:nvPr/>
        </p:nvSpPr>
        <p:spPr>
          <a:xfrm>
            <a:off x="8494614" y="1513880"/>
            <a:ext cx="10284595" cy="742466"/>
          </a:xfrm>
          <a:prstGeom prst="rect">
            <a:avLst/>
          </a:prstGeom>
        </p:spPr>
        <p:txBody>
          <a:bodyPr lIns="0" tIns="0" rIns="0" bIns="0" rtlCol="0" anchor="t">
            <a:spAutoFit/>
          </a:bodyPr>
          <a:lstStyle/>
          <a:p>
            <a:pPr algn="ctr">
              <a:lnSpc>
                <a:spcPts val="5801"/>
              </a:lnSpc>
              <a:spcBef>
                <a:spcPct val="0"/>
              </a:spcBef>
            </a:pPr>
            <a:r>
              <a:rPr lang="en-US" sz="4144" b="1">
                <a:solidFill>
                  <a:srgbClr val="000000"/>
                </a:solidFill>
                <a:latin typeface="Times New Roman Bold"/>
                <a:ea typeface="Times New Roman Bold"/>
                <a:cs typeface="Times New Roman Bold"/>
                <a:sym typeface="Times New Roman Bold"/>
              </a:rPr>
              <a:t>Model Performance Comparison</a:t>
            </a:r>
          </a:p>
        </p:txBody>
      </p:sp>
      <p:sp>
        <p:nvSpPr>
          <p:cNvPr id="18" name="TextBox 18"/>
          <p:cNvSpPr txBox="1"/>
          <p:nvPr/>
        </p:nvSpPr>
        <p:spPr>
          <a:xfrm>
            <a:off x="10776656" y="3583572"/>
            <a:ext cx="7168261" cy="7045140"/>
          </a:xfrm>
          <a:prstGeom prst="rect">
            <a:avLst/>
          </a:prstGeom>
        </p:spPr>
        <p:txBody>
          <a:bodyPr lIns="0" tIns="0" rIns="0" bIns="0" rtlCol="0" anchor="t">
            <a:spAutoFit/>
          </a:bodyPr>
          <a:lstStyle/>
          <a:p>
            <a:pPr marL="713343" lvl="1" indent="-356671" algn="l">
              <a:lnSpc>
                <a:spcPts val="4625"/>
              </a:lnSpc>
              <a:spcBef>
                <a:spcPct val="0"/>
              </a:spcBef>
              <a:buFont typeface="Arial"/>
              <a:buChar char="•"/>
            </a:pPr>
            <a:r>
              <a:rPr lang="en-US" sz="3304">
                <a:solidFill>
                  <a:srgbClr val="000000"/>
                </a:solidFill>
                <a:latin typeface="Times New Roman"/>
                <a:ea typeface="Times New Roman"/>
                <a:cs typeface="Times New Roman"/>
                <a:sym typeface="Times New Roman"/>
              </a:rPr>
              <a:t>Block Forest achieved the highest predictive performance</a:t>
            </a:r>
          </a:p>
          <a:p>
            <a:pPr marL="713343" lvl="1" indent="-356671" algn="just">
              <a:lnSpc>
                <a:spcPts val="4625"/>
              </a:lnSpc>
              <a:spcBef>
                <a:spcPct val="0"/>
              </a:spcBef>
              <a:buFont typeface="Arial"/>
              <a:buChar char="•"/>
            </a:pPr>
            <a:r>
              <a:rPr lang="en-US" sz="3304">
                <a:solidFill>
                  <a:srgbClr val="000000"/>
                </a:solidFill>
                <a:latin typeface="Times New Roman"/>
                <a:ea typeface="Times New Roman"/>
                <a:cs typeface="Times New Roman"/>
                <a:sym typeface="Times New Roman"/>
              </a:rPr>
              <a:t>Clinical Cox model also performed strongly, highlighting importance of clinical variables</a:t>
            </a:r>
          </a:p>
          <a:p>
            <a:pPr marL="713343" lvl="1" indent="-356671" algn="just">
              <a:lnSpc>
                <a:spcPts val="4625"/>
              </a:lnSpc>
              <a:spcBef>
                <a:spcPct val="0"/>
              </a:spcBef>
              <a:buFont typeface="Arial"/>
              <a:buChar char="•"/>
            </a:pPr>
            <a:r>
              <a:rPr lang="en-US" sz="3304">
                <a:solidFill>
                  <a:srgbClr val="000000"/>
                </a:solidFill>
                <a:latin typeface="Times New Roman"/>
                <a:ea typeface="Times New Roman"/>
                <a:cs typeface="Times New Roman"/>
                <a:sym typeface="Times New Roman"/>
              </a:rPr>
              <a:t>Lasso Cox showed moderate performance</a:t>
            </a:r>
          </a:p>
          <a:p>
            <a:pPr marL="713343" lvl="1" indent="-356671" algn="just">
              <a:lnSpc>
                <a:spcPts val="4625"/>
              </a:lnSpc>
              <a:spcBef>
                <a:spcPct val="0"/>
              </a:spcBef>
              <a:buFont typeface="Arial"/>
              <a:buChar char="•"/>
            </a:pPr>
            <a:r>
              <a:rPr lang="en-US" sz="3304">
                <a:solidFill>
                  <a:srgbClr val="000000"/>
                </a:solidFill>
                <a:latin typeface="Times New Roman"/>
                <a:ea typeface="Times New Roman"/>
                <a:cs typeface="Times New Roman"/>
                <a:sym typeface="Times New Roman"/>
              </a:rPr>
              <a:t>Random Forest performed comparatively lower</a:t>
            </a:r>
          </a:p>
          <a:p>
            <a:pPr marL="713343" lvl="1" indent="-356671" algn="just">
              <a:lnSpc>
                <a:spcPts val="4625"/>
              </a:lnSpc>
              <a:spcBef>
                <a:spcPct val="0"/>
              </a:spcBef>
              <a:buFont typeface="Arial"/>
              <a:buChar char="•"/>
            </a:pPr>
            <a:r>
              <a:rPr lang="en-US" sz="3304">
                <a:solidFill>
                  <a:srgbClr val="000000"/>
                </a:solidFill>
                <a:latin typeface="Times New Roman"/>
                <a:ea typeface="Times New Roman"/>
                <a:cs typeface="Times New Roman"/>
                <a:sym typeface="Times New Roman"/>
              </a:rPr>
              <a:t>Kaplan–Meier/CoxBoost serves as baseline (no predictors)</a:t>
            </a:r>
          </a:p>
          <a:p>
            <a:pPr algn="ctr">
              <a:lnSpc>
                <a:spcPts val="5194"/>
              </a:lnSpc>
              <a:spcBef>
                <a:spcPct val="0"/>
              </a:spcBef>
            </a:pPr>
            <a:endParaRPr lang="en-US" sz="3304">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687393"/>
            <a:ext cx="7378398" cy="1284944"/>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grpSp>
        <p:nvGrpSpPr>
          <p:cNvPr id="11" name="Group 11"/>
          <p:cNvGrpSpPr/>
          <p:nvPr/>
        </p:nvGrpSpPr>
        <p:grpSpPr>
          <a:xfrm rot="5400000">
            <a:off x="13149996" y="-2318838"/>
            <a:ext cx="973830" cy="8616013"/>
            <a:chOff x="0" y="0"/>
            <a:chExt cx="275124" cy="2434176"/>
          </a:xfrm>
        </p:grpSpPr>
        <p:sp>
          <p:nvSpPr>
            <p:cNvPr id="12" name="Freeform 12"/>
            <p:cNvSpPr/>
            <p:nvPr/>
          </p:nvSpPr>
          <p:spPr>
            <a:xfrm>
              <a:off x="0" y="0"/>
              <a:ext cx="275124" cy="2434176"/>
            </a:xfrm>
            <a:custGeom>
              <a:avLst/>
              <a:gdLst/>
              <a:ahLst/>
              <a:cxnLst/>
              <a:rect l="l" t="t" r="r" b="b"/>
              <a:pathLst>
                <a:path w="275124" h="2434176">
                  <a:moveTo>
                    <a:pt x="275124" y="0"/>
                  </a:moveTo>
                  <a:lnTo>
                    <a:pt x="275124" y="2434176"/>
                  </a:lnTo>
                  <a:lnTo>
                    <a:pt x="137562" y="2307176"/>
                  </a:lnTo>
                  <a:lnTo>
                    <a:pt x="0" y="2434176"/>
                  </a:lnTo>
                  <a:lnTo>
                    <a:pt x="0" y="0"/>
                  </a:lnTo>
                  <a:lnTo>
                    <a:pt x="275124" y="0"/>
                  </a:lnTo>
                  <a:close/>
                </a:path>
              </a:pathLst>
            </a:custGeom>
            <a:solidFill>
              <a:srgbClr val="FF914D"/>
            </a:solidFill>
          </p:spPr>
        </p:sp>
        <p:sp>
          <p:nvSpPr>
            <p:cNvPr id="13" name="TextBox 13"/>
            <p:cNvSpPr txBox="1"/>
            <p:nvPr/>
          </p:nvSpPr>
          <p:spPr>
            <a:xfrm>
              <a:off x="0" y="-57150"/>
              <a:ext cx="275124" cy="236432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9030130" y="2963073"/>
            <a:ext cx="9158209" cy="6994582"/>
          </a:xfrm>
          <a:custGeom>
            <a:avLst/>
            <a:gdLst/>
            <a:ahLst/>
            <a:cxnLst/>
            <a:rect l="l" t="t" r="r" b="b"/>
            <a:pathLst>
              <a:path w="9158209" h="6994582">
                <a:moveTo>
                  <a:pt x="0" y="0"/>
                </a:moveTo>
                <a:lnTo>
                  <a:pt x="9158209" y="0"/>
                </a:lnTo>
                <a:lnTo>
                  <a:pt x="9158209" y="6994582"/>
                </a:lnTo>
                <a:lnTo>
                  <a:pt x="0" y="6994582"/>
                </a:lnTo>
                <a:lnTo>
                  <a:pt x="0" y="0"/>
                </a:lnTo>
                <a:close/>
              </a:path>
            </a:pathLst>
          </a:custGeom>
          <a:blipFill>
            <a:blip r:embed="rId6"/>
            <a:stretch>
              <a:fillRect/>
            </a:stretch>
          </a:blipFill>
        </p:spPr>
      </p:sp>
      <p:sp>
        <p:nvSpPr>
          <p:cNvPr id="15" name="TextBox 15"/>
          <p:cNvSpPr txBox="1"/>
          <p:nvPr/>
        </p:nvSpPr>
        <p:spPr>
          <a:xfrm>
            <a:off x="9953632" y="337439"/>
            <a:ext cx="7078767"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ANALYSIS</a:t>
            </a:r>
          </a:p>
        </p:txBody>
      </p:sp>
      <p:sp>
        <p:nvSpPr>
          <p:cNvPr id="16" name="TextBox 16"/>
          <p:cNvSpPr txBox="1"/>
          <p:nvPr/>
        </p:nvSpPr>
        <p:spPr>
          <a:xfrm>
            <a:off x="184905" y="2311324"/>
            <a:ext cx="8959095" cy="8135972"/>
          </a:xfrm>
          <a:prstGeom prst="rect">
            <a:avLst/>
          </a:prstGeom>
        </p:spPr>
        <p:txBody>
          <a:bodyPr lIns="0" tIns="0" rIns="0" bIns="0" rtlCol="0" anchor="t">
            <a:spAutoFit/>
          </a:bodyPr>
          <a:lstStyle/>
          <a:p>
            <a:pPr marL="714878" lvl="1" indent="-357439" algn="l">
              <a:lnSpc>
                <a:spcPts val="4635"/>
              </a:lnSpc>
              <a:buFont typeface="Arial"/>
              <a:buChar char="•"/>
            </a:pPr>
            <a:r>
              <a:rPr lang="en-US" sz="3311" dirty="0">
                <a:solidFill>
                  <a:srgbClr val="000000"/>
                </a:solidFill>
                <a:latin typeface="Times New Roman"/>
                <a:ea typeface="Times New Roman"/>
                <a:cs typeface="Times New Roman"/>
                <a:sym typeface="Times New Roman"/>
              </a:rPr>
              <a:t>Stability assessed using C-index across 5-fold cross-validation</a:t>
            </a:r>
          </a:p>
          <a:p>
            <a:pPr marL="714878" lvl="1" indent="-357439" algn="l">
              <a:lnSpc>
                <a:spcPts val="4635"/>
              </a:lnSpc>
              <a:buFont typeface="Arial"/>
              <a:buChar char="•"/>
            </a:pPr>
            <a:r>
              <a:rPr lang="en-US" sz="3311" dirty="0">
                <a:solidFill>
                  <a:srgbClr val="000000"/>
                </a:solidFill>
                <a:latin typeface="Times New Roman"/>
                <a:ea typeface="Times New Roman"/>
                <a:cs typeface="Times New Roman"/>
                <a:sym typeface="Times New Roman"/>
              </a:rPr>
              <a:t>Boxplot used to visualize:</a:t>
            </a:r>
          </a:p>
          <a:p>
            <a:pPr algn="l">
              <a:lnSpc>
                <a:spcPts val="4635"/>
              </a:lnSpc>
            </a:pPr>
            <a:r>
              <a:rPr lang="en-US" sz="3311" dirty="0">
                <a:solidFill>
                  <a:srgbClr val="000000"/>
                </a:solidFill>
                <a:latin typeface="Times New Roman"/>
                <a:ea typeface="Times New Roman"/>
                <a:cs typeface="Times New Roman"/>
                <a:sym typeface="Times New Roman"/>
              </a:rPr>
              <a:t>               - Median performance</a:t>
            </a:r>
          </a:p>
          <a:p>
            <a:pPr algn="l">
              <a:lnSpc>
                <a:spcPts val="4635"/>
              </a:lnSpc>
            </a:pPr>
            <a:r>
              <a:rPr lang="en-US" sz="3311" dirty="0">
                <a:solidFill>
                  <a:srgbClr val="000000"/>
                </a:solidFill>
                <a:latin typeface="Times New Roman"/>
                <a:ea typeface="Times New Roman"/>
                <a:cs typeface="Times New Roman"/>
                <a:sym typeface="Times New Roman"/>
              </a:rPr>
              <a:t>               - Variability across folds</a:t>
            </a:r>
          </a:p>
          <a:p>
            <a:pPr algn="l">
              <a:lnSpc>
                <a:spcPts val="4635"/>
              </a:lnSpc>
            </a:pPr>
            <a:r>
              <a:rPr lang="en-US" sz="3311" dirty="0">
                <a:solidFill>
                  <a:srgbClr val="000000"/>
                </a:solidFill>
                <a:latin typeface="Times New Roman"/>
                <a:ea typeface="Times New Roman"/>
                <a:cs typeface="Times New Roman"/>
                <a:sym typeface="Times New Roman"/>
              </a:rPr>
              <a:t>                - Presence of outliers</a:t>
            </a:r>
          </a:p>
          <a:p>
            <a:pPr algn="l">
              <a:lnSpc>
                <a:spcPts val="4635"/>
              </a:lnSpc>
            </a:pPr>
            <a:r>
              <a:rPr lang="en-US" sz="3311" dirty="0">
                <a:solidFill>
                  <a:srgbClr val="000000"/>
                </a:solidFill>
                <a:latin typeface="Times New Roman"/>
                <a:ea typeface="Times New Roman"/>
                <a:cs typeface="Times New Roman"/>
                <a:sym typeface="Times New Roman"/>
              </a:rPr>
              <a:t>    Interpretation:</a:t>
            </a:r>
          </a:p>
          <a:p>
            <a:pPr marL="714878" lvl="1" indent="-357439" algn="l">
              <a:lnSpc>
                <a:spcPts val="4635"/>
              </a:lnSpc>
              <a:buFont typeface="Arial"/>
              <a:buChar char="•"/>
            </a:pPr>
            <a:r>
              <a:rPr lang="en-US" sz="3311" dirty="0">
                <a:solidFill>
                  <a:srgbClr val="000000"/>
                </a:solidFill>
                <a:latin typeface="Times New Roman"/>
                <a:ea typeface="Times New Roman"/>
                <a:cs typeface="Times New Roman"/>
                <a:sym typeface="Times New Roman"/>
              </a:rPr>
              <a:t>Higher median → better performance</a:t>
            </a:r>
          </a:p>
          <a:p>
            <a:pPr marL="714878" lvl="1" indent="-357439" algn="l">
              <a:lnSpc>
                <a:spcPts val="4635"/>
              </a:lnSpc>
              <a:buFont typeface="Arial"/>
              <a:buChar char="•"/>
            </a:pPr>
            <a:r>
              <a:rPr lang="en-US" sz="3311" dirty="0">
                <a:solidFill>
                  <a:srgbClr val="000000"/>
                </a:solidFill>
                <a:latin typeface="Times New Roman"/>
                <a:ea typeface="Times New Roman"/>
                <a:cs typeface="Times New Roman"/>
                <a:sym typeface="Times New Roman"/>
              </a:rPr>
              <a:t>Smaller spread → more stable model</a:t>
            </a:r>
          </a:p>
          <a:p>
            <a:pPr algn="l">
              <a:lnSpc>
                <a:spcPts val="4635"/>
              </a:lnSpc>
            </a:pPr>
            <a:r>
              <a:rPr lang="en-US" sz="3311" dirty="0">
                <a:solidFill>
                  <a:srgbClr val="000000"/>
                </a:solidFill>
                <a:latin typeface="Times New Roman"/>
                <a:ea typeface="Times New Roman"/>
                <a:cs typeface="Times New Roman"/>
                <a:sym typeface="Times New Roman"/>
              </a:rPr>
              <a:t>   Observations</a:t>
            </a:r>
          </a:p>
          <a:p>
            <a:pPr marL="714878" lvl="1" indent="-357439" algn="l">
              <a:lnSpc>
                <a:spcPts val="4635"/>
              </a:lnSpc>
              <a:buFont typeface="Arial"/>
              <a:buChar char="•"/>
            </a:pPr>
            <a:r>
              <a:rPr lang="en-US" sz="3311" dirty="0">
                <a:solidFill>
                  <a:srgbClr val="000000"/>
                </a:solidFill>
                <a:latin typeface="Times New Roman"/>
                <a:ea typeface="Times New Roman"/>
                <a:cs typeface="Times New Roman"/>
                <a:sym typeface="Times New Roman"/>
              </a:rPr>
              <a:t>Block Forest: Highest median with good stability</a:t>
            </a:r>
          </a:p>
          <a:p>
            <a:pPr marL="714878" lvl="1" indent="-357439" algn="l">
              <a:lnSpc>
                <a:spcPts val="4635"/>
              </a:lnSpc>
              <a:buFont typeface="Arial"/>
              <a:buChar char="•"/>
            </a:pPr>
            <a:r>
              <a:rPr lang="en-US" sz="3311" dirty="0">
                <a:solidFill>
                  <a:srgbClr val="000000"/>
                </a:solidFill>
                <a:latin typeface="Times New Roman"/>
                <a:ea typeface="Times New Roman"/>
                <a:cs typeface="Times New Roman"/>
                <a:sym typeface="Times New Roman"/>
              </a:rPr>
              <a:t>Clinical Cox: Consistent and stable performance</a:t>
            </a:r>
          </a:p>
          <a:p>
            <a:pPr algn="l">
              <a:lnSpc>
                <a:spcPts val="4635"/>
              </a:lnSpc>
            </a:pPr>
            <a:endParaRPr lang="en-US" sz="3311" dirty="0">
              <a:solidFill>
                <a:srgbClr val="000000"/>
              </a:solidFill>
              <a:latin typeface="Times New Roman"/>
              <a:ea typeface="Times New Roman"/>
              <a:cs typeface="Times New Roman"/>
              <a:sym typeface="Times New Roman"/>
            </a:endParaRPr>
          </a:p>
        </p:txBody>
      </p:sp>
      <p:sp>
        <p:nvSpPr>
          <p:cNvPr id="17" name="TextBox 17"/>
          <p:cNvSpPr txBox="1"/>
          <p:nvPr/>
        </p:nvSpPr>
        <p:spPr>
          <a:xfrm>
            <a:off x="9953632" y="1438414"/>
            <a:ext cx="7930395" cy="958635"/>
          </a:xfrm>
          <a:prstGeom prst="rect">
            <a:avLst/>
          </a:prstGeom>
        </p:spPr>
        <p:txBody>
          <a:bodyPr lIns="0" tIns="0" rIns="0" bIns="0" rtlCol="0" anchor="t">
            <a:spAutoFit/>
          </a:bodyPr>
          <a:lstStyle/>
          <a:p>
            <a:pPr algn="ctr">
              <a:lnSpc>
                <a:spcPts val="7536"/>
              </a:lnSpc>
              <a:spcBef>
                <a:spcPct val="0"/>
              </a:spcBef>
            </a:pPr>
            <a:r>
              <a:rPr lang="en-US" sz="5383" b="1">
                <a:solidFill>
                  <a:srgbClr val="000000"/>
                </a:solidFill>
                <a:latin typeface="Times New Roman Bold"/>
                <a:ea typeface="Times New Roman Bold"/>
                <a:cs typeface="Times New Roman Bold"/>
                <a:sym typeface="Times New Roman Bold"/>
              </a:rPr>
              <a:t>Model Stability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659377"/>
            <a:ext cx="7378446" cy="1305574"/>
            <a:chOff x="563716" y="-779592"/>
            <a:chExt cx="9837928" cy="1344423"/>
          </a:xfrm>
        </p:grpSpPr>
        <p:sp>
          <p:nvSpPr>
            <p:cNvPr id="10" name="Freeform 10"/>
            <p:cNvSpPr/>
            <p:nvPr/>
          </p:nvSpPr>
          <p:spPr>
            <a:xfrm>
              <a:off x="563716" y="-779592"/>
              <a:ext cx="9837928" cy="1344423"/>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Freeform 11"/>
          <p:cNvSpPr/>
          <p:nvPr/>
        </p:nvSpPr>
        <p:spPr>
          <a:xfrm>
            <a:off x="9891123" y="1816337"/>
            <a:ext cx="7478634" cy="8205121"/>
          </a:xfrm>
          <a:custGeom>
            <a:avLst/>
            <a:gdLst/>
            <a:ahLst/>
            <a:cxnLst/>
            <a:rect l="l" t="t" r="r" b="b"/>
            <a:pathLst>
              <a:path w="7478634" h="8205121">
                <a:moveTo>
                  <a:pt x="0" y="0"/>
                </a:moveTo>
                <a:lnTo>
                  <a:pt x="7478634" y="0"/>
                </a:lnTo>
                <a:lnTo>
                  <a:pt x="7478634" y="8205121"/>
                </a:lnTo>
                <a:lnTo>
                  <a:pt x="0" y="8205121"/>
                </a:lnTo>
                <a:lnTo>
                  <a:pt x="0" y="0"/>
                </a:lnTo>
                <a:close/>
              </a:path>
            </a:pathLst>
          </a:custGeom>
          <a:blipFill>
            <a:blip r:embed="rId6"/>
            <a:stretch>
              <a:fillRect r="-755"/>
            </a:stretch>
          </a:blipFill>
        </p:spPr>
      </p:sp>
      <p:sp>
        <p:nvSpPr>
          <p:cNvPr id="12" name="TextBox 12"/>
          <p:cNvSpPr txBox="1"/>
          <p:nvPr/>
        </p:nvSpPr>
        <p:spPr>
          <a:xfrm>
            <a:off x="9758955" y="337439"/>
            <a:ext cx="7078767"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RESULTS</a:t>
            </a:r>
          </a:p>
        </p:txBody>
      </p:sp>
      <p:sp>
        <p:nvSpPr>
          <p:cNvPr id="13" name="TextBox 13"/>
          <p:cNvSpPr txBox="1"/>
          <p:nvPr/>
        </p:nvSpPr>
        <p:spPr>
          <a:xfrm>
            <a:off x="230425" y="2133917"/>
            <a:ext cx="9660698" cy="7887540"/>
          </a:xfrm>
          <a:prstGeom prst="rect">
            <a:avLst/>
          </a:prstGeom>
        </p:spPr>
        <p:txBody>
          <a:bodyPr lIns="0" tIns="0" rIns="0" bIns="0" rtlCol="0" anchor="t">
            <a:spAutoFit/>
          </a:bodyPr>
          <a:lstStyle/>
          <a:p>
            <a:pPr marL="802484" lvl="1" indent="-401242" algn="l">
              <a:lnSpc>
                <a:spcPts val="5203"/>
              </a:lnSpc>
              <a:buFont typeface="Arial"/>
              <a:buChar char="•"/>
            </a:pPr>
            <a:r>
              <a:rPr lang="en-US" sz="3716" dirty="0">
                <a:solidFill>
                  <a:srgbClr val="000000"/>
                </a:solidFill>
                <a:latin typeface="Times New Roman"/>
                <a:ea typeface="Times New Roman"/>
                <a:cs typeface="Times New Roman"/>
                <a:sym typeface="Times New Roman"/>
              </a:rPr>
              <a:t>Block Forest achieved the best performance</a:t>
            </a:r>
          </a:p>
          <a:p>
            <a:pPr marL="802484" lvl="1" indent="-401242" algn="l">
              <a:lnSpc>
                <a:spcPts val="5203"/>
              </a:lnSpc>
              <a:buFont typeface="Arial"/>
              <a:buChar char="•"/>
            </a:pPr>
            <a:r>
              <a:rPr lang="en-US" sz="3716" dirty="0">
                <a:solidFill>
                  <a:srgbClr val="000000"/>
                </a:solidFill>
                <a:latin typeface="Times New Roman"/>
                <a:ea typeface="Times New Roman"/>
                <a:cs typeface="Times New Roman"/>
                <a:sym typeface="Times New Roman"/>
              </a:rPr>
              <a:t>Mean C-index = 0.825</a:t>
            </a:r>
          </a:p>
          <a:p>
            <a:pPr marL="802484" lvl="1" indent="-401242" algn="l">
              <a:lnSpc>
                <a:spcPts val="5203"/>
              </a:lnSpc>
              <a:buFont typeface="Arial"/>
              <a:buChar char="•"/>
            </a:pPr>
            <a:r>
              <a:rPr lang="en-US" sz="3716" dirty="0">
                <a:solidFill>
                  <a:srgbClr val="000000"/>
                </a:solidFill>
                <a:latin typeface="Times New Roman"/>
                <a:ea typeface="Times New Roman"/>
                <a:cs typeface="Times New Roman"/>
                <a:sym typeface="Times New Roman"/>
              </a:rPr>
              <a:t>This indicates:</a:t>
            </a:r>
          </a:p>
          <a:p>
            <a:pPr marL="1604968" lvl="2" indent="-534989" algn="l">
              <a:lnSpc>
                <a:spcPts val="5203"/>
              </a:lnSpc>
              <a:buFont typeface="Arial"/>
              <a:buChar char="⚬"/>
            </a:pPr>
            <a:r>
              <a:rPr lang="en-US" sz="3716" dirty="0">
                <a:solidFill>
                  <a:srgbClr val="000000"/>
                </a:solidFill>
                <a:latin typeface="Times New Roman"/>
                <a:ea typeface="Times New Roman"/>
                <a:cs typeface="Times New Roman"/>
                <a:sym typeface="Times New Roman"/>
              </a:rPr>
              <a:t>Highest predictive accuracy</a:t>
            </a:r>
          </a:p>
          <a:p>
            <a:pPr marL="1604968" lvl="2" indent="-534989" algn="l">
              <a:lnSpc>
                <a:spcPts val="5203"/>
              </a:lnSpc>
              <a:buFont typeface="Arial"/>
              <a:buChar char="⚬"/>
            </a:pPr>
            <a:r>
              <a:rPr lang="en-US" sz="3716" dirty="0">
                <a:solidFill>
                  <a:srgbClr val="000000"/>
                </a:solidFill>
                <a:latin typeface="Times New Roman"/>
                <a:ea typeface="Times New Roman"/>
                <a:cs typeface="Times New Roman"/>
                <a:sym typeface="Times New Roman"/>
              </a:rPr>
              <a:t>Good stability across cross-validation folds</a:t>
            </a:r>
          </a:p>
          <a:p>
            <a:pPr marL="1604968" lvl="2" indent="-534989" algn="l">
              <a:lnSpc>
                <a:spcPts val="5203"/>
              </a:lnSpc>
              <a:buFont typeface="Arial"/>
              <a:buChar char="⚬"/>
            </a:pPr>
            <a:r>
              <a:rPr lang="en-US" sz="3716" dirty="0">
                <a:solidFill>
                  <a:srgbClr val="000000"/>
                </a:solidFill>
                <a:latin typeface="Times New Roman"/>
                <a:ea typeface="Times New Roman"/>
                <a:cs typeface="Times New Roman"/>
                <a:sym typeface="Times New Roman"/>
              </a:rPr>
              <a:t>Clinical Cox also performed strongly (C-index = 0.809)</a:t>
            </a:r>
          </a:p>
          <a:p>
            <a:pPr marL="1604968" lvl="2" indent="-534989" algn="l">
              <a:lnSpc>
                <a:spcPts val="5203"/>
              </a:lnSpc>
              <a:buFont typeface="Arial"/>
              <a:buChar char="⚬"/>
            </a:pPr>
            <a:r>
              <a:rPr lang="en-US" sz="3716" dirty="0">
                <a:solidFill>
                  <a:srgbClr val="000000"/>
                </a:solidFill>
                <a:latin typeface="Times New Roman"/>
                <a:ea typeface="Times New Roman"/>
                <a:cs typeface="Times New Roman"/>
                <a:sym typeface="Times New Roman"/>
              </a:rPr>
              <a:t>Highlights importance of clinical variables</a:t>
            </a:r>
          </a:p>
          <a:p>
            <a:pPr marL="802484" lvl="1" indent="-401242" algn="l">
              <a:lnSpc>
                <a:spcPts val="5203"/>
              </a:lnSpc>
              <a:buFont typeface="Arial"/>
              <a:buChar char="•"/>
            </a:pPr>
            <a:r>
              <a:rPr lang="en-US" sz="3716" dirty="0">
                <a:solidFill>
                  <a:srgbClr val="000000"/>
                </a:solidFill>
                <a:latin typeface="Times New Roman"/>
                <a:ea typeface="Times New Roman"/>
                <a:cs typeface="Times New Roman"/>
                <a:sym typeface="Times New Roman"/>
              </a:rPr>
              <a:t>Block Forest is the best model for survival prediction using multi-omics data.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573093"/>
            <a:ext cx="7378398" cy="1446207"/>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9144000" y="337439"/>
            <a:ext cx="8753486" cy="974725"/>
          </a:xfrm>
          <a:prstGeom prst="rect">
            <a:avLst/>
          </a:prstGeom>
        </p:spPr>
        <p:txBody>
          <a:bodyPr lIns="0" tIns="0" rIns="0" bIns="0" rtlCol="0" anchor="t">
            <a:spAutoFit/>
          </a:bodyPr>
          <a:lstStyle/>
          <a:p>
            <a:pPr algn="ctr">
              <a:lnSpc>
                <a:spcPts val="7699"/>
              </a:lnSpc>
            </a:pPr>
            <a:r>
              <a:rPr lang="en-US" sz="5499" b="1">
                <a:solidFill>
                  <a:srgbClr val="FFFFFF"/>
                </a:solidFill>
                <a:latin typeface="Times New Roman Bold"/>
                <a:ea typeface="Times New Roman Bold"/>
                <a:cs typeface="Times New Roman Bold"/>
                <a:sym typeface="Times New Roman Bold"/>
              </a:rPr>
              <a:t>CONCLUSION</a:t>
            </a:r>
          </a:p>
        </p:txBody>
      </p:sp>
      <p:sp>
        <p:nvSpPr>
          <p:cNvPr id="12" name="TextBox 12"/>
          <p:cNvSpPr txBox="1"/>
          <p:nvPr/>
        </p:nvSpPr>
        <p:spPr>
          <a:xfrm>
            <a:off x="0" y="2243059"/>
            <a:ext cx="18106541" cy="7671655"/>
          </a:xfrm>
          <a:prstGeom prst="rect">
            <a:avLst/>
          </a:prstGeom>
        </p:spPr>
        <p:txBody>
          <a:bodyPr lIns="0" tIns="0" rIns="0" bIns="0" rtlCol="0" anchor="t">
            <a:spAutoFit/>
          </a:bodyPr>
          <a:lstStyle/>
          <a:p>
            <a:pPr marL="856956" lvl="1" indent="-428478" algn="l">
              <a:lnSpc>
                <a:spcPts val="5556"/>
              </a:lnSpc>
              <a:buFont typeface="Arial"/>
              <a:buChar char="•"/>
            </a:pPr>
            <a:r>
              <a:rPr lang="en-US" sz="3969" dirty="0">
                <a:solidFill>
                  <a:srgbClr val="000000"/>
                </a:solidFill>
                <a:latin typeface="Times New Roman"/>
                <a:ea typeface="Times New Roman"/>
                <a:cs typeface="Times New Roman"/>
                <a:sym typeface="Times New Roman"/>
              </a:rPr>
              <a:t>Block Forest achieved the best performance (C-index = 0.825), showing strong predictive ability</a:t>
            </a:r>
          </a:p>
          <a:p>
            <a:pPr marL="856956" lvl="1" indent="-428478" algn="l">
              <a:lnSpc>
                <a:spcPts val="5556"/>
              </a:lnSpc>
              <a:buFont typeface="Arial"/>
              <a:buChar char="•"/>
            </a:pPr>
            <a:r>
              <a:rPr lang="en-US" sz="3969" dirty="0">
                <a:solidFill>
                  <a:srgbClr val="000000"/>
                </a:solidFill>
                <a:latin typeface="Times New Roman"/>
                <a:ea typeface="Times New Roman"/>
                <a:cs typeface="Times New Roman"/>
                <a:sym typeface="Times New Roman"/>
              </a:rPr>
              <a:t>Models incorporating group structure of multi-omics data performed better than naive models</a:t>
            </a:r>
          </a:p>
          <a:p>
            <a:pPr marL="856956" lvl="1" indent="-428478" algn="l">
              <a:lnSpc>
                <a:spcPts val="5556"/>
              </a:lnSpc>
              <a:buFont typeface="Arial"/>
              <a:buChar char="•"/>
            </a:pPr>
            <a:r>
              <a:rPr lang="en-US" sz="3969" dirty="0">
                <a:solidFill>
                  <a:srgbClr val="000000"/>
                </a:solidFill>
                <a:latin typeface="Times New Roman"/>
                <a:ea typeface="Times New Roman"/>
                <a:cs typeface="Times New Roman"/>
                <a:sym typeface="Times New Roman"/>
              </a:rPr>
              <a:t>However, the improvement using multi-omics data over clinical data was only marginal</a:t>
            </a:r>
          </a:p>
          <a:p>
            <a:pPr marL="856956" lvl="1" indent="-428478" algn="l">
              <a:lnSpc>
                <a:spcPts val="5556"/>
              </a:lnSpc>
              <a:buFont typeface="Arial"/>
              <a:buChar char="•"/>
            </a:pPr>
            <a:r>
              <a:rPr lang="en-US" sz="3969" dirty="0">
                <a:solidFill>
                  <a:srgbClr val="000000"/>
                </a:solidFill>
                <a:latin typeface="Times New Roman"/>
                <a:ea typeface="Times New Roman"/>
                <a:cs typeface="Times New Roman"/>
                <a:sym typeface="Times New Roman"/>
              </a:rPr>
              <a:t>Clinical Cox model also showed strong performance, highlighting the importance of clinical variables</a:t>
            </a:r>
          </a:p>
          <a:p>
            <a:pPr marL="856956" lvl="1" indent="-428478" algn="l">
              <a:lnSpc>
                <a:spcPts val="5556"/>
              </a:lnSpc>
              <a:buFont typeface="Arial"/>
              <a:buChar char="•"/>
            </a:pPr>
            <a:r>
              <a:rPr lang="en-US" sz="3969" dirty="0">
                <a:solidFill>
                  <a:srgbClr val="000000"/>
                </a:solidFill>
                <a:latin typeface="Times New Roman"/>
                <a:ea typeface="Times New Roman"/>
                <a:cs typeface="Times New Roman"/>
                <a:sym typeface="Times New Roman"/>
              </a:rPr>
              <a:t>While multi-omics data adds value, it also increases computational complexity</a:t>
            </a:r>
          </a:p>
          <a:p>
            <a:pPr marL="856956" lvl="1" indent="-428478" algn="l">
              <a:lnSpc>
                <a:spcPts val="5556"/>
              </a:lnSpc>
              <a:buFont typeface="Arial"/>
              <a:buChar char="•"/>
            </a:pPr>
            <a:r>
              <a:rPr lang="en-US" sz="3969" dirty="0">
                <a:solidFill>
                  <a:srgbClr val="000000"/>
                </a:solidFill>
                <a:latin typeface="Times New Roman"/>
                <a:ea typeface="Times New Roman"/>
                <a:cs typeface="Times New Roman"/>
                <a:sym typeface="Times New Roman"/>
              </a:rPr>
              <a:t>Overall, structured models like Block Forest are effective, but their practical usefulness should be carefully evaluated.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35747" y="628994"/>
            <a:ext cx="7378398" cy="1308122"/>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grpSp>
        <p:nvGrpSpPr>
          <p:cNvPr id="11" name="Group 11"/>
          <p:cNvGrpSpPr/>
          <p:nvPr/>
        </p:nvGrpSpPr>
        <p:grpSpPr>
          <a:xfrm>
            <a:off x="191646" y="2426370"/>
            <a:ext cx="17696010" cy="3496281"/>
            <a:chOff x="0" y="0"/>
            <a:chExt cx="2360168" cy="466309"/>
          </a:xfrm>
        </p:grpSpPr>
        <p:sp>
          <p:nvSpPr>
            <p:cNvPr id="12" name="Freeform 12"/>
            <p:cNvSpPr/>
            <p:nvPr/>
          </p:nvSpPr>
          <p:spPr>
            <a:xfrm>
              <a:off x="0" y="0"/>
              <a:ext cx="2360168" cy="466309"/>
            </a:xfrm>
            <a:custGeom>
              <a:avLst/>
              <a:gdLst/>
              <a:ahLst/>
              <a:cxnLst/>
              <a:rect l="l" t="t" r="r" b="b"/>
              <a:pathLst>
                <a:path w="2360168" h="466309">
                  <a:moveTo>
                    <a:pt x="8545" y="0"/>
                  </a:moveTo>
                  <a:lnTo>
                    <a:pt x="2351623" y="0"/>
                  </a:lnTo>
                  <a:cubicBezTo>
                    <a:pt x="2353889" y="0"/>
                    <a:pt x="2356062" y="900"/>
                    <a:pt x="2357665" y="2503"/>
                  </a:cubicBezTo>
                  <a:cubicBezTo>
                    <a:pt x="2359267" y="4105"/>
                    <a:pt x="2360168" y="6279"/>
                    <a:pt x="2360168" y="8545"/>
                  </a:cubicBezTo>
                  <a:lnTo>
                    <a:pt x="2360168" y="457764"/>
                  </a:lnTo>
                  <a:cubicBezTo>
                    <a:pt x="2360168" y="460030"/>
                    <a:pt x="2359267" y="462204"/>
                    <a:pt x="2357665" y="463806"/>
                  </a:cubicBezTo>
                  <a:cubicBezTo>
                    <a:pt x="2356062" y="465409"/>
                    <a:pt x="2353889" y="466309"/>
                    <a:pt x="2351623" y="466309"/>
                  </a:cubicBezTo>
                  <a:lnTo>
                    <a:pt x="8545" y="466309"/>
                  </a:lnTo>
                  <a:cubicBezTo>
                    <a:pt x="6279" y="466309"/>
                    <a:pt x="4105" y="465409"/>
                    <a:pt x="2503" y="463806"/>
                  </a:cubicBezTo>
                  <a:cubicBezTo>
                    <a:pt x="900" y="462204"/>
                    <a:pt x="0" y="460030"/>
                    <a:pt x="0" y="457764"/>
                  </a:cubicBezTo>
                  <a:lnTo>
                    <a:pt x="0" y="8545"/>
                  </a:lnTo>
                  <a:cubicBezTo>
                    <a:pt x="0" y="6279"/>
                    <a:pt x="900" y="4105"/>
                    <a:pt x="2503" y="2503"/>
                  </a:cubicBezTo>
                  <a:cubicBezTo>
                    <a:pt x="4105" y="900"/>
                    <a:pt x="6279" y="0"/>
                    <a:pt x="8545" y="0"/>
                  </a:cubicBezTo>
                  <a:close/>
                </a:path>
              </a:pathLst>
            </a:custGeom>
            <a:solidFill>
              <a:srgbClr val="EDAC4C"/>
            </a:solidFill>
          </p:spPr>
        </p:sp>
        <p:sp>
          <p:nvSpPr>
            <p:cNvPr id="13" name="TextBox 13"/>
            <p:cNvSpPr txBox="1"/>
            <p:nvPr/>
          </p:nvSpPr>
          <p:spPr>
            <a:xfrm>
              <a:off x="0" y="-38100"/>
              <a:ext cx="2360168" cy="504409"/>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227393" y="6126240"/>
            <a:ext cx="17696010" cy="3877155"/>
            <a:chOff x="0" y="0"/>
            <a:chExt cx="1739570" cy="381136"/>
          </a:xfrm>
        </p:grpSpPr>
        <p:sp>
          <p:nvSpPr>
            <p:cNvPr id="15" name="Freeform 15"/>
            <p:cNvSpPr/>
            <p:nvPr/>
          </p:nvSpPr>
          <p:spPr>
            <a:xfrm>
              <a:off x="0" y="0"/>
              <a:ext cx="1739570" cy="381136"/>
            </a:xfrm>
            <a:custGeom>
              <a:avLst/>
              <a:gdLst/>
              <a:ahLst/>
              <a:cxnLst/>
              <a:rect l="l" t="t" r="r" b="b"/>
              <a:pathLst>
                <a:path w="1739570" h="381136">
                  <a:moveTo>
                    <a:pt x="8545" y="0"/>
                  </a:moveTo>
                  <a:lnTo>
                    <a:pt x="1731025" y="0"/>
                  </a:lnTo>
                  <a:cubicBezTo>
                    <a:pt x="1733291" y="0"/>
                    <a:pt x="1735465" y="900"/>
                    <a:pt x="1737067" y="2503"/>
                  </a:cubicBezTo>
                  <a:cubicBezTo>
                    <a:pt x="1738670" y="4105"/>
                    <a:pt x="1739570" y="6279"/>
                    <a:pt x="1739570" y="8545"/>
                  </a:cubicBezTo>
                  <a:lnTo>
                    <a:pt x="1739570" y="372591"/>
                  </a:lnTo>
                  <a:cubicBezTo>
                    <a:pt x="1739570" y="374857"/>
                    <a:pt x="1738670" y="377031"/>
                    <a:pt x="1737067" y="378633"/>
                  </a:cubicBezTo>
                  <a:cubicBezTo>
                    <a:pt x="1735465" y="380235"/>
                    <a:pt x="1733291" y="381136"/>
                    <a:pt x="1731025" y="381136"/>
                  </a:cubicBezTo>
                  <a:lnTo>
                    <a:pt x="8545" y="381136"/>
                  </a:lnTo>
                  <a:cubicBezTo>
                    <a:pt x="6279" y="381136"/>
                    <a:pt x="4105" y="380235"/>
                    <a:pt x="2503" y="378633"/>
                  </a:cubicBezTo>
                  <a:cubicBezTo>
                    <a:pt x="900" y="377031"/>
                    <a:pt x="0" y="374857"/>
                    <a:pt x="0" y="372591"/>
                  </a:cubicBezTo>
                  <a:lnTo>
                    <a:pt x="0" y="8545"/>
                  </a:lnTo>
                  <a:cubicBezTo>
                    <a:pt x="0" y="6279"/>
                    <a:pt x="900" y="4105"/>
                    <a:pt x="2503" y="2503"/>
                  </a:cubicBezTo>
                  <a:cubicBezTo>
                    <a:pt x="4105" y="900"/>
                    <a:pt x="6279" y="0"/>
                    <a:pt x="8545" y="0"/>
                  </a:cubicBezTo>
                  <a:close/>
                </a:path>
              </a:pathLst>
            </a:custGeom>
            <a:solidFill>
              <a:srgbClr val="EDAC4C"/>
            </a:solidFill>
          </p:spPr>
        </p:sp>
        <p:sp>
          <p:nvSpPr>
            <p:cNvPr id="16" name="TextBox 16"/>
            <p:cNvSpPr txBox="1"/>
            <p:nvPr/>
          </p:nvSpPr>
          <p:spPr>
            <a:xfrm>
              <a:off x="0" y="-38100"/>
              <a:ext cx="1739570" cy="419236"/>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400344" y="3191537"/>
            <a:ext cx="16296955" cy="2659051"/>
          </a:xfrm>
          <a:prstGeom prst="rect">
            <a:avLst/>
          </a:prstGeom>
        </p:spPr>
        <p:txBody>
          <a:bodyPr lIns="0" tIns="0" rIns="0" bIns="0" rtlCol="0" anchor="t">
            <a:spAutoFit/>
          </a:bodyPr>
          <a:lstStyle/>
          <a:p>
            <a:pPr marL="543512" lvl="1" indent="-271756" algn="l">
              <a:lnSpc>
                <a:spcPts val="3524"/>
              </a:lnSpc>
              <a:buFont typeface="Arial"/>
              <a:buChar char="•"/>
            </a:pPr>
            <a:r>
              <a:rPr lang="en-US" sz="2517">
                <a:solidFill>
                  <a:srgbClr val="000000"/>
                </a:solidFill>
                <a:latin typeface="Canva Sans"/>
                <a:ea typeface="Canva Sans"/>
                <a:cs typeface="Canva Sans"/>
                <a:sym typeface="Canva Sans"/>
              </a:rPr>
              <a:t>High-dimensional data with small sample size may affect stability</a:t>
            </a:r>
          </a:p>
          <a:p>
            <a:pPr marL="543512" lvl="1" indent="-271756" algn="l">
              <a:lnSpc>
                <a:spcPts val="3524"/>
              </a:lnSpc>
              <a:buFont typeface="Arial"/>
              <a:buChar char="•"/>
            </a:pPr>
            <a:r>
              <a:rPr lang="en-US" sz="2517">
                <a:solidFill>
                  <a:srgbClr val="000000"/>
                </a:solidFill>
                <a:latin typeface="Canva Sans"/>
                <a:ea typeface="Canva Sans"/>
                <a:cs typeface="Canva Sans"/>
                <a:sym typeface="Canva Sans"/>
              </a:rPr>
              <a:t>Evaluation is limited to C-index</a:t>
            </a:r>
          </a:p>
          <a:p>
            <a:pPr marL="543512" lvl="1" indent="-271756" algn="l">
              <a:lnSpc>
                <a:spcPts val="3524"/>
              </a:lnSpc>
              <a:buFont typeface="Arial"/>
              <a:buChar char="•"/>
            </a:pPr>
            <a:r>
              <a:rPr lang="en-US" sz="2517">
                <a:solidFill>
                  <a:srgbClr val="000000"/>
                </a:solidFill>
                <a:latin typeface="Canva Sans"/>
                <a:ea typeface="Canva Sans"/>
                <a:cs typeface="Canva Sans"/>
                <a:sym typeface="Canva Sans"/>
              </a:rPr>
              <a:t>Limited hyperparameter tuning</a:t>
            </a:r>
          </a:p>
          <a:p>
            <a:pPr marL="543512" lvl="1" indent="-271756" algn="l">
              <a:lnSpc>
                <a:spcPts val="3524"/>
              </a:lnSpc>
              <a:buFont typeface="Arial"/>
              <a:buChar char="•"/>
            </a:pPr>
            <a:r>
              <a:rPr lang="en-US" sz="2517">
                <a:solidFill>
                  <a:srgbClr val="000000"/>
                </a:solidFill>
                <a:latin typeface="Canva Sans"/>
                <a:ea typeface="Canva Sans"/>
                <a:cs typeface="Canva Sans"/>
                <a:sym typeface="Canva Sans"/>
              </a:rPr>
              <a:t>Slight improvement using multi-omics data</a:t>
            </a:r>
          </a:p>
          <a:p>
            <a:pPr marL="543512" lvl="1" indent="-271756" algn="l">
              <a:lnSpc>
                <a:spcPts val="3524"/>
              </a:lnSpc>
              <a:buFont typeface="Arial"/>
              <a:buChar char="•"/>
            </a:pPr>
            <a:r>
              <a:rPr lang="en-US" sz="2517">
                <a:solidFill>
                  <a:srgbClr val="000000"/>
                </a:solidFill>
                <a:latin typeface="Canva Sans"/>
                <a:ea typeface="Canva Sans"/>
                <a:cs typeface="Canva Sans"/>
                <a:sym typeface="Canva Sans"/>
              </a:rPr>
              <a:t>High computational complexity</a:t>
            </a:r>
          </a:p>
          <a:p>
            <a:pPr marL="543512" lvl="1" indent="-271756" algn="l">
              <a:lnSpc>
                <a:spcPts val="3524"/>
              </a:lnSpc>
              <a:buFont typeface="Arial"/>
              <a:buChar char="•"/>
            </a:pPr>
            <a:r>
              <a:rPr lang="en-US" sz="2517">
                <a:solidFill>
                  <a:srgbClr val="000000"/>
                </a:solidFill>
                <a:latin typeface="Canva Sans"/>
                <a:ea typeface="Canva Sans"/>
                <a:cs typeface="Canva Sans"/>
                <a:sym typeface="Canva Sans"/>
              </a:rPr>
              <a:t>No external validation</a:t>
            </a:r>
          </a:p>
        </p:txBody>
      </p:sp>
      <p:sp>
        <p:nvSpPr>
          <p:cNvPr id="18" name="TextBox 18"/>
          <p:cNvSpPr txBox="1"/>
          <p:nvPr/>
        </p:nvSpPr>
        <p:spPr>
          <a:xfrm>
            <a:off x="8548821" y="337439"/>
            <a:ext cx="9241699" cy="974725"/>
          </a:xfrm>
          <a:prstGeom prst="rect">
            <a:avLst/>
          </a:prstGeom>
        </p:spPr>
        <p:txBody>
          <a:bodyPr lIns="0" tIns="0" rIns="0" bIns="0" rtlCol="0" anchor="t">
            <a:spAutoFit/>
          </a:bodyPr>
          <a:lstStyle/>
          <a:p>
            <a:pPr algn="ctr">
              <a:lnSpc>
                <a:spcPts val="7699"/>
              </a:lnSpc>
              <a:spcBef>
                <a:spcPct val="0"/>
              </a:spcBef>
            </a:pPr>
            <a:r>
              <a:rPr lang="en-US" sz="5499" b="1">
                <a:solidFill>
                  <a:srgbClr val="FFFFFF"/>
                </a:solidFill>
                <a:latin typeface="Times New Roman Bold"/>
                <a:ea typeface="Times New Roman Bold"/>
                <a:cs typeface="Times New Roman Bold"/>
                <a:sym typeface="Times New Roman Bold"/>
              </a:rPr>
              <a:t>Limitations and Future Scope</a:t>
            </a:r>
          </a:p>
        </p:txBody>
      </p:sp>
      <p:sp>
        <p:nvSpPr>
          <p:cNvPr id="19" name="TextBox 19"/>
          <p:cNvSpPr txBox="1"/>
          <p:nvPr/>
        </p:nvSpPr>
        <p:spPr>
          <a:xfrm>
            <a:off x="539345" y="2338987"/>
            <a:ext cx="6081271" cy="868857"/>
          </a:xfrm>
          <a:prstGeom prst="rect">
            <a:avLst/>
          </a:prstGeom>
        </p:spPr>
        <p:txBody>
          <a:bodyPr lIns="0" tIns="0" rIns="0" bIns="0" rtlCol="0" anchor="t">
            <a:spAutoFit/>
          </a:bodyPr>
          <a:lstStyle/>
          <a:p>
            <a:pPr algn="l">
              <a:lnSpc>
                <a:spcPts val="7054"/>
              </a:lnSpc>
            </a:pPr>
            <a:r>
              <a:rPr lang="en-US" sz="4800" b="1" dirty="0">
                <a:solidFill>
                  <a:srgbClr val="000000"/>
                </a:solidFill>
                <a:latin typeface="Canva Sans Bold"/>
                <a:ea typeface="Canva Sans Bold"/>
                <a:cs typeface="Canva Sans Bold"/>
                <a:sym typeface="Canva Sans Bold"/>
              </a:rPr>
              <a:t>LIMITATIONS</a:t>
            </a:r>
          </a:p>
        </p:txBody>
      </p:sp>
      <p:sp>
        <p:nvSpPr>
          <p:cNvPr id="20" name="TextBox 20"/>
          <p:cNvSpPr txBox="1"/>
          <p:nvPr/>
        </p:nvSpPr>
        <p:spPr>
          <a:xfrm>
            <a:off x="35747" y="6202645"/>
            <a:ext cx="5632855" cy="889924"/>
          </a:xfrm>
          <a:prstGeom prst="rect">
            <a:avLst/>
          </a:prstGeom>
        </p:spPr>
        <p:txBody>
          <a:bodyPr wrap="square" lIns="0" tIns="0" rIns="0" bIns="0" rtlCol="0" anchor="t">
            <a:spAutoFit/>
          </a:bodyPr>
          <a:lstStyle/>
          <a:p>
            <a:pPr algn="ctr">
              <a:lnSpc>
                <a:spcPts val="7624"/>
              </a:lnSpc>
            </a:pPr>
            <a:r>
              <a:rPr lang="en-US" sz="4800" b="1" dirty="0">
                <a:solidFill>
                  <a:srgbClr val="000000"/>
                </a:solidFill>
                <a:latin typeface="Canva Sans Bold"/>
                <a:ea typeface="Canva Sans Bold"/>
                <a:cs typeface="Canva Sans Bold"/>
                <a:sym typeface="Canva Sans Bold"/>
              </a:rPr>
              <a:t>FUTURE SCOPE</a:t>
            </a:r>
          </a:p>
        </p:txBody>
      </p:sp>
      <p:sp>
        <p:nvSpPr>
          <p:cNvPr id="21" name="TextBox 21"/>
          <p:cNvSpPr txBox="1"/>
          <p:nvPr/>
        </p:nvSpPr>
        <p:spPr>
          <a:xfrm>
            <a:off x="400344" y="7092569"/>
            <a:ext cx="10246216" cy="2768668"/>
          </a:xfrm>
          <a:prstGeom prst="rect">
            <a:avLst/>
          </a:prstGeom>
        </p:spPr>
        <p:txBody>
          <a:bodyPr lIns="0" tIns="0" rIns="0" bIns="0" rtlCol="0" anchor="t">
            <a:spAutoFit/>
          </a:bodyPr>
          <a:lstStyle/>
          <a:p>
            <a:pPr marL="568400" lvl="1" indent="-284200" algn="l">
              <a:lnSpc>
                <a:spcPts val="3685"/>
              </a:lnSpc>
              <a:buFont typeface="Arial"/>
              <a:buChar char="•"/>
            </a:pPr>
            <a:r>
              <a:rPr lang="en-US" sz="2632" dirty="0">
                <a:solidFill>
                  <a:srgbClr val="000000"/>
                </a:solidFill>
                <a:latin typeface="Canva Sans"/>
                <a:ea typeface="Canva Sans"/>
                <a:cs typeface="Canva Sans"/>
                <a:sym typeface="Canva Sans"/>
              </a:rPr>
              <a:t>Use additional metrics like Brier Score</a:t>
            </a:r>
          </a:p>
          <a:p>
            <a:pPr marL="568400" lvl="1" indent="-284200" algn="l">
              <a:lnSpc>
                <a:spcPts val="3685"/>
              </a:lnSpc>
              <a:buFont typeface="Arial"/>
              <a:buChar char="•"/>
            </a:pPr>
            <a:r>
              <a:rPr lang="en-US" sz="2632" dirty="0">
                <a:solidFill>
                  <a:srgbClr val="000000"/>
                </a:solidFill>
                <a:latin typeface="Canva Sans"/>
                <a:ea typeface="Canva Sans"/>
                <a:cs typeface="Canva Sans"/>
                <a:sym typeface="Canva Sans"/>
              </a:rPr>
              <a:t>Improve model with proper tuning</a:t>
            </a:r>
          </a:p>
          <a:p>
            <a:pPr marL="568400" lvl="1" indent="-284200" algn="l">
              <a:lnSpc>
                <a:spcPts val="3685"/>
              </a:lnSpc>
              <a:buFont typeface="Arial"/>
              <a:buChar char="•"/>
            </a:pPr>
            <a:r>
              <a:rPr lang="en-US" sz="2632" dirty="0">
                <a:solidFill>
                  <a:srgbClr val="000000"/>
                </a:solidFill>
                <a:latin typeface="Canva Sans"/>
                <a:ea typeface="Canva Sans"/>
                <a:cs typeface="Canva Sans"/>
                <a:sym typeface="Canva Sans"/>
              </a:rPr>
              <a:t>Apply feature selection / dimensionality reduction</a:t>
            </a:r>
          </a:p>
          <a:p>
            <a:pPr marL="568400" lvl="1" indent="-284200" algn="l">
              <a:lnSpc>
                <a:spcPts val="3685"/>
              </a:lnSpc>
              <a:buFont typeface="Arial"/>
              <a:buChar char="•"/>
            </a:pPr>
            <a:r>
              <a:rPr lang="en-US" sz="2632" dirty="0">
                <a:solidFill>
                  <a:srgbClr val="000000"/>
                </a:solidFill>
                <a:latin typeface="Canva Sans"/>
                <a:ea typeface="Canva Sans"/>
                <a:cs typeface="Canva Sans"/>
                <a:sym typeface="Canva Sans"/>
              </a:rPr>
              <a:t>Explore advanced models (e.g., deep learning)</a:t>
            </a:r>
          </a:p>
          <a:p>
            <a:pPr marL="568400" lvl="1" indent="-284200" algn="l">
              <a:lnSpc>
                <a:spcPts val="3685"/>
              </a:lnSpc>
              <a:buFont typeface="Arial"/>
              <a:buChar char="•"/>
            </a:pPr>
            <a:r>
              <a:rPr lang="en-US" sz="2632" dirty="0">
                <a:solidFill>
                  <a:srgbClr val="000000"/>
                </a:solidFill>
                <a:latin typeface="Canva Sans"/>
                <a:ea typeface="Canva Sans"/>
                <a:cs typeface="Canva Sans"/>
                <a:sym typeface="Canva Sans"/>
              </a:rPr>
              <a:t>Validate on external datasets</a:t>
            </a:r>
          </a:p>
          <a:p>
            <a:pPr marL="568400" lvl="1" indent="-284200" algn="l">
              <a:lnSpc>
                <a:spcPts val="3685"/>
              </a:lnSpc>
              <a:buFont typeface="Arial"/>
              <a:buChar char="•"/>
            </a:pPr>
            <a:r>
              <a:rPr lang="en-US" sz="2632" dirty="0">
                <a:solidFill>
                  <a:srgbClr val="000000"/>
                </a:solidFill>
                <a:latin typeface="Canva Sans"/>
                <a:ea typeface="Canva Sans"/>
                <a:cs typeface="Canva Sans"/>
                <a:sym typeface="Canva Sans"/>
              </a:rPr>
              <a:t>Improve computational efficiency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719743"/>
            <a:ext cx="7378398" cy="1253075"/>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Freeform 11"/>
          <p:cNvSpPr/>
          <p:nvPr/>
        </p:nvSpPr>
        <p:spPr>
          <a:xfrm>
            <a:off x="1977216" y="2472952"/>
            <a:ext cx="13765136" cy="7603320"/>
          </a:xfrm>
          <a:custGeom>
            <a:avLst/>
            <a:gdLst/>
            <a:ahLst/>
            <a:cxnLst/>
            <a:rect l="l" t="t" r="r" b="b"/>
            <a:pathLst>
              <a:path w="13765136" h="7603320">
                <a:moveTo>
                  <a:pt x="0" y="0"/>
                </a:moveTo>
                <a:lnTo>
                  <a:pt x="13765136" y="0"/>
                </a:lnTo>
                <a:lnTo>
                  <a:pt x="13765136" y="7603320"/>
                </a:lnTo>
                <a:lnTo>
                  <a:pt x="0" y="7603320"/>
                </a:lnTo>
                <a:lnTo>
                  <a:pt x="0" y="0"/>
                </a:lnTo>
                <a:close/>
              </a:path>
            </a:pathLst>
          </a:custGeom>
          <a:blipFill>
            <a:blip r:embed="rId6"/>
            <a:stretch>
              <a:fillRect t="-39502" b="-39502"/>
            </a:stretch>
          </a:blipFill>
        </p:spPr>
      </p:sp>
      <p:sp>
        <p:nvSpPr>
          <p:cNvPr id="12" name="TextBox 12"/>
          <p:cNvSpPr txBox="1"/>
          <p:nvPr/>
        </p:nvSpPr>
        <p:spPr>
          <a:xfrm>
            <a:off x="12769626" y="249191"/>
            <a:ext cx="2972726" cy="974725"/>
          </a:xfrm>
          <a:prstGeom prst="rect">
            <a:avLst/>
          </a:prstGeom>
        </p:spPr>
        <p:txBody>
          <a:bodyPr lIns="0" tIns="0" rIns="0" bIns="0" rtlCol="0" anchor="t">
            <a:spAutoFit/>
          </a:bodyPr>
          <a:lstStyle/>
          <a:p>
            <a:pPr algn="ctr">
              <a:lnSpc>
                <a:spcPts val="7699"/>
              </a:lnSpc>
              <a:spcBef>
                <a:spcPct val="0"/>
              </a:spcBef>
            </a:pPr>
            <a:r>
              <a:rPr lang="en-US" sz="5499" b="1">
                <a:solidFill>
                  <a:srgbClr val="FFFFFF"/>
                </a:solidFill>
                <a:latin typeface="Times New Roman Bold"/>
                <a:ea typeface="Times New Roman Bold"/>
                <a:cs typeface="Times New Roman Bold"/>
                <a:sym typeface="Times New Roman Bold"/>
              </a:rPr>
              <a:t>Reference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b="-33333"/>
              </a:stretch>
            </a:blipFill>
          </p:spPr>
        </p:sp>
      </p:grpSp>
      <p:grpSp>
        <p:nvGrpSpPr>
          <p:cNvPr id="4" name="Group 4"/>
          <p:cNvGrpSpPr/>
          <p:nvPr/>
        </p:nvGrpSpPr>
        <p:grpSpPr>
          <a:xfrm>
            <a:off x="3600450" y="660654"/>
            <a:ext cx="3547872" cy="651510"/>
            <a:chOff x="0" y="0"/>
            <a:chExt cx="4730496" cy="868680"/>
          </a:xfrm>
        </p:grpSpPr>
        <p:sp>
          <p:nvSpPr>
            <p:cNvPr id="5" name="Freeform 5"/>
            <p:cNvSpPr/>
            <p:nvPr/>
          </p:nvSpPr>
          <p:spPr>
            <a:xfrm>
              <a:off x="0" y="0"/>
              <a:ext cx="4730496" cy="868680"/>
            </a:xfrm>
            <a:custGeom>
              <a:avLst/>
              <a:gdLst/>
              <a:ahLst/>
              <a:cxnLst/>
              <a:rect l="l" t="t" r="r" b="b"/>
              <a:pathLst>
                <a:path w="4730496" h="868680">
                  <a:moveTo>
                    <a:pt x="0" y="0"/>
                  </a:moveTo>
                  <a:lnTo>
                    <a:pt x="4730496" y="0"/>
                  </a:lnTo>
                  <a:lnTo>
                    <a:pt x="4730496" y="868680"/>
                  </a:lnTo>
                  <a:lnTo>
                    <a:pt x="0" y="868680"/>
                  </a:lnTo>
                  <a:lnTo>
                    <a:pt x="0" y="0"/>
                  </a:lnTo>
                  <a:close/>
                </a:path>
              </a:pathLst>
            </a:custGeom>
            <a:blipFill>
              <a:blip r:embed="rId4"/>
              <a:stretch>
                <a:fillRect b="-33450"/>
              </a:stretch>
            </a:blipFill>
          </p:spPr>
        </p:sp>
      </p:grpSp>
      <p:grpSp>
        <p:nvGrpSpPr>
          <p:cNvPr id="9" name="Group 9"/>
          <p:cNvGrpSpPr/>
          <p:nvPr/>
        </p:nvGrpSpPr>
        <p:grpSpPr>
          <a:xfrm>
            <a:off x="0" y="691380"/>
            <a:ext cx="7378398" cy="1282446"/>
            <a:chOff x="0" y="0"/>
            <a:chExt cx="9837864" cy="1344460"/>
          </a:xfrm>
        </p:grpSpPr>
        <p:sp>
          <p:nvSpPr>
            <p:cNvPr id="10" name="Freeform 10"/>
            <p:cNvSpPr/>
            <p:nvPr/>
          </p:nvSpPr>
          <p:spPr>
            <a:xfrm>
              <a:off x="0" y="0"/>
              <a:ext cx="9837928" cy="1344422"/>
            </a:xfrm>
            <a:custGeom>
              <a:avLst/>
              <a:gdLst/>
              <a:ahLst/>
              <a:cxnLst/>
              <a:rect l="l" t="t" r="r" b="b"/>
              <a:pathLst>
                <a:path w="9837928" h="1344422">
                  <a:moveTo>
                    <a:pt x="0" y="0"/>
                  </a:moveTo>
                  <a:lnTo>
                    <a:pt x="9837928" y="0"/>
                  </a:lnTo>
                  <a:lnTo>
                    <a:pt x="9837928" y="1344422"/>
                  </a:lnTo>
                  <a:lnTo>
                    <a:pt x="0" y="1344422"/>
                  </a:lnTo>
                  <a:lnTo>
                    <a:pt x="0" y="0"/>
                  </a:lnTo>
                  <a:close/>
                </a:path>
              </a:pathLst>
            </a:custGeom>
            <a:blipFill>
              <a:blip r:embed="rId5"/>
              <a:stretch>
                <a:fillRect b="-6"/>
              </a:stretch>
            </a:blipFill>
          </p:spPr>
        </p:sp>
      </p:grpSp>
      <p:sp>
        <p:nvSpPr>
          <p:cNvPr id="11" name="TextBox 11"/>
          <p:cNvSpPr txBox="1"/>
          <p:nvPr/>
        </p:nvSpPr>
        <p:spPr>
          <a:xfrm>
            <a:off x="4849389" y="3766221"/>
            <a:ext cx="8589223" cy="2535483"/>
          </a:xfrm>
          <a:prstGeom prst="rect">
            <a:avLst/>
          </a:prstGeom>
        </p:spPr>
        <p:txBody>
          <a:bodyPr lIns="0" tIns="0" rIns="0" bIns="0" rtlCol="0" anchor="t">
            <a:spAutoFit/>
          </a:bodyPr>
          <a:lstStyle/>
          <a:p>
            <a:pPr algn="ctr">
              <a:lnSpc>
                <a:spcPts val="12747"/>
              </a:lnSpc>
            </a:pPr>
            <a:r>
              <a:rPr lang="en-US" sz="9105" b="1">
                <a:solidFill>
                  <a:srgbClr val="000000"/>
                </a:solidFill>
                <a:latin typeface="Times New Roman Bold"/>
                <a:ea typeface="Times New Roman Bold"/>
                <a:cs typeface="Times New Roman Bold"/>
                <a:sym typeface="Times New Roman Bold"/>
              </a:rPr>
              <a:t>Thank you</a:t>
            </a:r>
          </a:p>
          <a:p>
            <a:pPr algn="ctr">
              <a:lnSpc>
                <a:spcPts val="7000"/>
              </a:lnSpc>
              <a:spcBef>
                <a:spcPct val="0"/>
              </a:spcBef>
            </a:pPr>
            <a:r>
              <a:rPr lang="en-US" sz="5000" b="1">
                <a:solidFill>
                  <a:srgbClr val="000000"/>
                </a:solidFill>
                <a:latin typeface="Times New Roman Bold"/>
                <a:ea typeface="Times New Roman Bold"/>
                <a:cs typeface="Times New Roman Bold"/>
                <a:sym typeface="Times New Roman Bold"/>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2103</Words>
  <Application>Microsoft Office PowerPoint</Application>
  <PresentationFormat>Custom</PresentationFormat>
  <Paragraphs>389</Paragraphs>
  <Slides>29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Canva Sans</vt:lpstr>
      <vt:lpstr>Times New Roman Bold</vt:lpstr>
      <vt:lpstr>Times New Roman MT Bold</vt:lpstr>
      <vt:lpstr>Canva Sans Bold</vt:lpstr>
      <vt:lpstr>Calibri</vt:lpstr>
      <vt:lpstr>Times New Roman</vt:lpstr>
      <vt:lpstr>Times New Roman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5 RT SEM2.pptx</dc:title>
  <dc:creator>Sharvari</dc:creator>
  <cp:lastModifiedBy>Prachee Shetye</cp:lastModifiedBy>
  <cp:revision>2</cp:revision>
  <dcterms:created xsi:type="dcterms:W3CDTF">2006-08-16T00:00:00Z</dcterms:created>
  <dcterms:modified xsi:type="dcterms:W3CDTF">2026-08-14T14:57:23Z</dcterms:modified>
  <dc:identifier>DAHGn1dS_v0</dc:identifier>
</cp:coreProperties>
</file>